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name], and today we want to show how Schwarz can move from point of sale to point of 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the problem, then show our short- and medium-term solutions, digital and in-store, then our long-term vision, and finish with why it fits Schwarz and how it makes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want to live healthier, but they struggle in daily life. That is the intention-action gap. Healthy living feels expensive, it is complicated, and people try it alone. And retail is part of the problem: we sell the ingredients and then leave the customer alone. Schwarz is in people’s lives every week, but today only at the 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digital concept for the short and medium term: one app that takes a customer from a health goal to a ready shopping basket. It plans meals with AI, knows your calorie target if you want it to, shows the nutrition of every recipe, and turns the plan into a Lidl shopping list in one tap. Two features make it stick: Future You, which shows where your current basket is taking you, and Bet on yourself, which puts a small stake on your own goal. Health Line brings the same service to people without a smartphone, and FoodMatch connects people to cook and eat together. Everything is opt-in and GDPR-first.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in three screens. First, the customer can optionally enter height, weight, age and activity. The app shows the BMI and a daily calorie target for maintaining, losing or gaining weight. Second, AI builds a weekly meal plan, and every recipe shows calories and macros per serving. Third, the plan becomes a Lidl shopping list with real products and prices, sent straight to the Lidl app. Health advice turns directly into a basket.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You turns abstract health advice into something people can see. Based on the last three months of purchases, the app projects an avatar of you 6 to 12 months ahead. On the left: same basket, low energy, poor sleep. On the right: the same person with simple swaps. The point is motivation, not shame: the avatar is private, opt-in, and always shows the better path right next to it, with the swaps that get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 on yourself closes the intention-action gap with a commitment device from behavioral economics, the same idea behind Thaler’s Save More Tomorrow and the platform stickK. You pick a goal, stake €10, and shop as usual while the app tracks your baskets. Make it, and you get €15 back as fresh-food credit, with part of the reward co-funded by a health insurer partner. Miss it, and your €10 goes to the Tafel. Nobody loses: either you get healthier, or a family in need gets fed.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everyone has a smartphone. Health Line lets older customers order simply by calling a voice assistant: “Same as last week, but less salt.” It suggests healthier swaps, remembers their routine, and, if they agree, alerts their family when they suddenly stop ordering. That is digital health with zero screens, which fits the digital balance megatrend in a surprising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store, we personalise shopping around the customer’s goal: routes for high protein, budget or 15-minute meals, an AI assistant, and nudges on shelf labels and receipts. We make healthy products more accessible with a dedicated own-brand health line, weekly Healthy Deals and packaging that tells you what to cook. And we add health stations where customers can measure weight and blood pressure and sync it to LidlHealth, plus a Customer Health Lab where shoppers co-create the next healthy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shopping, we turn stores into community health hubs. Healthy Hour turns surplus fresh produce into free, supervised community cooking. Move with Lidl offers free weekly fitness and walking routes that start at the store. And Lidl Life Exchange turns healthy actions into grocery credits, funded by insurers, municipalities and employers. Healthy living becomes affordable, social and rewarding.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FoodMatch is a Tinder-inspired feature inside LidlHealth that connects people through food. You match with people nearby who share your food tastes and interests, then meet at communal tables, cooking masterclasses or community dinners right inside Lidl and Kaufland stores. It reduces loneliness, brings generations together, and turns the supermarket into a social destination, which means more visits and stronger loyalty for Schwarz.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long-term vision is Schwarz Gesundheit: every Lidl and Kaufland becomes a neighbourhood health hub. Under one membership, customers get check-ups and care, a healthy own-brand range produced by Schwarz itself, a cooking school, social dining through FoodMatch, fitness and recovery, and a digital companion in LidlHealth and Health Line. Insurers co-fund it from their prevention budgets, because prevention is cheaper than treatment. Schwarz moves from selling food to being paid for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Our value proposition answers the four reasons people fail at healthy living. Too expensive: Healthy Deals, price-neutral swaps and credits. Too complex: AI meal plans, smart lists and Health Line. Too lonely: FoodMatch, Healthy Hour and Move with Lidl. No motivation: Future You, Bet on yourself and health stations. For Schwarz this means more visits, a better product mix, new partner revenue and trust. For society: prevention, less waste and less loneliness.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Why Schwarz, and why retail? Every one of our concepts builds on assets Schwarz already has: the store network, the Lidl Plus and Kaufland Card loyalty apps, own brands and production, Schwarz Digits for IT and cloud, and above all weekly contact with millions of customers. No pharmacy, insurer or health app has that combination. That makes health a loyalty moat that competitors can’t easily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mapped every initiative by impact and by how feasible it is with assets Schwarz already has. Top right are the quick wins we launch first: the meal planner and smart list, Healthy Deals, Bet on yourself, health stations and Move with Lidl. Phase two adds Future You, Health Line, Healthy Hour and FoodMatch. The big bets, Life Exchange and the full Schwarz Gesundheit hub, need insurer partnerships and come last, built on the data and trust from phases one and two. Positions are our team’s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grows in three horizons. First, health is a loyalty driver: more visits, bigger baskets, a shift to fresh and own-brand products, and retail media from healthy brands. Second, partners pay: insurers co-fund rewards, check-ups at health stations are paid for, and municipalities and employers join. Third, Schwarz Gesundheit becomes a health business with outcome-based insurer contracts and a membership. We track visit frequency, product mix, active users, partners and health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today a supermarket sells you food. With Schwarz Gesundheit, it helps you live well, starting tomorrow with the app and in-store hubs and growing into Europe’s most accessible health network.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C1640"/>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1C164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F5F3FB"/>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F5F3F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F5F3FB"/>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F5F3F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F5F3FB"/>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F5F3F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C1640"/>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1C164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4.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image" Target="../media/image-19-18.png"/><Relationship Id="rId19" Type="http://schemas.openxmlformats.org/officeDocument/2006/relationships/image" Target="../media/image-19-19.png"/><Relationship Id="rId20" Type="http://schemas.openxmlformats.org/officeDocument/2006/relationships/image" Target="../media/image-19-20.png"/><Relationship Id="rId21" Type="http://schemas.openxmlformats.org/officeDocument/2006/relationships/image" Target="../media/image-19-21.png"/><Relationship Id="rId22" Type="http://schemas.openxmlformats.org/officeDocument/2006/relationships/image" Target="../media/image-19-22.png"/><Relationship Id="rId23" Type="http://schemas.openxmlformats.org/officeDocument/2006/relationships/slideLayout" Target="../slideLayouts/slideLayout2.xml"/><Relationship Id="rId2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310147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9C3EE"/>
                </a:solidFill>
                <a:latin typeface="DM Sans" pitchFamily="34" charset="0"/>
                <a:ea typeface="DM Sans" pitchFamily="34" charset="-122"/>
                <a:cs typeface="DM Sans" pitchFamily="34" charset="-120"/>
              </a:rPr>
              <a:t>TUM BUSINESS GAME HEILBRONN 2026 · SCHWARZ GROUP CASE</a:t>
            </a:r>
            <a:endParaRPr lang="en-US" sz="1400" dirty="0"/>
          </a:p>
        </p:txBody>
      </p:sp>
      <p:sp>
        <p:nvSpPr>
          <p:cNvPr id="3" name="Text 1"/>
          <p:cNvSpPr/>
          <p:nvPr>
            <p:ph type="title"/>
          </p:nvPr>
        </p:nvSpPr>
        <p:spPr>
          <a:xfrm>
            <a:off x="812800" y="3553569"/>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spc="-100" kern="0" dirty="0">
                <a:solidFill>
                  <a:srgbClr val="F5F3FB"/>
                </a:solidFill>
                <a:latin typeface="DM Sans" pitchFamily="34" charset="0"/>
                <a:ea typeface="DM Sans" pitchFamily="34" charset="-122"/>
                <a:cs typeface="DM Sans" pitchFamily="34" charset="-120"/>
              </a:rPr>
              <a:t>Schwarz Gesundheit</a:t>
            </a:r>
            <a:endParaRPr lang="en-US" sz="7200" dirty="0"/>
          </a:p>
        </p:txBody>
      </p:sp>
      <p:sp>
        <p:nvSpPr>
          <p:cNvPr id="4" name="Text 2"/>
          <p:cNvSpPr/>
          <p:nvPr/>
        </p:nvSpPr>
        <p:spPr>
          <a:xfrm>
            <a:off x="812800" y="4671169"/>
            <a:ext cx="1088339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DCD7F7"/>
                </a:solidFill>
                <a:latin typeface="DM Sans" pitchFamily="34" charset="0"/>
                <a:ea typeface="DM Sans" pitchFamily="34" charset="-122"/>
                <a:cs typeface="DM Sans" pitchFamily="34" charset="-120"/>
              </a:rPr>
              <a:t>From a Simple Retailer to the Largest Health Ecosystem</a:t>
            </a:r>
            <a:endParaRPr lang="en-US" sz="2400" dirty="0"/>
          </a:p>
        </p:txBody>
      </p:sp>
      <p:sp>
        <p:nvSpPr>
          <p:cNvPr id="5" name="Text 3"/>
          <p:cNvSpPr/>
          <p:nvPr/>
        </p:nvSpPr>
        <p:spPr>
          <a:xfrm>
            <a:off x="815975" y="5243264"/>
            <a:ext cx="777974" cy="346670"/>
          </a:xfrm>
          <a:prstGeom prst="roundRect">
            <a:avLst>
              <a:gd name="adj" fmla="val 50000"/>
            </a:avLst>
          </a:prstGeom>
          <a:noFill/>
          <a:ln w="6350">
            <a:solidFill>
              <a:srgbClr val="6E62C9"/>
            </a:solidFill>
            <a:prstDash val="solid"/>
          </a:ln>
        </p:spPr>
        <p:txBody>
          <a:bodyPr wrap="none" lIns="0" tIns="0" rIns="0" bIns="0" rtlCol="0" anchor="ctr">
            <a:normAutofit/>
          </a:bodyPr>
          <a:lstStyle/>
          <a:p>
            <a:pPr algn="ctr" indent="0" marL="0">
              <a:lnSpc>
                <a:spcPts val="1680"/>
              </a:lnSpc>
              <a:buNone/>
            </a:pPr>
            <a:r>
              <a:rPr lang="en-US" sz="1200" b="1" dirty="0">
                <a:solidFill>
                  <a:srgbClr val="F5F3FB"/>
                </a:solidFill>
                <a:latin typeface="DM Sans" pitchFamily="34" charset="0"/>
                <a:ea typeface="DM Sans" pitchFamily="34" charset="-122"/>
                <a:cs typeface="DM Sans" pitchFamily="34" charset="-120"/>
              </a:rPr>
              <a:t>Digital</a:t>
            </a:r>
            <a:endParaRPr lang="en-US" sz="1200" dirty="0"/>
          </a:p>
        </p:txBody>
      </p:sp>
      <p:sp>
        <p:nvSpPr>
          <p:cNvPr id="6" name="Text 4"/>
          <p:cNvSpPr/>
          <p:nvPr/>
        </p:nvSpPr>
        <p:spPr>
          <a:xfrm>
            <a:off x="1701899" y="5243264"/>
            <a:ext cx="909935" cy="346670"/>
          </a:xfrm>
          <a:prstGeom prst="roundRect">
            <a:avLst>
              <a:gd name="adj" fmla="val 50000"/>
            </a:avLst>
          </a:prstGeom>
          <a:noFill/>
          <a:ln w="6350">
            <a:solidFill>
              <a:srgbClr val="6E62C9"/>
            </a:solidFill>
            <a:prstDash val="solid"/>
          </a:ln>
        </p:spPr>
        <p:txBody>
          <a:bodyPr wrap="none" lIns="0" tIns="0" rIns="0" bIns="0" rtlCol="0" anchor="ctr">
            <a:normAutofit/>
          </a:bodyPr>
          <a:lstStyle/>
          <a:p>
            <a:pPr algn="ctr" indent="0" marL="0">
              <a:lnSpc>
                <a:spcPts val="1680"/>
              </a:lnSpc>
              <a:buNone/>
            </a:pPr>
            <a:r>
              <a:rPr lang="en-US" sz="1200" b="1" dirty="0">
                <a:solidFill>
                  <a:srgbClr val="F5F3FB"/>
                </a:solidFill>
                <a:latin typeface="DM Sans" pitchFamily="34" charset="0"/>
                <a:ea typeface="DM Sans" pitchFamily="34" charset="-122"/>
                <a:cs typeface="DM Sans" pitchFamily="34" charset="-120"/>
              </a:rPr>
              <a:t>In-store</a:t>
            </a:r>
            <a:endParaRPr lang="en-US" sz="1200" dirty="0"/>
          </a:p>
        </p:txBody>
      </p:sp>
      <p:sp>
        <p:nvSpPr>
          <p:cNvPr id="7" name="Text 5"/>
          <p:cNvSpPr/>
          <p:nvPr/>
        </p:nvSpPr>
        <p:spPr>
          <a:xfrm>
            <a:off x="2719784" y="5243264"/>
            <a:ext cx="1571575" cy="346670"/>
          </a:xfrm>
          <a:prstGeom prst="roundRect">
            <a:avLst>
              <a:gd name="adj" fmla="val 50000"/>
            </a:avLst>
          </a:prstGeom>
          <a:noFill/>
          <a:ln w="6350">
            <a:solidFill>
              <a:srgbClr val="6E62C9"/>
            </a:solidFill>
            <a:prstDash val="solid"/>
          </a:ln>
        </p:spPr>
        <p:txBody>
          <a:bodyPr wrap="none" lIns="0" tIns="0" rIns="0" bIns="0" rtlCol="0" anchor="ctr">
            <a:normAutofit/>
          </a:bodyPr>
          <a:lstStyle/>
          <a:p>
            <a:pPr algn="ctr" indent="0" marL="0">
              <a:lnSpc>
                <a:spcPts val="1680"/>
              </a:lnSpc>
              <a:buNone/>
            </a:pPr>
            <a:r>
              <a:rPr lang="en-US" sz="1200" b="1" dirty="0">
                <a:solidFill>
                  <a:srgbClr val="F5F3FB"/>
                </a:solidFill>
                <a:latin typeface="DM Sans" pitchFamily="34" charset="0"/>
                <a:ea typeface="DM Sans" pitchFamily="34" charset="-122"/>
                <a:cs typeface="DM Sans" pitchFamily="34" charset="-120"/>
              </a:rPr>
              <a:t>Long-term vision</a:t>
            </a:r>
            <a:endParaRPr lang="en-US" sz="1200" dirty="0"/>
          </a:p>
        </p:txBody>
      </p:sp>
      <p:sp>
        <p:nvSpPr>
          <p:cNvPr id="8" name="Text 6"/>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3EE"/>
                </a:solidFill>
                <a:latin typeface="DM Sans" pitchFamily="34" charset="0"/>
                <a:ea typeface="DM Sans" pitchFamily="34" charset="-122"/>
                <a:cs typeface="DM Sans" pitchFamily="34" charset="-120"/>
              </a:rPr>
              <a:t>Team 9: Arina, Adam, Athish, Sakhobiddin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AGENDA</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Our presentation outline</a:t>
            </a:r>
            <a:endParaRPr lang="en-US" sz="3200" dirty="0"/>
          </a:p>
        </p:txBody>
      </p:sp>
      <p:sp>
        <p:nvSpPr>
          <p:cNvPr id="4" name="Shape 2"/>
          <p:cNvSpPr/>
          <p:nvPr/>
        </p:nvSpPr>
        <p:spPr>
          <a:xfrm>
            <a:off x="815975" y="1908125"/>
            <a:ext cx="3414167" cy="1428700"/>
          </a:xfrm>
          <a:prstGeom prst="roundRect">
            <a:avLst>
              <a:gd name="adj" fmla="val 10445"/>
            </a:avLst>
          </a:prstGeom>
          <a:solidFill>
            <a:srgbClr val="FDFCFF"/>
          </a:solidFill>
          <a:ln w="6350">
            <a:solidFill>
              <a:srgbClr val="E2DEF3"/>
            </a:solidFill>
            <a:prstDash val="solid"/>
          </a:ln>
        </p:spPr>
      </p:sp>
      <p:sp>
        <p:nvSpPr>
          <p:cNvPr id="5" name="Text 3"/>
          <p:cNvSpPr/>
          <p:nvPr/>
        </p:nvSpPr>
        <p:spPr>
          <a:xfrm>
            <a:off x="1022350" y="2114500"/>
            <a:ext cx="309145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4BDB"/>
                </a:solidFill>
                <a:latin typeface="DM Sans" pitchFamily="34" charset="0"/>
                <a:ea typeface="DM Sans" pitchFamily="34" charset="-122"/>
                <a:cs typeface="DM Sans" pitchFamily="34" charset="-120"/>
              </a:rPr>
              <a:t>01</a:t>
            </a:r>
            <a:endParaRPr lang="en-US" sz="3200" dirty="0"/>
          </a:p>
        </p:txBody>
      </p:sp>
      <p:sp>
        <p:nvSpPr>
          <p:cNvPr id="6" name="Text 4"/>
          <p:cNvSpPr/>
          <p:nvPr/>
        </p:nvSpPr>
        <p:spPr>
          <a:xfrm>
            <a:off x="1022350" y="25971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Problem statement</a:t>
            </a:r>
            <a:endParaRPr lang="en-US" sz="1600" dirty="0"/>
          </a:p>
        </p:txBody>
      </p:sp>
      <p:sp>
        <p:nvSpPr>
          <p:cNvPr id="7" name="Text 5"/>
          <p:cNvSpPr/>
          <p:nvPr/>
        </p:nvSpPr>
        <p:spPr>
          <a:xfrm>
            <a:off x="1022350" y="2917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The intention-action gap</a:t>
            </a:r>
            <a:endParaRPr lang="en-US" sz="1200" dirty="0"/>
          </a:p>
        </p:txBody>
      </p:sp>
      <p:sp>
        <p:nvSpPr>
          <p:cNvPr id="8" name="Shape 6"/>
          <p:cNvSpPr/>
          <p:nvPr/>
        </p:nvSpPr>
        <p:spPr>
          <a:xfrm>
            <a:off x="4388892" y="1908125"/>
            <a:ext cx="3414167" cy="1428700"/>
          </a:xfrm>
          <a:prstGeom prst="roundRect">
            <a:avLst>
              <a:gd name="adj" fmla="val 10445"/>
            </a:avLst>
          </a:prstGeom>
          <a:solidFill>
            <a:srgbClr val="FDFCFF"/>
          </a:solidFill>
          <a:ln w="6350">
            <a:solidFill>
              <a:srgbClr val="E2DEF3"/>
            </a:solidFill>
            <a:prstDash val="solid"/>
          </a:ln>
        </p:spPr>
      </p:sp>
      <p:sp>
        <p:nvSpPr>
          <p:cNvPr id="9" name="Text 7"/>
          <p:cNvSpPr/>
          <p:nvPr/>
        </p:nvSpPr>
        <p:spPr>
          <a:xfrm>
            <a:off x="4595267" y="2114500"/>
            <a:ext cx="309145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4BDB"/>
                </a:solidFill>
                <a:latin typeface="DM Sans" pitchFamily="34" charset="0"/>
                <a:ea typeface="DM Sans" pitchFamily="34" charset="-122"/>
                <a:cs typeface="DM Sans" pitchFamily="34" charset="-120"/>
              </a:rPr>
              <a:t>02</a:t>
            </a:r>
            <a:endParaRPr lang="en-US" sz="3200" dirty="0"/>
          </a:p>
        </p:txBody>
      </p:sp>
      <p:sp>
        <p:nvSpPr>
          <p:cNvPr id="10" name="Text 8"/>
          <p:cNvSpPr/>
          <p:nvPr/>
        </p:nvSpPr>
        <p:spPr>
          <a:xfrm>
            <a:off x="4595267" y="25971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Digital concepts</a:t>
            </a:r>
            <a:endParaRPr lang="en-US" sz="1600" dirty="0"/>
          </a:p>
        </p:txBody>
      </p:sp>
      <p:sp>
        <p:nvSpPr>
          <p:cNvPr id="11" name="Text 9"/>
          <p:cNvSpPr/>
          <p:nvPr/>
        </p:nvSpPr>
        <p:spPr>
          <a:xfrm>
            <a:off x="4595267" y="2917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Short to medium term</a:t>
            </a:r>
            <a:endParaRPr lang="en-US" sz="1200" dirty="0"/>
          </a:p>
        </p:txBody>
      </p:sp>
      <p:sp>
        <p:nvSpPr>
          <p:cNvPr id="12" name="Shape 10"/>
          <p:cNvSpPr/>
          <p:nvPr/>
        </p:nvSpPr>
        <p:spPr>
          <a:xfrm>
            <a:off x="7961809" y="1908125"/>
            <a:ext cx="3414216" cy="1428700"/>
          </a:xfrm>
          <a:prstGeom prst="roundRect">
            <a:avLst>
              <a:gd name="adj" fmla="val 10445"/>
            </a:avLst>
          </a:prstGeom>
          <a:solidFill>
            <a:srgbClr val="FDFCFF"/>
          </a:solidFill>
          <a:ln w="6350">
            <a:solidFill>
              <a:srgbClr val="E2DEF3"/>
            </a:solidFill>
            <a:prstDash val="solid"/>
          </a:ln>
        </p:spPr>
      </p:sp>
      <p:sp>
        <p:nvSpPr>
          <p:cNvPr id="13" name="Text 11"/>
          <p:cNvSpPr/>
          <p:nvPr/>
        </p:nvSpPr>
        <p:spPr>
          <a:xfrm>
            <a:off x="8168184" y="2114500"/>
            <a:ext cx="309151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4BDB"/>
                </a:solidFill>
                <a:latin typeface="DM Sans" pitchFamily="34" charset="0"/>
                <a:ea typeface="DM Sans" pitchFamily="34" charset="-122"/>
                <a:cs typeface="DM Sans" pitchFamily="34" charset="-120"/>
              </a:rPr>
              <a:t>03</a:t>
            </a:r>
            <a:endParaRPr lang="en-US" sz="3200" dirty="0"/>
          </a:p>
        </p:txBody>
      </p:sp>
      <p:sp>
        <p:nvSpPr>
          <p:cNvPr id="14" name="Text 12"/>
          <p:cNvSpPr/>
          <p:nvPr/>
        </p:nvSpPr>
        <p:spPr>
          <a:xfrm>
            <a:off x="8168184" y="25971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In-store concepts</a:t>
            </a:r>
            <a:endParaRPr lang="en-US" sz="1600" dirty="0"/>
          </a:p>
        </p:txBody>
      </p:sp>
      <p:sp>
        <p:nvSpPr>
          <p:cNvPr id="15" name="Text 13"/>
          <p:cNvSpPr/>
          <p:nvPr/>
        </p:nvSpPr>
        <p:spPr>
          <a:xfrm>
            <a:off x="8168184" y="2917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Short to medium term</a:t>
            </a:r>
            <a:endParaRPr lang="en-US" sz="1200" dirty="0"/>
          </a:p>
        </p:txBody>
      </p:sp>
      <p:sp>
        <p:nvSpPr>
          <p:cNvPr id="16" name="Shape 14"/>
          <p:cNvSpPr/>
          <p:nvPr/>
        </p:nvSpPr>
        <p:spPr>
          <a:xfrm>
            <a:off x="812800" y="3492401"/>
            <a:ext cx="3420517" cy="1435050"/>
          </a:xfrm>
          <a:prstGeom prst="roundRect">
            <a:avLst>
              <a:gd name="adj" fmla="val 10620"/>
            </a:avLst>
          </a:prstGeom>
          <a:solidFill>
            <a:srgbClr val="1C1640"/>
          </a:solidFill>
          <a:ln/>
        </p:spPr>
      </p:sp>
      <p:sp>
        <p:nvSpPr>
          <p:cNvPr id="17" name="Text 15"/>
          <p:cNvSpPr/>
          <p:nvPr/>
        </p:nvSpPr>
        <p:spPr>
          <a:xfrm>
            <a:off x="1016000" y="3695601"/>
            <a:ext cx="310454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A99BFF"/>
                </a:solidFill>
                <a:latin typeface="DM Sans" pitchFamily="34" charset="0"/>
                <a:ea typeface="DM Sans" pitchFamily="34" charset="-122"/>
                <a:cs typeface="DM Sans" pitchFamily="34" charset="-120"/>
              </a:rPr>
              <a:t>04</a:t>
            </a:r>
            <a:endParaRPr lang="en-US" sz="3200" dirty="0"/>
          </a:p>
        </p:txBody>
      </p:sp>
      <p:sp>
        <p:nvSpPr>
          <p:cNvPr id="18" name="Text 16"/>
          <p:cNvSpPr/>
          <p:nvPr/>
        </p:nvSpPr>
        <p:spPr>
          <a:xfrm>
            <a:off x="1016000" y="417820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FB"/>
                </a:solidFill>
                <a:latin typeface="DM Sans" pitchFamily="34" charset="0"/>
                <a:ea typeface="DM Sans" pitchFamily="34" charset="-122"/>
                <a:cs typeface="DM Sans" pitchFamily="34" charset="-120"/>
              </a:rPr>
              <a:t>Schwarz Gesundheit</a:t>
            </a:r>
            <a:endParaRPr lang="en-US" sz="1600" dirty="0"/>
          </a:p>
        </p:txBody>
      </p:sp>
      <p:sp>
        <p:nvSpPr>
          <p:cNvPr id="19" name="Text 17"/>
          <p:cNvSpPr/>
          <p:nvPr/>
        </p:nvSpPr>
        <p:spPr>
          <a:xfrm>
            <a:off x="1016000" y="4498231"/>
            <a:ext cx="310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Long-term vision</a:t>
            </a:r>
            <a:endParaRPr lang="en-US" sz="1200" dirty="0"/>
          </a:p>
        </p:txBody>
      </p:sp>
      <p:sp>
        <p:nvSpPr>
          <p:cNvPr id="20" name="Shape 18"/>
          <p:cNvSpPr/>
          <p:nvPr/>
        </p:nvSpPr>
        <p:spPr>
          <a:xfrm>
            <a:off x="4388892" y="3495576"/>
            <a:ext cx="3414167" cy="1428700"/>
          </a:xfrm>
          <a:prstGeom prst="roundRect">
            <a:avLst>
              <a:gd name="adj" fmla="val 10445"/>
            </a:avLst>
          </a:prstGeom>
          <a:solidFill>
            <a:srgbClr val="FDFCFF"/>
          </a:solidFill>
          <a:ln w="6350">
            <a:solidFill>
              <a:srgbClr val="E2DEF3"/>
            </a:solidFill>
            <a:prstDash val="solid"/>
          </a:ln>
        </p:spPr>
      </p:sp>
      <p:sp>
        <p:nvSpPr>
          <p:cNvPr id="21" name="Text 19"/>
          <p:cNvSpPr/>
          <p:nvPr/>
        </p:nvSpPr>
        <p:spPr>
          <a:xfrm>
            <a:off x="4595267" y="3701951"/>
            <a:ext cx="309145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4BDB"/>
                </a:solidFill>
                <a:latin typeface="DM Sans" pitchFamily="34" charset="0"/>
                <a:ea typeface="DM Sans" pitchFamily="34" charset="-122"/>
                <a:cs typeface="DM Sans" pitchFamily="34" charset="-120"/>
              </a:rPr>
              <a:t>05</a:t>
            </a:r>
            <a:endParaRPr lang="en-US" sz="3200" dirty="0"/>
          </a:p>
        </p:txBody>
      </p:sp>
      <p:sp>
        <p:nvSpPr>
          <p:cNvPr id="22" name="Text 20"/>
          <p:cNvSpPr/>
          <p:nvPr/>
        </p:nvSpPr>
        <p:spPr>
          <a:xfrm>
            <a:off x="4595267" y="418455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Value and strategic fit</a:t>
            </a:r>
            <a:endParaRPr lang="en-US" sz="1600" dirty="0"/>
          </a:p>
        </p:txBody>
      </p:sp>
      <p:sp>
        <p:nvSpPr>
          <p:cNvPr id="23" name="Text 21"/>
          <p:cNvSpPr/>
          <p:nvPr/>
        </p:nvSpPr>
        <p:spPr>
          <a:xfrm>
            <a:off x="4595267" y="4504581"/>
            <a:ext cx="3091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Why it works for Schwarz</a:t>
            </a:r>
            <a:endParaRPr lang="en-US" sz="1200" dirty="0"/>
          </a:p>
        </p:txBody>
      </p:sp>
      <p:sp>
        <p:nvSpPr>
          <p:cNvPr id="24" name="Shape 22"/>
          <p:cNvSpPr/>
          <p:nvPr/>
        </p:nvSpPr>
        <p:spPr>
          <a:xfrm>
            <a:off x="7961809" y="3495576"/>
            <a:ext cx="3414216" cy="1428700"/>
          </a:xfrm>
          <a:prstGeom prst="roundRect">
            <a:avLst>
              <a:gd name="adj" fmla="val 10445"/>
            </a:avLst>
          </a:prstGeom>
          <a:solidFill>
            <a:srgbClr val="FDFCFF"/>
          </a:solidFill>
          <a:ln w="6350">
            <a:solidFill>
              <a:srgbClr val="E2DEF3"/>
            </a:solidFill>
            <a:prstDash val="solid"/>
          </a:ln>
        </p:spPr>
      </p:sp>
      <p:sp>
        <p:nvSpPr>
          <p:cNvPr id="25" name="Text 23"/>
          <p:cNvSpPr/>
          <p:nvPr/>
        </p:nvSpPr>
        <p:spPr>
          <a:xfrm>
            <a:off x="8168184" y="3701951"/>
            <a:ext cx="309151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4BDB"/>
                </a:solidFill>
                <a:latin typeface="DM Sans" pitchFamily="34" charset="0"/>
                <a:ea typeface="DM Sans" pitchFamily="34" charset="-122"/>
                <a:cs typeface="DM Sans" pitchFamily="34" charset="-120"/>
              </a:rPr>
              <a:t>06</a:t>
            </a:r>
            <a:endParaRPr lang="en-US" sz="3200" dirty="0"/>
          </a:p>
        </p:txBody>
      </p:sp>
      <p:sp>
        <p:nvSpPr>
          <p:cNvPr id="26" name="Text 24"/>
          <p:cNvSpPr/>
          <p:nvPr/>
        </p:nvSpPr>
        <p:spPr>
          <a:xfrm>
            <a:off x="8168184" y="418455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Business logic</a:t>
            </a:r>
            <a:endParaRPr lang="en-US" sz="1600" dirty="0"/>
          </a:p>
        </p:txBody>
      </p:sp>
      <p:sp>
        <p:nvSpPr>
          <p:cNvPr id="27" name="Text 25"/>
          <p:cNvSpPr/>
          <p:nvPr/>
        </p:nvSpPr>
        <p:spPr>
          <a:xfrm>
            <a:off x="8168184" y="450458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Where to start and how it pays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PROBLEM STATEMENT</a:t>
            </a:r>
            <a:endParaRPr lang="en-US" sz="1200" dirty="0"/>
          </a:p>
        </p:txBody>
      </p:sp>
      <p:sp>
        <p:nvSpPr>
          <p:cNvPr id="3" name="Text 1"/>
          <p:cNvSpPr/>
          <p:nvPr>
            <p:ph type="title"/>
          </p:nvPr>
        </p:nvSpPr>
        <p:spPr>
          <a:xfrm>
            <a:off x="812800" y="1102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People want to live healthier. Daily life gets in the way.</a:t>
            </a:r>
            <a:endParaRPr lang="en-US" sz="3200" dirty="0"/>
          </a:p>
        </p:txBody>
      </p:sp>
      <p:sp>
        <p:nvSpPr>
          <p:cNvPr id="4" name="Shape 2"/>
          <p:cNvSpPr/>
          <p:nvPr/>
        </p:nvSpPr>
        <p:spPr>
          <a:xfrm>
            <a:off x="815975" y="2253555"/>
            <a:ext cx="2660650" cy="1182291"/>
          </a:xfrm>
          <a:prstGeom prst="roundRect">
            <a:avLst>
              <a:gd name="adj" fmla="val 12622"/>
            </a:avLst>
          </a:prstGeom>
          <a:solidFill>
            <a:srgbClr val="FDFCFF"/>
          </a:solidFill>
          <a:ln w="6350">
            <a:solidFill>
              <a:srgbClr val="E2DEF3"/>
            </a:solidFill>
            <a:prstDash val="solid"/>
          </a:ln>
        </p:spPr>
      </p:sp>
      <p:sp>
        <p:nvSpPr>
          <p:cNvPr id="5" name="Text 3"/>
          <p:cNvSpPr/>
          <p:nvPr/>
        </p:nvSpPr>
        <p:spPr>
          <a:xfrm>
            <a:off x="996950" y="2434530"/>
            <a:ext cx="236766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4BDB"/>
                </a:solidFill>
                <a:latin typeface="DM Sans" pitchFamily="34" charset="0"/>
                <a:ea typeface="DM Sans" pitchFamily="34" charset="-122"/>
                <a:cs typeface="DM Sans" pitchFamily="34" charset="-120"/>
              </a:rPr>
              <a:t>INTENTION</a:t>
            </a:r>
            <a:endParaRPr lang="en-US" sz="1200" dirty="0"/>
          </a:p>
        </p:txBody>
      </p:sp>
      <p:sp>
        <p:nvSpPr>
          <p:cNvPr id="6" name="Text 4"/>
          <p:cNvSpPr/>
          <p:nvPr/>
        </p:nvSpPr>
        <p:spPr>
          <a:xfrm>
            <a:off x="996950" y="2685951"/>
            <a:ext cx="2367661"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640"/>
                </a:solidFill>
                <a:latin typeface="DM Sans" pitchFamily="34" charset="0"/>
                <a:ea typeface="DM Sans" pitchFamily="34" charset="-122"/>
                <a:cs typeface="DM Sans" pitchFamily="34" charset="-120"/>
              </a:rPr>
              <a:t>“I want to eat healthier.”</a:t>
            </a:r>
            <a:endParaRPr lang="en-US" sz="1600" dirty="0"/>
          </a:p>
        </p:txBody>
      </p:sp>
      <p:sp>
        <p:nvSpPr>
          <p:cNvPr id="7" name="Text 5"/>
          <p:cNvSpPr/>
          <p:nvPr/>
        </p:nvSpPr>
        <p:spPr>
          <a:xfrm>
            <a:off x="3610610" y="2542480"/>
            <a:ext cx="497078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5541C"/>
                </a:solidFill>
                <a:latin typeface="DM Sans" pitchFamily="34" charset="0"/>
                <a:ea typeface="DM Sans" pitchFamily="34" charset="-122"/>
                <a:cs typeface="DM Sans" pitchFamily="34" charset="-120"/>
              </a:rPr>
              <a:t>The intention-action gap</a:t>
            </a:r>
            <a:endParaRPr lang="en-US" sz="1200" dirty="0"/>
          </a:p>
        </p:txBody>
      </p:sp>
      <p:sp>
        <p:nvSpPr>
          <p:cNvPr id="8" name="Shape 6"/>
          <p:cNvSpPr/>
          <p:nvPr/>
        </p:nvSpPr>
        <p:spPr>
          <a:xfrm>
            <a:off x="3683000" y="2844701"/>
            <a:ext cx="4826000" cy="0"/>
          </a:xfrm>
          <a:prstGeom prst="line">
            <a:avLst/>
          </a:prstGeom>
          <a:noFill/>
          <a:ln w="25400">
            <a:solidFill>
              <a:srgbClr val="B5541C"/>
            </a:solidFill>
            <a:prstDash val="dash"/>
          </a:ln>
        </p:spPr>
      </p:sp>
      <p:sp>
        <p:nvSpPr>
          <p:cNvPr id="9" name="Text 7"/>
          <p:cNvSpPr/>
          <p:nvPr/>
        </p:nvSpPr>
        <p:spPr>
          <a:xfrm>
            <a:off x="3610610" y="2933601"/>
            <a:ext cx="4970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too expensive · too complex · too lonely</a:t>
            </a:r>
            <a:endParaRPr lang="en-US" sz="1200" dirty="0"/>
          </a:p>
        </p:txBody>
      </p:sp>
      <p:sp>
        <p:nvSpPr>
          <p:cNvPr id="10" name="Shape 8"/>
          <p:cNvSpPr/>
          <p:nvPr/>
        </p:nvSpPr>
        <p:spPr>
          <a:xfrm>
            <a:off x="8715375" y="2253555"/>
            <a:ext cx="2660650" cy="1182291"/>
          </a:xfrm>
          <a:prstGeom prst="roundRect">
            <a:avLst>
              <a:gd name="adj" fmla="val 12622"/>
            </a:avLst>
          </a:prstGeom>
          <a:solidFill>
            <a:srgbClr val="FDFCFF"/>
          </a:solidFill>
          <a:ln w="6350">
            <a:solidFill>
              <a:srgbClr val="E2DEF3"/>
            </a:solidFill>
            <a:prstDash val="solid"/>
          </a:ln>
        </p:spPr>
      </p:sp>
      <p:sp>
        <p:nvSpPr>
          <p:cNvPr id="11" name="Text 9"/>
          <p:cNvSpPr/>
          <p:nvPr/>
        </p:nvSpPr>
        <p:spPr>
          <a:xfrm>
            <a:off x="8896350" y="2434530"/>
            <a:ext cx="236766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5541C"/>
                </a:solidFill>
                <a:latin typeface="DM Sans" pitchFamily="34" charset="0"/>
                <a:ea typeface="DM Sans" pitchFamily="34" charset="-122"/>
                <a:cs typeface="DM Sans" pitchFamily="34" charset="-120"/>
              </a:rPr>
              <a:t>ACTION</a:t>
            </a:r>
            <a:endParaRPr lang="en-US" sz="1200" dirty="0"/>
          </a:p>
        </p:txBody>
      </p:sp>
      <p:sp>
        <p:nvSpPr>
          <p:cNvPr id="12" name="Text 10"/>
          <p:cNvSpPr/>
          <p:nvPr/>
        </p:nvSpPr>
        <p:spPr>
          <a:xfrm>
            <a:off x="8896350" y="2685951"/>
            <a:ext cx="2367661"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640"/>
                </a:solidFill>
                <a:latin typeface="DM Sans" pitchFamily="34" charset="0"/>
                <a:ea typeface="DM Sans" pitchFamily="34" charset="-122"/>
                <a:cs typeface="DM Sans" pitchFamily="34" charset="-120"/>
              </a:rPr>
              <a:t>“…but I don’t manage it.”</a:t>
            </a:r>
            <a:endParaRPr lang="en-US" sz="1600" dirty="0"/>
          </a:p>
        </p:txBody>
      </p:sp>
      <p:sp>
        <p:nvSpPr>
          <p:cNvPr id="13" name="Shape 11"/>
          <p:cNvSpPr/>
          <p:nvPr/>
        </p:nvSpPr>
        <p:spPr>
          <a:xfrm>
            <a:off x="815975" y="3696196"/>
            <a:ext cx="3414167" cy="1515021"/>
          </a:xfrm>
          <a:prstGeom prst="roundRect">
            <a:avLst>
              <a:gd name="adj" fmla="val 9850"/>
            </a:avLst>
          </a:prstGeom>
          <a:solidFill>
            <a:srgbClr val="FDFCFF"/>
          </a:solidFill>
          <a:ln w="6350">
            <a:solidFill>
              <a:srgbClr val="E2DEF3"/>
            </a:solidFill>
            <a:prstDash val="solid"/>
          </a:ln>
        </p:spPr>
      </p:sp>
      <p:pic>
        <p:nvPicPr>
          <p:cNvPr id="14" name="Image 0" descr="Warning">    </p:cNvPr>
          <p:cNvPicPr>
            <a:picLocks noChangeAspect="1"/>
          </p:cNvPicPr>
          <p:nvPr/>
        </p:nvPicPr>
        <p:blipFill>
          <a:blip r:embed="rId1"/>
          <a:srcRect l="0" r="0" t="0" b="0"/>
          <a:stretch/>
        </p:blipFill>
        <p:spPr>
          <a:xfrm>
            <a:off x="1022350" y="3902571"/>
            <a:ext cx="279400" cy="279400"/>
          </a:xfrm>
          <a:prstGeom prst="rect">
            <a:avLst/>
          </a:prstGeom>
        </p:spPr>
      </p:pic>
      <p:sp>
        <p:nvSpPr>
          <p:cNvPr id="15" name="Text 12"/>
          <p:cNvSpPr/>
          <p:nvPr/>
        </p:nvSpPr>
        <p:spPr>
          <a:xfrm>
            <a:off x="1022350" y="425817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Expensive</a:t>
            </a:r>
            <a:endParaRPr lang="en-US" sz="1600" dirty="0"/>
          </a:p>
        </p:txBody>
      </p:sp>
      <p:sp>
        <p:nvSpPr>
          <p:cNvPr id="16" name="Text 13"/>
          <p:cNvSpPr/>
          <p:nvPr/>
        </p:nvSpPr>
        <p:spPr>
          <a:xfrm>
            <a:off x="1022350" y="4578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Healthy food and personal health advice feel like a premium product.</a:t>
            </a:r>
            <a:endParaRPr lang="en-US" sz="1200" dirty="0"/>
          </a:p>
        </p:txBody>
      </p:sp>
      <p:sp>
        <p:nvSpPr>
          <p:cNvPr id="17" name="Shape 14"/>
          <p:cNvSpPr/>
          <p:nvPr/>
        </p:nvSpPr>
        <p:spPr>
          <a:xfrm>
            <a:off x="4388892" y="3696196"/>
            <a:ext cx="3414167" cy="1515021"/>
          </a:xfrm>
          <a:prstGeom prst="roundRect">
            <a:avLst>
              <a:gd name="adj" fmla="val 9850"/>
            </a:avLst>
          </a:prstGeom>
          <a:solidFill>
            <a:srgbClr val="FDFCFF"/>
          </a:solidFill>
          <a:ln w="6350">
            <a:solidFill>
              <a:srgbClr val="E2DEF3"/>
            </a:solidFill>
            <a:prstDash val="solid"/>
          </a:ln>
        </p:spPr>
      </p:sp>
      <p:pic>
        <p:nvPicPr>
          <p:cNvPr id="18" name="Image 1" descr="Settings">    </p:cNvPr>
          <p:cNvPicPr>
            <a:picLocks noChangeAspect="1"/>
          </p:cNvPicPr>
          <p:nvPr/>
        </p:nvPicPr>
        <p:blipFill>
          <a:blip r:embed="rId2"/>
          <a:srcRect l="0" r="0" t="0" b="0"/>
          <a:stretch/>
        </p:blipFill>
        <p:spPr>
          <a:xfrm>
            <a:off x="4595267" y="3902571"/>
            <a:ext cx="279400" cy="279400"/>
          </a:xfrm>
          <a:prstGeom prst="rect">
            <a:avLst/>
          </a:prstGeom>
        </p:spPr>
      </p:pic>
      <p:sp>
        <p:nvSpPr>
          <p:cNvPr id="19" name="Text 15"/>
          <p:cNvSpPr/>
          <p:nvPr/>
        </p:nvSpPr>
        <p:spPr>
          <a:xfrm>
            <a:off x="4595267" y="425817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Complex</a:t>
            </a:r>
            <a:endParaRPr lang="en-US" sz="1600" dirty="0"/>
          </a:p>
        </p:txBody>
      </p:sp>
      <p:sp>
        <p:nvSpPr>
          <p:cNvPr id="20" name="Text 16"/>
          <p:cNvSpPr/>
          <p:nvPr/>
        </p:nvSpPr>
        <p:spPr>
          <a:xfrm>
            <a:off x="4595267" y="457820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Diets, apps and advice are fragmented and hard to fit into a busy week.</a:t>
            </a:r>
            <a:endParaRPr lang="en-US" sz="1200" dirty="0"/>
          </a:p>
        </p:txBody>
      </p:sp>
      <p:sp>
        <p:nvSpPr>
          <p:cNvPr id="21" name="Shape 17"/>
          <p:cNvSpPr/>
          <p:nvPr/>
        </p:nvSpPr>
        <p:spPr>
          <a:xfrm>
            <a:off x="7961809" y="3696196"/>
            <a:ext cx="3414216" cy="1515021"/>
          </a:xfrm>
          <a:prstGeom prst="roundRect">
            <a:avLst>
              <a:gd name="adj" fmla="val 9850"/>
            </a:avLst>
          </a:prstGeom>
          <a:solidFill>
            <a:srgbClr val="FDFCFF"/>
          </a:solidFill>
          <a:ln w="6350">
            <a:solidFill>
              <a:srgbClr val="E2DEF3"/>
            </a:solidFill>
            <a:prstDash val="solid"/>
          </a:ln>
        </p:spPr>
      </p:sp>
      <p:pic>
        <p:nvPicPr>
          <p:cNvPr id="22" name="Image 2" descr="Users">    </p:cNvPr>
          <p:cNvPicPr>
            <a:picLocks noChangeAspect="1"/>
          </p:cNvPicPr>
          <p:nvPr/>
        </p:nvPicPr>
        <p:blipFill>
          <a:blip r:embed="rId3"/>
          <a:srcRect l="0" r="0" t="0" b="0"/>
          <a:stretch/>
        </p:blipFill>
        <p:spPr>
          <a:xfrm>
            <a:off x="8168184" y="3902571"/>
            <a:ext cx="279400" cy="279400"/>
          </a:xfrm>
          <a:prstGeom prst="rect">
            <a:avLst/>
          </a:prstGeom>
        </p:spPr>
      </p:pic>
      <p:sp>
        <p:nvSpPr>
          <p:cNvPr id="23" name="Text 18"/>
          <p:cNvSpPr/>
          <p:nvPr/>
        </p:nvSpPr>
        <p:spPr>
          <a:xfrm>
            <a:off x="8168184" y="425817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Lonely</a:t>
            </a:r>
            <a:endParaRPr lang="en-US" sz="1600" dirty="0"/>
          </a:p>
        </p:txBody>
      </p:sp>
      <p:sp>
        <p:nvSpPr>
          <p:cNvPr id="24" name="Text 19"/>
          <p:cNvSpPr/>
          <p:nvPr/>
        </p:nvSpPr>
        <p:spPr>
          <a:xfrm>
            <a:off x="8168184" y="457820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People try alone, without support, motivation or community.</a:t>
            </a:r>
            <a:endParaRPr lang="en-US" sz="1200" dirty="0"/>
          </a:p>
        </p:txBody>
      </p:sp>
      <p:sp>
        <p:nvSpPr>
          <p:cNvPr id="25" name="Text 20"/>
          <p:cNvSpPr/>
          <p:nvPr/>
        </p:nvSpPr>
        <p:spPr>
          <a:xfrm>
            <a:off x="812800" y="5468392"/>
            <a:ext cx="10566400" cy="502890"/>
          </a:xfrm>
          <a:prstGeom prst="roundRect">
            <a:avLst>
              <a:gd name="adj" fmla="val 20203"/>
            </a:avLst>
          </a:prstGeom>
          <a:solidFill>
            <a:srgbClr val="EEEBFB"/>
          </a:solidFill>
          <a:ln/>
        </p:spPr>
        <p:txBody>
          <a:bodyPr wrap="square" lIns="148042" tIns="97242" rIns="0" bIns="71842" rtlCol="0" anchor="t">
            <a:normAutofit/>
          </a:bodyPr>
          <a:lstStyle/>
          <a:p>
            <a:pPr algn="l" indent="0" marL="0">
              <a:lnSpc>
                <a:spcPts val="1960"/>
              </a:lnSpc>
              <a:buNone/>
            </a:pPr>
            <a:r>
              <a:rPr lang="en-US" sz="1400" b="1" dirty="0">
                <a:solidFill>
                  <a:srgbClr val="1C1640"/>
                </a:solidFill>
                <a:latin typeface="DM Sans" pitchFamily="34" charset="0"/>
                <a:ea typeface="DM Sans" pitchFamily="34" charset="-122"/>
                <a:cs typeface="DM Sans" pitchFamily="34" charset="-120"/>
              </a:rPr>
              <a:t>Retail today sells the ingredients, then leaves customers alone with the execution.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1018729"/>
            <a:ext cx="76393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DIGITAL CONCEPT · LIDL.GESUND APP SECTION</a:t>
            </a:r>
            <a:endParaRPr lang="en-US" sz="1200" dirty="0"/>
          </a:p>
        </p:txBody>
      </p:sp>
      <p:sp>
        <p:nvSpPr>
          <p:cNvPr id="3" name="Text 1"/>
          <p:cNvSpPr/>
          <p:nvPr>
            <p:ph type="title"/>
          </p:nvPr>
        </p:nvSpPr>
        <p:spPr>
          <a:xfrm>
            <a:off x="812800" y="1308249"/>
            <a:ext cx="7639304"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One app from health goal to shopping basket</a:t>
            </a:r>
            <a:endParaRPr lang="en-US" sz="3200" dirty="0"/>
          </a:p>
        </p:txBody>
      </p:sp>
      <p:sp>
        <p:nvSpPr>
          <p:cNvPr id="4" name="Shape 2"/>
          <p:cNvSpPr/>
          <p:nvPr/>
        </p:nvSpPr>
        <p:spPr>
          <a:xfrm>
            <a:off x="815975" y="2459484"/>
            <a:ext cx="3651250" cy="763191"/>
          </a:xfrm>
          <a:prstGeom prst="roundRect">
            <a:avLst>
              <a:gd name="adj" fmla="val 16225"/>
            </a:avLst>
          </a:prstGeom>
          <a:solidFill>
            <a:srgbClr val="FDFCFF"/>
          </a:solidFill>
          <a:ln w="6350">
            <a:solidFill>
              <a:srgbClr val="E2DEF3"/>
            </a:solidFill>
            <a:prstDash val="solid"/>
          </a:ln>
        </p:spPr>
      </p:sp>
      <p:pic>
        <p:nvPicPr>
          <p:cNvPr id="5" name="Image 0" descr="Lightbulb">    </p:cNvPr>
          <p:cNvPicPr>
            <a:picLocks noChangeAspect="1"/>
          </p:cNvPicPr>
          <p:nvPr/>
        </p:nvPicPr>
        <p:blipFill>
          <a:blip r:embed="rId1"/>
          <a:srcRect l="0" r="0" t="0" b="0"/>
          <a:stretch/>
        </p:blipFill>
        <p:spPr>
          <a:xfrm>
            <a:off x="971550" y="2615059"/>
            <a:ext cx="254000" cy="254000"/>
          </a:xfrm>
          <a:prstGeom prst="rect">
            <a:avLst/>
          </a:prstGeom>
        </p:spPr>
      </p:pic>
      <p:sp>
        <p:nvSpPr>
          <p:cNvPr id="6" name="Text 3"/>
          <p:cNvSpPr/>
          <p:nvPr/>
        </p:nvSpPr>
        <p:spPr>
          <a:xfrm>
            <a:off x="1352550" y="2615059"/>
            <a:ext cx="19929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AI meal planning</a:t>
            </a:r>
            <a:endParaRPr lang="en-US" sz="1400" dirty="0"/>
          </a:p>
        </p:txBody>
      </p:sp>
      <p:sp>
        <p:nvSpPr>
          <p:cNvPr id="7" name="Text 4"/>
          <p:cNvSpPr/>
          <p:nvPr/>
        </p:nvSpPr>
        <p:spPr>
          <a:xfrm>
            <a:off x="1352550" y="2853779"/>
            <a:ext cx="23218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Meals tailored to your goals</a:t>
            </a:r>
            <a:endParaRPr lang="en-US" sz="1200" dirty="0"/>
          </a:p>
        </p:txBody>
      </p:sp>
      <p:sp>
        <p:nvSpPr>
          <p:cNvPr id="8" name="Shape 5"/>
          <p:cNvSpPr/>
          <p:nvPr/>
        </p:nvSpPr>
        <p:spPr>
          <a:xfrm>
            <a:off x="4575175" y="2459484"/>
            <a:ext cx="3651250" cy="763191"/>
          </a:xfrm>
          <a:prstGeom prst="roundRect">
            <a:avLst>
              <a:gd name="adj" fmla="val 16225"/>
            </a:avLst>
          </a:prstGeom>
          <a:solidFill>
            <a:srgbClr val="FDFCFF"/>
          </a:solidFill>
          <a:ln w="6350">
            <a:solidFill>
              <a:srgbClr val="E2DEF3"/>
            </a:solidFill>
            <a:prstDash val="solid"/>
          </a:ln>
        </p:spPr>
      </p:sp>
      <p:pic>
        <p:nvPicPr>
          <p:cNvPr id="9" name="Image 1" descr="Activity">    </p:cNvPr>
          <p:cNvPicPr>
            <a:picLocks noChangeAspect="1"/>
          </p:cNvPicPr>
          <p:nvPr/>
        </p:nvPicPr>
        <p:blipFill>
          <a:blip r:embed="rId2"/>
          <a:srcRect l="0" r="0" t="0" b="0"/>
          <a:stretch/>
        </p:blipFill>
        <p:spPr>
          <a:xfrm>
            <a:off x="4730750" y="2615059"/>
            <a:ext cx="254000" cy="254000"/>
          </a:xfrm>
          <a:prstGeom prst="rect">
            <a:avLst/>
          </a:prstGeom>
        </p:spPr>
      </p:pic>
      <p:sp>
        <p:nvSpPr>
          <p:cNvPr id="10" name="Text 6"/>
          <p:cNvSpPr/>
          <p:nvPr/>
        </p:nvSpPr>
        <p:spPr>
          <a:xfrm>
            <a:off x="5111750" y="2615059"/>
            <a:ext cx="19719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Health profile</a:t>
            </a:r>
            <a:endParaRPr lang="en-US" sz="1400" dirty="0"/>
          </a:p>
        </p:txBody>
      </p:sp>
      <p:sp>
        <p:nvSpPr>
          <p:cNvPr id="11" name="Text 7"/>
          <p:cNvSpPr/>
          <p:nvPr/>
        </p:nvSpPr>
        <p:spPr>
          <a:xfrm>
            <a:off x="5111750" y="2853779"/>
            <a:ext cx="22973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BMI and daily calorie target</a:t>
            </a:r>
            <a:endParaRPr lang="en-US" sz="1200" dirty="0"/>
          </a:p>
        </p:txBody>
      </p:sp>
      <p:sp>
        <p:nvSpPr>
          <p:cNvPr id="12" name="Shape 8"/>
          <p:cNvSpPr/>
          <p:nvPr/>
        </p:nvSpPr>
        <p:spPr>
          <a:xfrm>
            <a:off x="815975" y="3330625"/>
            <a:ext cx="3651250" cy="763191"/>
          </a:xfrm>
          <a:prstGeom prst="roundRect">
            <a:avLst>
              <a:gd name="adj" fmla="val 16225"/>
            </a:avLst>
          </a:prstGeom>
          <a:solidFill>
            <a:srgbClr val="FDFCFF"/>
          </a:solidFill>
          <a:ln w="6350">
            <a:solidFill>
              <a:srgbClr val="E2DEF3"/>
            </a:solidFill>
            <a:prstDash val="solid"/>
          </a:ln>
        </p:spPr>
      </p:sp>
      <p:pic>
        <p:nvPicPr>
          <p:cNvPr id="13" name="Image 2" descr="Chart">    </p:cNvPr>
          <p:cNvPicPr>
            <a:picLocks noChangeAspect="1"/>
          </p:cNvPicPr>
          <p:nvPr/>
        </p:nvPicPr>
        <p:blipFill>
          <a:blip r:embed="rId3"/>
          <a:srcRect l="0" r="0" t="0" b="0"/>
          <a:stretch/>
        </p:blipFill>
        <p:spPr>
          <a:xfrm>
            <a:off x="971550" y="3486200"/>
            <a:ext cx="254000" cy="254000"/>
          </a:xfrm>
          <a:prstGeom prst="rect">
            <a:avLst/>
          </a:prstGeom>
        </p:spPr>
      </p:pic>
      <p:sp>
        <p:nvSpPr>
          <p:cNvPr id="14" name="Text 9"/>
          <p:cNvSpPr/>
          <p:nvPr/>
        </p:nvSpPr>
        <p:spPr>
          <a:xfrm>
            <a:off x="1352550" y="3486200"/>
            <a:ext cx="192561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Nutrition per serving</a:t>
            </a:r>
            <a:endParaRPr lang="en-US" sz="1400" dirty="0"/>
          </a:p>
        </p:txBody>
      </p:sp>
      <p:sp>
        <p:nvSpPr>
          <p:cNvPr id="15" name="Text 10"/>
          <p:cNvSpPr/>
          <p:nvPr/>
        </p:nvSpPr>
        <p:spPr>
          <a:xfrm>
            <a:off x="1352550" y="3724920"/>
            <a:ext cx="22434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Calories, protein, carbs, fat</a:t>
            </a:r>
            <a:endParaRPr lang="en-US" sz="1200" dirty="0"/>
          </a:p>
        </p:txBody>
      </p:sp>
      <p:sp>
        <p:nvSpPr>
          <p:cNvPr id="16" name="Shape 11"/>
          <p:cNvSpPr/>
          <p:nvPr/>
        </p:nvSpPr>
        <p:spPr>
          <a:xfrm>
            <a:off x="4575175" y="3330625"/>
            <a:ext cx="3651250" cy="763191"/>
          </a:xfrm>
          <a:prstGeom prst="roundRect">
            <a:avLst>
              <a:gd name="adj" fmla="val 16225"/>
            </a:avLst>
          </a:prstGeom>
          <a:solidFill>
            <a:srgbClr val="FDFCFF"/>
          </a:solidFill>
          <a:ln w="6350">
            <a:solidFill>
              <a:srgbClr val="E2DEF3"/>
            </a:solidFill>
            <a:prstDash val="solid"/>
          </a:ln>
        </p:spPr>
      </p:sp>
      <p:pic>
        <p:nvPicPr>
          <p:cNvPr id="17" name="Image 3" descr="Check">    </p:cNvPr>
          <p:cNvPicPr>
            <a:picLocks noChangeAspect="1"/>
          </p:cNvPicPr>
          <p:nvPr/>
        </p:nvPicPr>
        <p:blipFill>
          <a:blip r:embed="rId4"/>
          <a:srcRect l="0" r="0" t="0" b="0"/>
          <a:stretch/>
        </p:blipFill>
        <p:spPr>
          <a:xfrm>
            <a:off x="4730750" y="3486200"/>
            <a:ext cx="254000" cy="254000"/>
          </a:xfrm>
          <a:prstGeom prst="rect">
            <a:avLst/>
          </a:prstGeom>
        </p:spPr>
      </p:pic>
      <p:sp>
        <p:nvSpPr>
          <p:cNvPr id="18" name="Text 12"/>
          <p:cNvSpPr/>
          <p:nvPr/>
        </p:nvSpPr>
        <p:spPr>
          <a:xfrm>
            <a:off x="5111750" y="3486200"/>
            <a:ext cx="19959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Smart shopping list</a:t>
            </a:r>
            <a:endParaRPr lang="en-US" sz="1400" dirty="0"/>
          </a:p>
        </p:txBody>
      </p:sp>
      <p:sp>
        <p:nvSpPr>
          <p:cNvPr id="19" name="Text 13"/>
          <p:cNvSpPr/>
          <p:nvPr/>
        </p:nvSpPr>
        <p:spPr>
          <a:xfrm>
            <a:off x="5111750" y="3724920"/>
            <a:ext cx="2325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Ingredients matched to Lidl</a:t>
            </a:r>
            <a:endParaRPr lang="en-US" sz="1200" dirty="0"/>
          </a:p>
        </p:txBody>
      </p:sp>
      <p:sp>
        <p:nvSpPr>
          <p:cNvPr id="20" name="Shape 14"/>
          <p:cNvSpPr/>
          <p:nvPr/>
        </p:nvSpPr>
        <p:spPr>
          <a:xfrm>
            <a:off x="815975" y="4201765"/>
            <a:ext cx="3651250" cy="763191"/>
          </a:xfrm>
          <a:prstGeom prst="roundRect">
            <a:avLst>
              <a:gd name="adj" fmla="val 16225"/>
            </a:avLst>
          </a:prstGeom>
          <a:solidFill>
            <a:srgbClr val="FDFCFF"/>
          </a:solidFill>
          <a:ln w="6350">
            <a:solidFill>
              <a:srgbClr val="E2DEF3"/>
            </a:solidFill>
            <a:prstDash val="solid"/>
          </a:ln>
        </p:spPr>
      </p:sp>
      <p:pic>
        <p:nvPicPr>
          <p:cNvPr id="21" name="Image 4" descr="Chat">    </p:cNvPr>
          <p:cNvPicPr>
            <a:picLocks noChangeAspect="1"/>
          </p:cNvPicPr>
          <p:nvPr/>
        </p:nvPicPr>
        <p:blipFill>
          <a:blip r:embed="rId5"/>
          <a:srcRect l="0" r="0" t="0" b="0"/>
          <a:stretch/>
        </p:blipFill>
        <p:spPr>
          <a:xfrm>
            <a:off x="971550" y="4357340"/>
            <a:ext cx="254000" cy="254000"/>
          </a:xfrm>
          <a:prstGeom prst="rect">
            <a:avLst/>
          </a:prstGeom>
        </p:spPr>
      </p:pic>
      <p:sp>
        <p:nvSpPr>
          <p:cNvPr id="22" name="Text 15"/>
          <p:cNvSpPr/>
          <p:nvPr/>
        </p:nvSpPr>
        <p:spPr>
          <a:xfrm>
            <a:off x="1352550" y="4357340"/>
            <a:ext cx="22469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Health Line by phone</a:t>
            </a:r>
            <a:endParaRPr lang="en-US" sz="1400" dirty="0"/>
          </a:p>
        </p:txBody>
      </p:sp>
      <p:sp>
        <p:nvSpPr>
          <p:cNvPr id="23" name="Text 16"/>
          <p:cNvSpPr/>
          <p:nvPr/>
        </p:nvSpPr>
        <p:spPr>
          <a:xfrm>
            <a:off x="1352550" y="4596061"/>
            <a:ext cx="26177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Order by voice, no app needed</a:t>
            </a:r>
            <a:endParaRPr lang="en-US" sz="1200" dirty="0"/>
          </a:p>
        </p:txBody>
      </p:sp>
      <p:sp>
        <p:nvSpPr>
          <p:cNvPr id="24" name="Shape 17"/>
          <p:cNvSpPr/>
          <p:nvPr/>
        </p:nvSpPr>
        <p:spPr>
          <a:xfrm>
            <a:off x="4575175" y="4201765"/>
            <a:ext cx="3651250" cy="763191"/>
          </a:xfrm>
          <a:prstGeom prst="roundRect">
            <a:avLst>
              <a:gd name="adj" fmla="val 16225"/>
            </a:avLst>
          </a:prstGeom>
          <a:solidFill>
            <a:srgbClr val="FDFCFF"/>
          </a:solidFill>
          <a:ln w="6350">
            <a:solidFill>
              <a:srgbClr val="E2DEF3"/>
            </a:solidFill>
            <a:prstDash val="solid"/>
          </a:ln>
        </p:spPr>
      </p:sp>
      <p:pic>
        <p:nvPicPr>
          <p:cNvPr id="25" name="Image 5" descr="Clock">    </p:cNvPr>
          <p:cNvPicPr>
            <a:picLocks noChangeAspect="1"/>
          </p:cNvPicPr>
          <p:nvPr/>
        </p:nvPicPr>
        <p:blipFill>
          <a:blip r:embed="rId6"/>
          <a:srcRect l="0" r="0" t="0" b="0"/>
          <a:stretch/>
        </p:blipFill>
        <p:spPr>
          <a:xfrm>
            <a:off x="4730750" y="4357340"/>
            <a:ext cx="254000" cy="254000"/>
          </a:xfrm>
          <a:prstGeom prst="rect">
            <a:avLst/>
          </a:prstGeom>
        </p:spPr>
      </p:pic>
      <p:sp>
        <p:nvSpPr>
          <p:cNvPr id="26" name="Text 18"/>
          <p:cNvSpPr/>
          <p:nvPr/>
        </p:nvSpPr>
        <p:spPr>
          <a:xfrm>
            <a:off x="5111750" y="4357340"/>
            <a:ext cx="216904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Future You avatar</a:t>
            </a:r>
            <a:endParaRPr lang="en-US" sz="1400" dirty="0"/>
          </a:p>
        </p:txBody>
      </p:sp>
      <p:sp>
        <p:nvSpPr>
          <p:cNvPr id="27" name="Text 19"/>
          <p:cNvSpPr/>
          <p:nvPr/>
        </p:nvSpPr>
        <p:spPr>
          <a:xfrm>
            <a:off x="5111750" y="4596061"/>
            <a:ext cx="2527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See yourself in 6 to 12 months</a:t>
            </a:r>
            <a:endParaRPr lang="en-US" sz="1200" dirty="0"/>
          </a:p>
        </p:txBody>
      </p:sp>
      <p:sp>
        <p:nvSpPr>
          <p:cNvPr id="28" name="Shape 20"/>
          <p:cNvSpPr/>
          <p:nvPr/>
        </p:nvSpPr>
        <p:spPr>
          <a:xfrm>
            <a:off x="815975" y="5072906"/>
            <a:ext cx="3651250" cy="763191"/>
          </a:xfrm>
          <a:prstGeom prst="roundRect">
            <a:avLst>
              <a:gd name="adj" fmla="val 16225"/>
            </a:avLst>
          </a:prstGeom>
          <a:solidFill>
            <a:srgbClr val="FDFCFF"/>
          </a:solidFill>
          <a:ln w="6350">
            <a:solidFill>
              <a:srgbClr val="E2DEF3"/>
            </a:solidFill>
            <a:prstDash val="solid"/>
          </a:ln>
        </p:spPr>
      </p:sp>
      <p:pic>
        <p:nvPicPr>
          <p:cNvPr id="29" name="Image 6" descr="Star">    </p:cNvPr>
          <p:cNvPicPr>
            <a:picLocks noChangeAspect="1"/>
          </p:cNvPicPr>
          <p:nvPr/>
        </p:nvPicPr>
        <p:blipFill>
          <a:blip r:embed="rId7"/>
          <a:srcRect l="0" r="0" t="0" b="0"/>
          <a:stretch/>
        </p:blipFill>
        <p:spPr>
          <a:xfrm>
            <a:off x="971550" y="5228481"/>
            <a:ext cx="254000" cy="254000"/>
          </a:xfrm>
          <a:prstGeom prst="rect">
            <a:avLst/>
          </a:prstGeom>
        </p:spPr>
      </p:pic>
      <p:sp>
        <p:nvSpPr>
          <p:cNvPr id="30" name="Text 21"/>
          <p:cNvSpPr/>
          <p:nvPr/>
        </p:nvSpPr>
        <p:spPr>
          <a:xfrm>
            <a:off x="1352550" y="5228481"/>
            <a:ext cx="19695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Bet on yourself</a:t>
            </a:r>
            <a:endParaRPr lang="en-US" sz="1400" dirty="0"/>
          </a:p>
        </p:txBody>
      </p:sp>
      <p:sp>
        <p:nvSpPr>
          <p:cNvPr id="31" name="Text 22"/>
          <p:cNvSpPr/>
          <p:nvPr/>
        </p:nvSpPr>
        <p:spPr>
          <a:xfrm>
            <a:off x="1352550" y="5467201"/>
            <a:ext cx="2294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Pledge €10, win food credit</a:t>
            </a:r>
            <a:endParaRPr lang="en-US" sz="1200" dirty="0"/>
          </a:p>
        </p:txBody>
      </p:sp>
      <p:sp>
        <p:nvSpPr>
          <p:cNvPr id="32" name="Shape 23"/>
          <p:cNvSpPr/>
          <p:nvPr/>
        </p:nvSpPr>
        <p:spPr>
          <a:xfrm>
            <a:off x="4575175" y="5072906"/>
            <a:ext cx="3651250" cy="763191"/>
          </a:xfrm>
          <a:prstGeom prst="roundRect">
            <a:avLst>
              <a:gd name="adj" fmla="val 16225"/>
            </a:avLst>
          </a:prstGeom>
          <a:solidFill>
            <a:srgbClr val="FDFCFF"/>
          </a:solidFill>
          <a:ln w="6350">
            <a:solidFill>
              <a:srgbClr val="E2DEF3"/>
            </a:solidFill>
            <a:prstDash val="solid"/>
          </a:ln>
        </p:spPr>
      </p:sp>
      <p:pic>
        <p:nvPicPr>
          <p:cNvPr id="33" name="Image 7" descr="Users">    </p:cNvPr>
          <p:cNvPicPr>
            <a:picLocks noChangeAspect="1"/>
          </p:cNvPicPr>
          <p:nvPr/>
        </p:nvPicPr>
        <p:blipFill>
          <a:blip r:embed="rId8"/>
          <a:srcRect l="0" r="0" t="0" b="0"/>
          <a:stretch/>
        </p:blipFill>
        <p:spPr>
          <a:xfrm>
            <a:off x="4730750" y="5228481"/>
            <a:ext cx="254000" cy="254000"/>
          </a:xfrm>
          <a:prstGeom prst="rect">
            <a:avLst/>
          </a:prstGeom>
        </p:spPr>
      </p:pic>
      <p:sp>
        <p:nvSpPr>
          <p:cNvPr id="34" name="Text 24"/>
          <p:cNvSpPr/>
          <p:nvPr/>
        </p:nvSpPr>
        <p:spPr>
          <a:xfrm>
            <a:off x="5111750" y="5228481"/>
            <a:ext cx="20549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FoodMatch</a:t>
            </a:r>
            <a:endParaRPr lang="en-US" sz="1400" dirty="0"/>
          </a:p>
        </p:txBody>
      </p:sp>
      <p:sp>
        <p:nvSpPr>
          <p:cNvPr id="35" name="Text 25"/>
          <p:cNvSpPr/>
          <p:nvPr/>
        </p:nvSpPr>
        <p:spPr>
          <a:xfrm>
            <a:off x="5111750" y="5467201"/>
            <a:ext cx="23941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Meet, cook and eat together</a:t>
            </a:r>
            <a:endParaRPr lang="en-US" sz="1200" dirty="0"/>
          </a:p>
        </p:txBody>
      </p:sp>
      <p:sp>
        <p:nvSpPr>
          <p:cNvPr id="36" name="Shape 26"/>
          <p:cNvSpPr/>
          <p:nvPr/>
        </p:nvSpPr>
        <p:spPr>
          <a:xfrm>
            <a:off x="8839200" y="812800"/>
            <a:ext cx="2540000" cy="5232400"/>
          </a:xfrm>
          <a:prstGeom prst="roundRect">
            <a:avLst>
              <a:gd name="adj" fmla="val 15000"/>
            </a:avLst>
          </a:prstGeom>
          <a:solidFill>
            <a:srgbClr val="14102E"/>
          </a:solidFill>
          <a:ln/>
        </p:spPr>
      </p:sp>
      <p:sp>
        <p:nvSpPr>
          <p:cNvPr id="37" name="Shape 27"/>
          <p:cNvSpPr/>
          <p:nvPr/>
        </p:nvSpPr>
        <p:spPr>
          <a:xfrm>
            <a:off x="8928100" y="901700"/>
            <a:ext cx="2362200" cy="5054600"/>
          </a:xfrm>
          <a:prstGeom prst="roundRect">
            <a:avLst>
              <a:gd name="adj" fmla="val 12903"/>
            </a:avLst>
          </a:prstGeom>
          <a:solidFill>
            <a:srgbClr val="FBFAFE"/>
          </a:solidFill>
          <a:ln/>
        </p:spPr>
      </p:sp>
      <p:sp>
        <p:nvSpPr>
          <p:cNvPr id="38" name="Text 28"/>
          <p:cNvSpPr/>
          <p:nvPr/>
        </p:nvSpPr>
        <p:spPr>
          <a:xfrm>
            <a:off x="9080500" y="1079500"/>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Good morning,</a:t>
            </a:r>
            <a:endParaRPr lang="en-US" sz="1200" dirty="0"/>
          </a:p>
        </p:txBody>
      </p:sp>
      <p:sp>
        <p:nvSpPr>
          <p:cNvPr id="39" name="Text 29"/>
          <p:cNvSpPr/>
          <p:nvPr/>
        </p:nvSpPr>
        <p:spPr>
          <a:xfrm>
            <a:off x="9080500" y="1305520"/>
            <a:ext cx="21191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Jonas</a:t>
            </a:r>
            <a:endParaRPr lang="en-US" sz="1600" dirty="0"/>
          </a:p>
        </p:txBody>
      </p:sp>
      <p:sp>
        <p:nvSpPr>
          <p:cNvPr id="40" name="Shape 30"/>
          <p:cNvSpPr/>
          <p:nvPr/>
        </p:nvSpPr>
        <p:spPr>
          <a:xfrm>
            <a:off x="9080500" y="1650950"/>
            <a:ext cx="2057400" cy="1196231"/>
          </a:xfrm>
          <a:prstGeom prst="roundRect">
            <a:avLst>
              <a:gd name="adj" fmla="val 10617"/>
            </a:avLst>
          </a:prstGeom>
          <a:solidFill>
            <a:srgbClr val="EEEBFB"/>
          </a:solidFill>
          <a:ln/>
        </p:spPr>
      </p:sp>
      <p:sp>
        <p:nvSpPr>
          <p:cNvPr id="41" name="Text 31"/>
          <p:cNvSpPr/>
          <p:nvPr/>
        </p:nvSpPr>
        <p:spPr>
          <a:xfrm>
            <a:off x="9207500" y="1777950"/>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Today’s energy</a:t>
            </a:r>
            <a:endParaRPr lang="en-US" sz="1200" dirty="0"/>
          </a:p>
        </p:txBody>
      </p:sp>
      <p:sp>
        <p:nvSpPr>
          <p:cNvPr id="42" name="Text 32"/>
          <p:cNvSpPr/>
          <p:nvPr/>
        </p:nvSpPr>
        <p:spPr>
          <a:xfrm>
            <a:off x="9207500" y="2054771"/>
            <a:ext cx="185750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640"/>
                </a:solidFill>
                <a:latin typeface="DM Sans" pitchFamily="34" charset="0"/>
                <a:ea typeface="DM Sans" pitchFamily="34" charset="-122"/>
                <a:cs typeface="DM Sans" pitchFamily="34" charset="-120"/>
              </a:rPr>
              <a:t>1,420 of 2,700</a:t>
            </a:r>
            <a:endParaRPr lang="en-US" sz="1400" dirty="0"/>
          </a:p>
        </p:txBody>
      </p:sp>
      <p:sp>
        <p:nvSpPr>
          <p:cNvPr id="43" name="Text 33"/>
          <p:cNvSpPr/>
          <p:nvPr/>
        </p:nvSpPr>
        <p:spPr>
          <a:xfrm>
            <a:off x="9207500" y="236716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kcal eaten</a:t>
            </a:r>
            <a:endParaRPr lang="en-US" sz="1200" dirty="0"/>
          </a:p>
        </p:txBody>
      </p:sp>
      <p:sp>
        <p:nvSpPr>
          <p:cNvPr id="44" name="Shape 34"/>
          <p:cNvSpPr/>
          <p:nvPr/>
        </p:nvSpPr>
        <p:spPr>
          <a:xfrm>
            <a:off x="9207500" y="2643981"/>
            <a:ext cx="1803400" cy="76200"/>
          </a:xfrm>
          <a:prstGeom prst="roundRect">
            <a:avLst>
              <a:gd name="adj" fmla="val 50000"/>
            </a:avLst>
          </a:prstGeom>
          <a:solidFill>
            <a:srgbClr val="D6D0F5"/>
          </a:solidFill>
          <a:ln/>
        </p:spPr>
      </p:sp>
      <p:sp>
        <p:nvSpPr>
          <p:cNvPr id="45" name="Shape 35"/>
          <p:cNvSpPr/>
          <p:nvPr/>
        </p:nvSpPr>
        <p:spPr>
          <a:xfrm>
            <a:off x="9207500" y="2643981"/>
            <a:ext cx="1803400" cy="76200"/>
          </a:xfrm>
          <a:prstGeom prst="roundRect">
            <a:avLst>
              <a:gd name="adj" fmla="val 50000"/>
            </a:avLst>
          </a:prstGeom>
          <a:solidFill>
            <a:srgbClr val="5B4BDB"/>
          </a:solidFill>
          <a:ln/>
        </p:spPr>
      </p:sp>
      <p:sp>
        <p:nvSpPr>
          <p:cNvPr id="46" name="Shape 36"/>
          <p:cNvSpPr/>
          <p:nvPr/>
        </p:nvSpPr>
        <p:spPr>
          <a:xfrm>
            <a:off x="9083675" y="2951956"/>
            <a:ext cx="2051050" cy="1012081"/>
          </a:xfrm>
          <a:prstGeom prst="roundRect">
            <a:avLst>
              <a:gd name="adj" fmla="val 12235"/>
            </a:avLst>
          </a:prstGeom>
          <a:solidFill>
            <a:srgbClr val="FDFCFF"/>
          </a:solidFill>
          <a:ln w="6350">
            <a:solidFill>
              <a:srgbClr val="E2DEF3"/>
            </a:solidFill>
            <a:prstDash val="solid"/>
          </a:ln>
        </p:spPr>
      </p:sp>
      <p:sp>
        <p:nvSpPr>
          <p:cNvPr id="47" name="Text 37"/>
          <p:cNvSpPr/>
          <p:nvPr/>
        </p:nvSpPr>
        <p:spPr>
          <a:xfrm>
            <a:off x="9213850" y="3082131"/>
            <a:ext cx="18444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Tonight</a:t>
            </a:r>
            <a:endParaRPr lang="en-US" sz="1200" dirty="0"/>
          </a:p>
        </p:txBody>
      </p:sp>
      <p:sp>
        <p:nvSpPr>
          <p:cNvPr id="48" name="Text 38"/>
          <p:cNvSpPr/>
          <p:nvPr/>
        </p:nvSpPr>
        <p:spPr>
          <a:xfrm>
            <a:off x="9213850" y="3333552"/>
            <a:ext cx="184442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640"/>
                </a:solidFill>
                <a:latin typeface="DM Sans" pitchFamily="34" charset="0"/>
                <a:ea typeface="DM Sans" pitchFamily="34" charset="-122"/>
                <a:cs typeface="DM Sans" pitchFamily="34" charset="-120"/>
              </a:rPr>
              <a:t>Lentil curry</a:t>
            </a:r>
            <a:endParaRPr lang="en-US" sz="1400" dirty="0"/>
          </a:p>
        </p:txBody>
      </p:sp>
      <p:sp>
        <p:nvSpPr>
          <p:cNvPr id="49" name="Text 39"/>
          <p:cNvSpPr/>
          <p:nvPr/>
        </p:nvSpPr>
        <p:spPr>
          <a:xfrm>
            <a:off x="9213850" y="3620542"/>
            <a:ext cx="18444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520 kcal · €2.10 each</a:t>
            </a:r>
            <a:endParaRPr lang="en-US" sz="1200" dirty="0"/>
          </a:p>
        </p:txBody>
      </p:sp>
      <p:sp>
        <p:nvSpPr>
          <p:cNvPr id="50" name="Shape 40"/>
          <p:cNvSpPr/>
          <p:nvPr/>
        </p:nvSpPr>
        <p:spPr>
          <a:xfrm>
            <a:off x="9080500" y="4068812"/>
            <a:ext cx="2057400" cy="858441"/>
          </a:xfrm>
          <a:prstGeom prst="roundRect">
            <a:avLst>
              <a:gd name="adj" fmla="val 14794"/>
            </a:avLst>
          </a:prstGeom>
          <a:solidFill>
            <a:srgbClr val="E6F4EC"/>
          </a:solidFill>
          <a:ln/>
        </p:spPr>
      </p:sp>
      <p:sp>
        <p:nvSpPr>
          <p:cNvPr id="51" name="Text 41"/>
          <p:cNvSpPr/>
          <p:nvPr/>
        </p:nvSpPr>
        <p:spPr>
          <a:xfrm>
            <a:off x="9207500" y="4195812"/>
            <a:ext cx="18575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52"/>
                </a:solidFill>
                <a:latin typeface="DM Sans" pitchFamily="34" charset="0"/>
                <a:ea typeface="DM Sans" pitchFamily="34" charset="-122"/>
                <a:cs typeface="DM Sans" pitchFamily="34" charset="-120"/>
              </a:rPr>
              <a:t>Your bet: 3 of 5</a:t>
            </a:r>
            <a:endParaRPr lang="en-US" sz="1200" dirty="0"/>
          </a:p>
        </p:txBody>
      </p:sp>
      <p:sp>
        <p:nvSpPr>
          <p:cNvPr id="52" name="Text 42"/>
          <p:cNvSpPr/>
          <p:nvPr/>
        </p:nvSpPr>
        <p:spPr>
          <a:xfrm>
            <a:off x="9207500" y="4459932"/>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veg days this week</a:t>
            </a:r>
            <a:endParaRPr lang="en-US" sz="1200" dirty="0"/>
          </a:p>
        </p:txBody>
      </p:sp>
      <p:sp>
        <p:nvSpPr>
          <p:cNvPr id="53" name="Shape 43"/>
          <p:cNvSpPr/>
          <p:nvPr/>
        </p:nvSpPr>
        <p:spPr>
          <a:xfrm>
            <a:off x="9207500" y="4724053"/>
            <a:ext cx="1803400" cy="76200"/>
          </a:xfrm>
          <a:prstGeom prst="roundRect">
            <a:avLst>
              <a:gd name="adj" fmla="val 50000"/>
            </a:avLst>
          </a:prstGeom>
          <a:solidFill>
            <a:srgbClr val="C5E6D3"/>
          </a:solidFill>
          <a:ln/>
        </p:spPr>
      </p:sp>
      <p:sp>
        <p:nvSpPr>
          <p:cNvPr id="54" name="Shape 44"/>
          <p:cNvSpPr/>
          <p:nvPr/>
        </p:nvSpPr>
        <p:spPr>
          <a:xfrm>
            <a:off x="9207500" y="4724053"/>
            <a:ext cx="1803400" cy="76200"/>
          </a:xfrm>
          <a:prstGeom prst="roundRect">
            <a:avLst>
              <a:gd name="adj" fmla="val 50000"/>
            </a:avLst>
          </a:prstGeom>
          <a:solidFill>
            <a:srgbClr val="1F7A52"/>
          </a:solidFill>
          <a:ln/>
        </p:spPr>
      </p:sp>
      <p:sp>
        <p:nvSpPr>
          <p:cNvPr id="55" name="Text 45"/>
          <p:cNvSpPr/>
          <p:nvPr/>
        </p:nvSpPr>
        <p:spPr>
          <a:xfrm>
            <a:off x="9080500" y="5336580"/>
            <a:ext cx="2057400" cy="441920"/>
          </a:xfrm>
          <a:custGeom>
            <a:avLst/>
            <a:gdLst/>
            <a:ahLst/>
            <a:cxnLst/>
            <a:rect l="l" t="t" r="r" b="b"/>
            <a:pathLst>
              <a:path w="2057400" h="441920">
                <a:moveTo>
                  <a:pt x="220960" y="0"/>
                </a:moveTo>
                <a:lnTo>
                  <a:pt x="1836440" y="0"/>
                </a:lnTo>
                <a:arcTo hR="220960" wR="220960" stAng="16200000" swAng="5400000"/>
                <a:lnTo>
                  <a:pt x="2057400" y="220960"/>
                </a:lnTo>
                <a:arcTo hR="220960" wR="220960" stAng="0" swAng="5400000"/>
                <a:lnTo>
                  <a:pt x="220960" y="441920"/>
                </a:lnTo>
                <a:arcTo hR="220960" wR="220960" stAng="5400000" swAng="5400000"/>
                <a:lnTo>
                  <a:pt x="0" y="220960"/>
                </a:lnTo>
                <a:arcTo hR="220960" wR="220960" stAng="10800000" swAng="5400000"/>
                <a:close/>
              </a:path>
            </a:pathLst>
          </a:custGeom>
          <a:solidFill>
            <a:srgbClr val="5B4BDB"/>
          </a:solidFill>
          <a:ln/>
        </p:spPr>
        <p:txBody>
          <a:bodyPr wrap="square" lIns="86868" tIns="114300" rIns="86868" bIns="889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Add to shopping basket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HOW IT WORKS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Goal to basket in three taps</a:t>
            </a:r>
            <a:endParaRPr lang="en-US" sz="3200" dirty="0"/>
          </a:p>
        </p:txBody>
      </p:sp>
      <p:sp>
        <p:nvSpPr>
          <p:cNvPr id="4" name="Shape 2"/>
          <p:cNvSpPr/>
          <p:nvPr/>
        </p:nvSpPr>
        <p:spPr>
          <a:xfrm>
            <a:off x="1282700" y="1803350"/>
            <a:ext cx="2667000" cy="4038600"/>
          </a:xfrm>
          <a:prstGeom prst="roundRect">
            <a:avLst>
              <a:gd name="adj" fmla="val 13333"/>
            </a:avLst>
          </a:prstGeom>
          <a:solidFill>
            <a:srgbClr val="14102E"/>
          </a:solidFill>
          <a:ln/>
        </p:spPr>
      </p:sp>
      <p:sp>
        <p:nvSpPr>
          <p:cNvPr id="5" name="Shape 3"/>
          <p:cNvSpPr/>
          <p:nvPr/>
        </p:nvSpPr>
        <p:spPr>
          <a:xfrm>
            <a:off x="1371600" y="1892250"/>
            <a:ext cx="2489200" cy="3860800"/>
          </a:xfrm>
          <a:prstGeom prst="roundRect">
            <a:avLst>
              <a:gd name="adj" fmla="val 11224"/>
            </a:avLst>
          </a:prstGeom>
          <a:solidFill>
            <a:srgbClr val="FBFAFE"/>
          </a:solidFill>
          <a:ln/>
        </p:spPr>
      </p:sp>
      <p:sp>
        <p:nvSpPr>
          <p:cNvPr id="6" name="Text 4"/>
          <p:cNvSpPr/>
          <p:nvPr/>
        </p:nvSpPr>
        <p:spPr>
          <a:xfrm>
            <a:off x="1524000" y="2044650"/>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1 · Your profile</a:t>
            </a:r>
            <a:endParaRPr lang="en-US" sz="1200" dirty="0"/>
          </a:p>
        </p:txBody>
      </p:sp>
      <p:sp>
        <p:nvSpPr>
          <p:cNvPr id="7" name="Shape 5"/>
          <p:cNvSpPr/>
          <p:nvPr/>
        </p:nvSpPr>
        <p:spPr>
          <a:xfrm>
            <a:off x="1527175" y="2350046"/>
            <a:ext cx="1054100" cy="603200"/>
          </a:xfrm>
          <a:prstGeom prst="roundRect">
            <a:avLst>
              <a:gd name="adj" fmla="val 14212"/>
            </a:avLst>
          </a:prstGeom>
          <a:solidFill>
            <a:srgbClr val="FDFCFF"/>
          </a:solidFill>
          <a:ln w="6350">
            <a:solidFill>
              <a:srgbClr val="E2DEF3"/>
            </a:solidFill>
            <a:prstDash val="solid"/>
          </a:ln>
        </p:spPr>
      </p:sp>
      <p:sp>
        <p:nvSpPr>
          <p:cNvPr id="8" name="Text 6"/>
          <p:cNvSpPr/>
          <p:nvPr/>
        </p:nvSpPr>
        <p:spPr>
          <a:xfrm>
            <a:off x="1606550" y="2429421"/>
            <a:ext cx="946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Height</a:t>
            </a:r>
            <a:endParaRPr lang="en-US" sz="1200" dirty="0"/>
          </a:p>
        </p:txBody>
      </p:sp>
      <p:sp>
        <p:nvSpPr>
          <p:cNvPr id="9" name="Text 7"/>
          <p:cNvSpPr/>
          <p:nvPr/>
        </p:nvSpPr>
        <p:spPr>
          <a:xfrm>
            <a:off x="1606550" y="2642741"/>
            <a:ext cx="9461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178 cm</a:t>
            </a:r>
            <a:endParaRPr lang="en-US" sz="1300" dirty="0"/>
          </a:p>
        </p:txBody>
      </p:sp>
      <p:sp>
        <p:nvSpPr>
          <p:cNvPr id="10" name="Shape 8"/>
          <p:cNvSpPr/>
          <p:nvPr/>
        </p:nvSpPr>
        <p:spPr>
          <a:xfrm>
            <a:off x="2651125" y="2350046"/>
            <a:ext cx="1054100" cy="603200"/>
          </a:xfrm>
          <a:prstGeom prst="roundRect">
            <a:avLst>
              <a:gd name="adj" fmla="val 14212"/>
            </a:avLst>
          </a:prstGeom>
          <a:solidFill>
            <a:srgbClr val="FDFCFF"/>
          </a:solidFill>
          <a:ln w="6350">
            <a:solidFill>
              <a:srgbClr val="E2DEF3"/>
            </a:solidFill>
            <a:prstDash val="solid"/>
          </a:ln>
        </p:spPr>
      </p:sp>
      <p:sp>
        <p:nvSpPr>
          <p:cNvPr id="11" name="Text 9"/>
          <p:cNvSpPr/>
          <p:nvPr/>
        </p:nvSpPr>
        <p:spPr>
          <a:xfrm>
            <a:off x="2730500" y="2429421"/>
            <a:ext cx="946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Weight</a:t>
            </a:r>
            <a:endParaRPr lang="en-US" sz="1200" dirty="0"/>
          </a:p>
        </p:txBody>
      </p:sp>
      <p:sp>
        <p:nvSpPr>
          <p:cNvPr id="12" name="Text 10"/>
          <p:cNvSpPr/>
          <p:nvPr/>
        </p:nvSpPr>
        <p:spPr>
          <a:xfrm>
            <a:off x="2730500" y="2642741"/>
            <a:ext cx="9461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76 kg</a:t>
            </a:r>
            <a:endParaRPr lang="en-US" sz="1300" dirty="0"/>
          </a:p>
        </p:txBody>
      </p:sp>
      <p:sp>
        <p:nvSpPr>
          <p:cNvPr id="13" name="Shape 11"/>
          <p:cNvSpPr/>
          <p:nvPr/>
        </p:nvSpPr>
        <p:spPr>
          <a:xfrm>
            <a:off x="1527175" y="3023096"/>
            <a:ext cx="1054100" cy="603200"/>
          </a:xfrm>
          <a:prstGeom prst="roundRect">
            <a:avLst>
              <a:gd name="adj" fmla="val 14212"/>
            </a:avLst>
          </a:prstGeom>
          <a:solidFill>
            <a:srgbClr val="FDFCFF"/>
          </a:solidFill>
          <a:ln w="6350">
            <a:solidFill>
              <a:srgbClr val="E2DEF3"/>
            </a:solidFill>
            <a:prstDash val="solid"/>
          </a:ln>
        </p:spPr>
      </p:sp>
      <p:sp>
        <p:nvSpPr>
          <p:cNvPr id="14" name="Text 12"/>
          <p:cNvSpPr/>
          <p:nvPr/>
        </p:nvSpPr>
        <p:spPr>
          <a:xfrm>
            <a:off x="1606550" y="3102471"/>
            <a:ext cx="946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Age</a:t>
            </a:r>
            <a:endParaRPr lang="en-US" sz="1200" dirty="0"/>
          </a:p>
        </p:txBody>
      </p:sp>
      <p:sp>
        <p:nvSpPr>
          <p:cNvPr id="15" name="Text 13"/>
          <p:cNvSpPr/>
          <p:nvPr/>
        </p:nvSpPr>
        <p:spPr>
          <a:xfrm>
            <a:off x="1606550" y="3315791"/>
            <a:ext cx="9461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24</a:t>
            </a:r>
            <a:endParaRPr lang="en-US" sz="1300" dirty="0"/>
          </a:p>
        </p:txBody>
      </p:sp>
      <p:sp>
        <p:nvSpPr>
          <p:cNvPr id="16" name="Shape 14"/>
          <p:cNvSpPr/>
          <p:nvPr/>
        </p:nvSpPr>
        <p:spPr>
          <a:xfrm>
            <a:off x="2651125" y="3023096"/>
            <a:ext cx="1054100" cy="603200"/>
          </a:xfrm>
          <a:prstGeom prst="roundRect">
            <a:avLst>
              <a:gd name="adj" fmla="val 14212"/>
            </a:avLst>
          </a:prstGeom>
          <a:solidFill>
            <a:srgbClr val="FDFCFF"/>
          </a:solidFill>
          <a:ln w="6350">
            <a:solidFill>
              <a:srgbClr val="E2DEF3"/>
            </a:solidFill>
            <a:prstDash val="solid"/>
          </a:ln>
        </p:spPr>
      </p:sp>
      <p:sp>
        <p:nvSpPr>
          <p:cNvPr id="17" name="Text 15"/>
          <p:cNvSpPr/>
          <p:nvPr/>
        </p:nvSpPr>
        <p:spPr>
          <a:xfrm>
            <a:off x="2730500" y="3102471"/>
            <a:ext cx="946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Activity</a:t>
            </a:r>
            <a:endParaRPr lang="en-US" sz="1200" dirty="0"/>
          </a:p>
        </p:txBody>
      </p:sp>
      <p:sp>
        <p:nvSpPr>
          <p:cNvPr id="18" name="Text 16"/>
          <p:cNvSpPr/>
          <p:nvPr/>
        </p:nvSpPr>
        <p:spPr>
          <a:xfrm>
            <a:off x="2730500" y="3315791"/>
            <a:ext cx="9461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Medium</a:t>
            </a:r>
            <a:endParaRPr lang="en-US" sz="1300" dirty="0"/>
          </a:p>
        </p:txBody>
      </p:sp>
      <p:sp>
        <p:nvSpPr>
          <p:cNvPr id="19" name="Shape 17"/>
          <p:cNvSpPr/>
          <p:nvPr/>
        </p:nvSpPr>
        <p:spPr>
          <a:xfrm>
            <a:off x="1524000" y="3718371"/>
            <a:ext cx="2184400" cy="391120"/>
          </a:xfrm>
          <a:prstGeom prst="roundRect">
            <a:avLst>
              <a:gd name="adj" fmla="val 22730"/>
            </a:avLst>
          </a:prstGeom>
          <a:solidFill>
            <a:srgbClr val="EEEBFB"/>
          </a:solidFill>
          <a:ln/>
        </p:spPr>
      </p:sp>
      <p:sp>
        <p:nvSpPr>
          <p:cNvPr id="20" name="Text 18"/>
          <p:cNvSpPr/>
          <p:nvPr/>
        </p:nvSpPr>
        <p:spPr>
          <a:xfrm>
            <a:off x="1612900" y="3807271"/>
            <a:ext cx="3068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BMI</a:t>
            </a:r>
            <a:endParaRPr lang="en-US" sz="1200" dirty="0"/>
          </a:p>
        </p:txBody>
      </p:sp>
      <p:sp>
        <p:nvSpPr>
          <p:cNvPr id="21" name="Text 19"/>
          <p:cNvSpPr/>
          <p:nvPr/>
        </p:nvSpPr>
        <p:spPr>
          <a:xfrm>
            <a:off x="2469237" y="3807271"/>
            <a:ext cx="115026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C1640"/>
                </a:solidFill>
                <a:latin typeface="DM Sans" pitchFamily="34" charset="0"/>
                <a:ea typeface="DM Sans" pitchFamily="34" charset="-122"/>
                <a:cs typeface="DM Sans" pitchFamily="34" charset="-120"/>
              </a:rPr>
              <a:t>24.0 · normal</a:t>
            </a:r>
            <a:endParaRPr lang="en-US" sz="1200" dirty="0"/>
          </a:p>
        </p:txBody>
      </p:sp>
      <p:sp>
        <p:nvSpPr>
          <p:cNvPr id="22" name="Text 20"/>
          <p:cNvSpPr/>
          <p:nvPr/>
        </p:nvSpPr>
        <p:spPr>
          <a:xfrm>
            <a:off x="1524000" y="4198392"/>
            <a:ext cx="828973" cy="327620"/>
          </a:xfrm>
          <a:prstGeom prst="roundRect">
            <a:avLst>
              <a:gd name="adj" fmla="val 50000"/>
            </a:avLst>
          </a:prstGeom>
          <a:solidFill>
            <a:srgbClr val="5B4BDB"/>
          </a:solidFill>
          <a:ln/>
        </p:spPr>
        <p:txBody>
          <a:bodyPr wrap="none" lIns="0" tIns="0" rIns="0" bIns="0" rtlCol="0" anchor="ctr">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Maintain</a:t>
            </a:r>
            <a:endParaRPr lang="en-US" sz="1200" dirty="0"/>
          </a:p>
        </p:txBody>
      </p:sp>
      <p:sp>
        <p:nvSpPr>
          <p:cNvPr id="23" name="Text 21"/>
          <p:cNvSpPr/>
          <p:nvPr/>
        </p:nvSpPr>
        <p:spPr>
          <a:xfrm>
            <a:off x="2406948" y="4201567"/>
            <a:ext cx="514747" cy="321270"/>
          </a:xfrm>
          <a:prstGeom prst="roundRect">
            <a:avLst>
              <a:gd name="adj" fmla="val 50000"/>
            </a:avLst>
          </a:prstGeom>
          <a:noFill/>
          <a:ln w="6350">
            <a:solidFill>
              <a:srgbClr val="CFC9EE"/>
            </a:solidFill>
            <a:prstDash val="solid"/>
          </a:ln>
        </p:spPr>
        <p:txBody>
          <a:bodyPr wrap="none" lIns="0" tIns="0" rIns="0" bIns="0" rtlCol="0" anchor="ctr">
            <a:normAutofit/>
          </a:bodyPr>
          <a:lstStyle/>
          <a:p>
            <a:pPr algn="ctr" indent="0" marL="0">
              <a:lnSpc>
                <a:spcPts val="1680"/>
              </a:lnSpc>
              <a:buNone/>
            </a:pPr>
            <a:r>
              <a:rPr lang="en-US" sz="1200" dirty="0">
                <a:solidFill>
                  <a:srgbClr val="1C1640"/>
                </a:solidFill>
                <a:latin typeface="DM Sans" pitchFamily="34" charset="0"/>
                <a:ea typeface="DM Sans" pitchFamily="34" charset="-122"/>
                <a:cs typeface="DM Sans" pitchFamily="34" charset="-120"/>
              </a:rPr>
              <a:t>Lose</a:t>
            </a:r>
            <a:endParaRPr lang="en-US" sz="1200" dirty="0"/>
          </a:p>
        </p:txBody>
      </p:sp>
      <p:sp>
        <p:nvSpPr>
          <p:cNvPr id="24" name="Text 22"/>
          <p:cNvSpPr/>
          <p:nvPr/>
        </p:nvSpPr>
        <p:spPr>
          <a:xfrm>
            <a:off x="2978845" y="4201567"/>
            <a:ext cx="506661" cy="321270"/>
          </a:xfrm>
          <a:prstGeom prst="roundRect">
            <a:avLst>
              <a:gd name="adj" fmla="val 50000"/>
            </a:avLst>
          </a:prstGeom>
          <a:noFill/>
          <a:ln w="6350">
            <a:solidFill>
              <a:srgbClr val="CFC9EE"/>
            </a:solidFill>
            <a:prstDash val="solid"/>
          </a:ln>
        </p:spPr>
        <p:txBody>
          <a:bodyPr wrap="none" lIns="0" tIns="0" rIns="0" bIns="0" rtlCol="0" anchor="ctr">
            <a:normAutofit/>
          </a:bodyPr>
          <a:lstStyle/>
          <a:p>
            <a:pPr algn="ctr" indent="0" marL="0">
              <a:lnSpc>
                <a:spcPts val="1680"/>
              </a:lnSpc>
              <a:buNone/>
            </a:pPr>
            <a:r>
              <a:rPr lang="en-US" sz="1200" dirty="0">
                <a:solidFill>
                  <a:srgbClr val="1C1640"/>
                </a:solidFill>
                <a:latin typeface="DM Sans" pitchFamily="34" charset="0"/>
                <a:ea typeface="DM Sans" pitchFamily="34" charset="-122"/>
                <a:cs typeface="DM Sans" pitchFamily="34" charset="-120"/>
              </a:rPr>
              <a:t>Gain</a:t>
            </a:r>
            <a:endParaRPr lang="en-US" sz="1200" dirty="0"/>
          </a:p>
        </p:txBody>
      </p:sp>
      <p:sp>
        <p:nvSpPr>
          <p:cNvPr id="25" name="Shape 23"/>
          <p:cNvSpPr/>
          <p:nvPr/>
        </p:nvSpPr>
        <p:spPr>
          <a:xfrm>
            <a:off x="1524000" y="4614912"/>
            <a:ext cx="2184400" cy="736550"/>
          </a:xfrm>
          <a:prstGeom prst="roundRect">
            <a:avLst>
              <a:gd name="adj" fmla="val 13794"/>
            </a:avLst>
          </a:prstGeom>
          <a:solidFill>
            <a:srgbClr val="1C1640"/>
          </a:solidFill>
          <a:ln/>
        </p:spPr>
      </p:sp>
      <p:sp>
        <p:nvSpPr>
          <p:cNvPr id="26" name="Text 24"/>
          <p:cNvSpPr/>
          <p:nvPr/>
        </p:nvSpPr>
        <p:spPr>
          <a:xfrm>
            <a:off x="1625600" y="4716512"/>
            <a:ext cx="204063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DFCFF"/>
                </a:solidFill>
                <a:latin typeface="DM Sans" pitchFamily="34" charset="0"/>
                <a:ea typeface="DM Sans" pitchFamily="34" charset="-122"/>
                <a:cs typeface="DM Sans" pitchFamily="34" charset="-120"/>
              </a:rPr>
              <a:t>2,700 kcal</a:t>
            </a:r>
            <a:endParaRPr lang="en-US" sz="1800" dirty="0"/>
          </a:p>
        </p:txBody>
      </p:sp>
      <p:sp>
        <p:nvSpPr>
          <p:cNvPr id="27" name="Text 25"/>
          <p:cNvSpPr/>
          <p:nvPr/>
        </p:nvSpPr>
        <p:spPr>
          <a:xfrm>
            <a:off x="1625600" y="5036542"/>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per day to maintain</a:t>
            </a:r>
            <a:endParaRPr lang="en-US" sz="1200" dirty="0"/>
          </a:p>
        </p:txBody>
      </p:sp>
      <p:pic>
        <p:nvPicPr>
          <p:cNvPr id="28" name="Image 0" descr="arrow-right">    </p:cNvPr>
          <p:cNvPicPr>
            <a:picLocks noChangeAspect="1"/>
          </p:cNvPicPr>
          <p:nvPr/>
        </p:nvPicPr>
        <p:blipFill>
          <a:blip r:embed="rId1"/>
          <a:srcRect l="0" r="0" t="0" b="0"/>
          <a:stretch/>
        </p:blipFill>
        <p:spPr>
          <a:xfrm>
            <a:off x="4152900" y="3721050"/>
            <a:ext cx="406400" cy="203200"/>
          </a:xfrm>
          <a:prstGeom prst="rect">
            <a:avLst/>
          </a:prstGeom>
        </p:spPr>
      </p:pic>
      <p:sp>
        <p:nvSpPr>
          <p:cNvPr id="29" name="Shape 26"/>
          <p:cNvSpPr/>
          <p:nvPr/>
        </p:nvSpPr>
        <p:spPr>
          <a:xfrm>
            <a:off x="4762500" y="1803350"/>
            <a:ext cx="2667000" cy="4038600"/>
          </a:xfrm>
          <a:prstGeom prst="roundRect">
            <a:avLst>
              <a:gd name="adj" fmla="val 13333"/>
            </a:avLst>
          </a:prstGeom>
          <a:solidFill>
            <a:srgbClr val="14102E"/>
          </a:solidFill>
          <a:ln/>
        </p:spPr>
      </p:sp>
      <p:sp>
        <p:nvSpPr>
          <p:cNvPr id="30" name="Shape 27"/>
          <p:cNvSpPr/>
          <p:nvPr/>
        </p:nvSpPr>
        <p:spPr>
          <a:xfrm>
            <a:off x="4851400" y="1892250"/>
            <a:ext cx="2489200" cy="3860800"/>
          </a:xfrm>
          <a:prstGeom prst="roundRect">
            <a:avLst>
              <a:gd name="adj" fmla="val 11224"/>
            </a:avLst>
          </a:prstGeom>
          <a:solidFill>
            <a:srgbClr val="FBFAFE"/>
          </a:solidFill>
          <a:ln/>
        </p:spPr>
      </p:sp>
      <p:sp>
        <p:nvSpPr>
          <p:cNvPr id="31" name="Text 28"/>
          <p:cNvSpPr/>
          <p:nvPr/>
        </p:nvSpPr>
        <p:spPr>
          <a:xfrm>
            <a:off x="5003800" y="2044650"/>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2 · Your week</a:t>
            </a:r>
            <a:endParaRPr lang="en-US" sz="1200" dirty="0"/>
          </a:p>
        </p:txBody>
      </p:sp>
      <p:sp>
        <p:nvSpPr>
          <p:cNvPr id="32" name="Text 29"/>
          <p:cNvSpPr/>
          <p:nvPr/>
        </p:nvSpPr>
        <p:spPr>
          <a:xfrm>
            <a:off x="4978400" y="2384971"/>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M</a:t>
            </a:r>
            <a:endParaRPr lang="en-US" sz="1200" dirty="0"/>
          </a:p>
        </p:txBody>
      </p:sp>
      <p:sp>
        <p:nvSpPr>
          <p:cNvPr id="33" name="Text 30"/>
          <p:cNvSpPr/>
          <p:nvPr/>
        </p:nvSpPr>
        <p:spPr>
          <a:xfrm>
            <a:off x="5270500" y="2384971"/>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T</a:t>
            </a:r>
            <a:endParaRPr lang="en-US" sz="1200" dirty="0"/>
          </a:p>
        </p:txBody>
      </p:sp>
      <p:sp>
        <p:nvSpPr>
          <p:cNvPr id="34" name="Text 31"/>
          <p:cNvSpPr/>
          <p:nvPr/>
        </p:nvSpPr>
        <p:spPr>
          <a:xfrm>
            <a:off x="5588000" y="2346871"/>
            <a:ext cx="254000" cy="289520"/>
          </a:xfrm>
          <a:custGeom>
            <a:avLst/>
            <a:gdLst/>
            <a:ahLst/>
            <a:cxnLst/>
            <a:rect l="l" t="t" r="r" b="b"/>
            <a:pathLst>
              <a:path w="254000" h="289520">
                <a:moveTo>
                  <a:pt x="127000" y="0"/>
                </a:moveTo>
                <a:lnTo>
                  <a:pt x="127000" y="0"/>
                </a:lnTo>
                <a:arcTo hR="127000" wR="127000" stAng="16200000" swAng="5400000"/>
                <a:lnTo>
                  <a:pt x="254000" y="162520"/>
                </a:lnTo>
                <a:arcTo hR="127000" wR="127000" stAng="0" swAng="5400000"/>
                <a:lnTo>
                  <a:pt x="127000" y="289520"/>
                </a:lnTo>
                <a:arcTo hR="127000" wR="127000" stAng="5400000" swAng="5400000"/>
                <a:lnTo>
                  <a:pt x="0" y="127000"/>
                </a:lnTo>
                <a:arcTo hR="127000" wR="127000" stAng="10800000" swAng="5400000"/>
                <a:close/>
              </a:path>
            </a:pathLst>
          </a:custGeom>
          <a:solidFill>
            <a:srgbClr val="5B4BDB"/>
          </a:solidFill>
          <a:ln/>
        </p:spPr>
        <p:txBody>
          <a:bodyPr wrap="square" lIns="0" tIns="38100" rIns="0" bIns="127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W</a:t>
            </a:r>
            <a:endParaRPr lang="en-US" sz="1200" dirty="0"/>
          </a:p>
        </p:txBody>
      </p:sp>
      <p:sp>
        <p:nvSpPr>
          <p:cNvPr id="35" name="Text 32"/>
          <p:cNvSpPr/>
          <p:nvPr/>
        </p:nvSpPr>
        <p:spPr>
          <a:xfrm>
            <a:off x="5854700" y="2384971"/>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T</a:t>
            </a:r>
            <a:endParaRPr lang="en-US" sz="1200" dirty="0"/>
          </a:p>
        </p:txBody>
      </p:sp>
      <p:sp>
        <p:nvSpPr>
          <p:cNvPr id="36" name="Text 33"/>
          <p:cNvSpPr/>
          <p:nvPr/>
        </p:nvSpPr>
        <p:spPr>
          <a:xfrm>
            <a:off x="6146800" y="2384971"/>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F</a:t>
            </a:r>
            <a:endParaRPr lang="en-US" sz="1200" dirty="0"/>
          </a:p>
        </p:txBody>
      </p:sp>
      <p:sp>
        <p:nvSpPr>
          <p:cNvPr id="37" name="Text 34"/>
          <p:cNvSpPr/>
          <p:nvPr/>
        </p:nvSpPr>
        <p:spPr>
          <a:xfrm>
            <a:off x="6438900" y="2384971"/>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S</a:t>
            </a:r>
            <a:endParaRPr lang="en-US" sz="1200" dirty="0"/>
          </a:p>
        </p:txBody>
      </p:sp>
      <p:sp>
        <p:nvSpPr>
          <p:cNvPr id="38" name="Text 35"/>
          <p:cNvSpPr/>
          <p:nvPr/>
        </p:nvSpPr>
        <p:spPr>
          <a:xfrm>
            <a:off x="6731000" y="2384971"/>
            <a:ext cx="30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5675"/>
                </a:solidFill>
                <a:latin typeface="DM Sans" pitchFamily="34" charset="0"/>
                <a:ea typeface="DM Sans" pitchFamily="34" charset="-122"/>
                <a:cs typeface="DM Sans" pitchFamily="34" charset="-120"/>
              </a:rPr>
              <a:t>S</a:t>
            </a:r>
            <a:endParaRPr lang="en-US" sz="1200" dirty="0"/>
          </a:p>
        </p:txBody>
      </p:sp>
      <p:sp>
        <p:nvSpPr>
          <p:cNvPr id="39" name="Shape 36"/>
          <p:cNvSpPr/>
          <p:nvPr/>
        </p:nvSpPr>
        <p:spPr>
          <a:xfrm>
            <a:off x="5010150" y="2731641"/>
            <a:ext cx="2171700" cy="1348581"/>
          </a:xfrm>
          <a:prstGeom prst="roundRect">
            <a:avLst>
              <a:gd name="adj" fmla="val 8005"/>
            </a:avLst>
          </a:prstGeom>
          <a:solidFill>
            <a:srgbClr val="FDFCFF"/>
          </a:solidFill>
          <a:ln w="12700">
            <a:solidFill>
              <a:srgbClr val="5B4BDB"/>
            </a:solidFill>
            <a:prstDash val="solid"/>
          </a:ln>
        </p:spPr>
      </p:sp>
      <p:sp>
        <p:nvSpPr>
          <p:cNvPr id="40" name="Text 37"/>
          <p:cNvSpPr/>
          <p:nvPr/>
        </p:nvSpPr>
        <p:spPr>
          <a:xfrm>
            <a:off x="5130800" y="2852291"/>
            <a:ext cx="19883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Tonight</a:t>
            </a:r>
            <a:endParaRPr lang="en-US" sz="1200" dirty="0"/>
          </a:p>
        </p:txBody>
      </p:sp>
      <p:sp>
        <p:nvSpPr>
          <p:cNvPr id="41" name="Text 38"/>
          <p:cNvSpPr/>
          <p:nvPr/>
        </p:nvSpPr>
        <p:spPr>
          <a:xfrm>
            <a:off x="5130800" y="3116411"/>
            <a:ext cx="19883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Lentil curry with rice</a:t>
            </a:r>
            <a:endParaRPr lang="en-US" sz="1400" dirty="0"/>
          </a:p>
        </p:txBody>
      </p:sp>
      <p:sp>
        <p:nvSpPr>
          <p:cNvPr id="42" name="Text 39"/>
          <p:cNvSpPr/>
          <p:nvPr/>
        </p:nvSpPr>
        <p:spPr>
          <a:xfrm>
            <a:off x="5130800" y="3380532"/>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520 kcal · €2.10 each</a:t>
            </a:r>
            <a:endParaRPr lang="en-US" sz="1200" dirty="0"/>
          </a:p>
        </p:txBody>
      </p:sp>
      <p:sp>
        <p:nvSpPr>
          <p:cNvPr id="43" name="Text 40"/>
          <p:cNvSpPr/>
          <p:nvPr/>
        </p:nvSpPr>
        <p:spPr>
          <a:xfrm>
            <a:off x="5130800" y="3644652"/>
            <a:ext cx="533350" cy="314920"/>
          </a:xfrm>
          <a:prstGeom prst="roundRect">
            <a:avLst>
              <a:gd name="adj" fmla="val 20164"/>
            </a:avLst>
          </a:prstGeom>
          <a:solidFill>
            <a:srgbClr val="EEEBFB"/>
          </a:solidFill>
          <a:ln/>
        </p:spPr>
        <p:txBody>
          <a:bodyPr wrap="none" lIns="0" tIns="0" rIns="0" bIns="0" rtlCol="0" anchor="ctr">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P 24g</a:t>
            </a:r>
            <a:endParaRPr lang="en-US" sz="1200" dirty="0"/>
          </a:p>
        </p:txBody>
      </p:sp>
      <p:sp>
        <p:nvSpPr>
          <p:cNvPr id="44" name="Text 41"/>
          <p:cNvSpPr/>
          <p:nvPr/>
        </p:nvSpPr>
        <p:spPr>
          <a:xfrm>
            <a:off x="5714950" y="3644652"/>
            <a:ext cx="538807" cy="314920"/>
          </a:xfrm>
          <a:prstGeom prst="roundRect">
            <a:avLst>
              <a:gd name="adj" fmla="val 20164"/>
            </a:avLst>
          </a:prstGeom>
          <a:solidFill>
            <a:srgbClr val="EEEBFB"/>
          </a:solidFill>
          <a:ln/>
        </p:spPr>
        <p:txBody>
          <a:bodyPr wrap="none" lIns="0" tIns="0" rIns="0" bIns="0" rtlCol="0" anchor="ctr">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C 74g</a:t>
            </a:r>
            <a:endParaRPr lang="en-US" sz="1200" dirty="0"/>
          </a:p>
        </p:txBody>
      </p:sp>
      <p:sp>
        <p:nvSpPr>
          <p:cNvPr id="45" name="Text 42"/>
          <p:cNvSpPr/>
          <p:nvPr/>
        </p:nvSpPr>
        <p:spPr>
          <a:xfrm>
            <a:off x="6304558" y="3644652"/>
            <a:ext cx="493018" cy="314920"/>
          </a:xfrm>
          <a:prstGeom prst="roundRect">
            <a:avLst>
              <a:gd name="adj" fmla="val 20164"/>
            </a:avLst>
          </a:prstGeom>
          <a:solidFill>
            <a:srgbClr val="EEEBFB"/>
          </a:solidFill>
          <a:ln/>
        </p:spPr>
        <p:txBody>
          <a:bodyPr wrap="none" lIns="0" tIns="0" rIns="0" bIns="0" rtlCol="0" anchor="ctr">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F 14g</a:t>
            </a:r>
            <a:endParaRPr lang="en-US" sz="1200" dirty="0"/>
          </a:p>
        </p:txBody>
      </p:sp>
      <p:sp>
        <p:nvSpPr>
          <p:cNvPr id="46" name="Shape 43"/>
          <p:cNvSpPr/>
          <p:nvPr/>
        </p:nvSpPr>
        <p:spPr>
          <a:xfrm>
            <a:off x="5006975" y="4178647"/>
            <a:ext cx="2178050" cy="397470"/>
          </a:xfrm>
          <a:prstGeom prst="roundRect">
            <a:avLst>
              <a:gd name="adj" fmla="val 21568"/>
            </a:avLst>
          </a:prstGeom>
          <a:solidFill>
            <a:srgbClr val="FDFCFF"/>
          </a:solidFill>
          <a:ln w="6350">
            <a:solidFill>
              <a:srgbClr val="E2DEF3"/>
            </a:solidFill>
            <a:prstDash val="solid"/>
          </a:ln>
        </p:spPr>
      </p:sp>
      <p:sp>
        <p:nvSpPr>
          <p:cNvPr id="47" name="Text 44"/>
          <p:cNvSpPr/>
          <p:nvPr/>
        </p:nvSpPr>
        <p:spPr>
          <a:xfrm>
            <a:off x="5099050" y="4270722"/>
            <a:ext cx="758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Oat bowl</a:t>
            </a:r>
            <a:endParaRPr lang="en-US" sz="1200" dirty="0"/>
          </a:p>
        </p:txBody>
      </p:sp>
      <p:sp>
        <p:nvSpPr>
          <p:cNvPr id="48" name="Text 45"/>
          <p:cNvSpPr/>
          <p:nvPr/>
        </p:nvSpPr>
        <p:spPr>
          <a:xfrm>
            <a:off x="6420664" y="4270722"/>
            <a:ext cx="6722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410 kcal</a:t>
            </a:r>
            <a:endParaRPr lang="en-US" sz="1200" dirty="0"/>
          </a:p>
        </p:txBody>
      </p:sp>
      <p:sp>
        <p:nvSpPr>
          <p:cNvPr id="49" name="Shape 46"/>
          <p:cNvSpPr/>
          <p:nvPr/>
        </p:nvSpPr>
        <p:spPr>
          <a:xfrm>
            <a:off x="5006975" y="4671368"/>
            <a:ext cx="2178050" cy="397470"/>
          </a:xfrm>
          <a:prstGeom prst="roundRect">
            <a:avLst>
              <a:gd name="adj" fmla="val 21568"/>
            </a:avLst>
          </a:prstGeom>
          <a:solidFill>
            <a:srgbClr val="FDFCFF"/>
          </a:solidFill>
          <a:ln w="6350">
            <a:solidFill>
              <a:srgbClr val="E2DEF3"/>
            </a:solidFill>
            <a:prstDash val="solid"/>
          </a:ln>
        </p:spPr>
      </p:sp>
      <p:sp>
        <p:nvSpPr>
          <p:cNvPr id="50" name="Text 47"/>
          <p:cNvSpPr/>
          <p:nvPr/>
        </p:nvSpPr>
        <p:spPr>
          <a:xfrm>
            <a:off x="5099050" y="4763443"/>
            <a:ext cx="10354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Veggie wrap</a:t>
            </a:r>
            <a:endParaRPr lang="en-US" sz="1200" dirty="0"/>
          </a:p>
        </p:txBody>
      </p:sp>
      <p:sp>
        <p:nvSpPr>
          <p:cNvPr id="51" name="Text 48"/>
          <p:cNvSpPr/>
          <p:nvPr/>
        </p:nvSpPr>
        <p:spPr>
          <a:xfrm>
            <a:off x="6365954" y="4763443"/>
            <a:ext cx="7269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580 kcal</a:t>
            </a:r>
            <a:endParaRPr lang="en-US" sz="1200" dirty="0"/>
          </a:p>
        </p:txBody>
      </p:sp>
      <p:pic>
        <p:nvPicPr>
          <p:cNvPr id="52" name="Image 1" descr="arrow-right">    </p:cNvPr>
          <p:cNvPicPr>
            <a:picLocks noChangeAspect="1"/>
          </p:cNvPicPr>
          <p:nvPr/>
        </p:nvPicPr>
        <p:blipFill>
          <a:blip r:embed="rId2"/>
          <a:srcRect l="0" r="0" t="0" b="0"/>
          <a:stretch/>
        </p:blipFill>
        <p:spPr>
          <a:xfrm>
            <a:off x="7632700" y="3721050"/>
            <a:ext cx="406400" cy="203200"/>
          </a:xfrm>
          <a:prstGeom prst="rect">
            <a:avLst/>
          </a:prstGeom>
        </p:spPr>
      </p:pic>
      <p:sp>
        <p:nvSpPr>
          <p:cNvPr id="53" name="Shape 49"/>
          <p:cNvSpPr/>
          <p:nvPr/>
        </p:nvSpPr>
        <p:spPr>
          <a:xfrm>
            <a:off x="8242300" y="1803350"/>
            <a:ext cx="2667000" cy="4038600"/>
          </a:xfrm>
          <a:prstGeom prst="roundRect">
            <a:avLst>
              <a:gd name="adj" fmla="val 13333"/>
            </a:avLst>
          </a:prstGeom>
          <a:solidFill>
            <a:srgbClr val="14102E"/>
          </a:solidFill>
          <a:ln/>
        </p:spPr>
      </p:sp>
      <p:sp>
        <p:nvSpPr>
          <p:cNvPr id="54" name="Shape 50"/>
          <p:cNvSpPr/>
          <p:nvPr/>
        </p:nvSpPr>
        <p:spPr>
          <a:xfrm>
            <a:off x="8331200" y="1892250"/>
            <a:ext cx="2489200" cy="3860800"/>
          </a:xfrm>
          <a:prstGeom prst="roundRect">
            <a:avLst>
              <a:gd name="adj" fmla="val 11224"/>
            </a:avLst>
          </a:prstGeom>
          <a:solidFill>
            <a:srgbClr val="FBFAFE"/>
          </a:solidFill>
          <a:ln/>
        </p:spPr>
      </p:sp>
      <p:sp>
        <p:nvSpPr>
          <p:cNvPr id="55" name="Text 51"/>
          <p:cNvSpPr/>
          <p:nvPr/>
        </p:nvSpPr>
        <p:spPr>
          <a:xfrm>
            <a:off x="8483600" y="2044650"/>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3 · Your Lidl list</a:t>
            </a:r>
            <a:endParaRPr lang="en-US" sz="1200" dirty="0"/>
          </a:p>
        </p:txBody>
      </p:sp>
      <p:sp>
        <p:nvSpPr>
          <p:cNvPr id="56" name="Text 52"/>
          <p:cNvSpPr/>
          <p:nvPr/>
        </p:nvSpPr>
        <p:spPr>
          <a:xfrm>
            <a:off x="8483600" y="234687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3 dinners for 2 people</a:t>
            </a:r>
            <a:endParaRPr lang="en-US" sz="1200" dirty="0"/>
          </a:p>
        </p:txBody>
      </p:sp>
      <p:sp>
        <p:nvSpPr>
          <p:cNvPr id="57" name="Shape 53"/>
          <p:cNvSpPr/>
          <p:nvPr/>
        </p:nvSpPr>
        <p:spPr>
          <a:xfrm>
            <a:off x="8483600" y="2967186"/>
            <a:ext cx="2184400" cy="0"/>
          </a:xfrm>
          <a:prstGeom prst="line">
            <a:avLst/>
          </a:prstGeom>
          <a:noFill/>
          <a:ln w="6350">
            <a:solidFill>
              <a:srgbClr val="ECE9F6"/>
            </a:solidFill>
            <a:prstDash val="solid"/>
          </a:ln>
        </p:spPr>
      </p:sp>
      <p:pic>
        <p:nvPicPr>
          <p:cNvPr id="58" name="Image 2" descr="CheckCircle">    </p:cNvPr>
          <p:cNvPicPr>
            <a:picLocks noChangeAspect="1"/>
          </p:cNvPicPr>
          <p:nvPr/>
        </p:nvPicPr>
        <p:blipFill>
          <a:blip r:embed="rId3"/>
          <a:srcRect l="0" r="0" t="0" b="0"/>
          <a:stretch/>
        </p:blipFill>
        <p:spPr>
          <a:xfrm>
            <a:off x="8483600" y="2717651"/>
            <a:ext cx="177800" cy="177800"/>
          </a:xfrm>
          <a:prstGeom prst="rect">
            <a:avLst/>
          </a:prstGeom>
        </p:spPr>
      </p:pic>
      <p:sp>
        <p:nvSpPr>
          <p:cNvPr id="59" name="Text 54"/>
          <p:cNvSpPr/>
          <p:nvPr/>
        </p:nvSpPr>
        <p:spPr>
          <a:xfrm>
            <a:off x="8724900" y="2699891"/>
            <a:ext cx="868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Red lentils</a:t>
            </a:r>
            <a:endParaRPr lang="en-US" sz="1200" dirty="0"/>
          </a:p>
        </p:txBody>
      </p:sp>
      <p:sp>
        <p:nvSpPr>
          <p:cNvPr id="60" name="Text 55"/>
          <p:cNvSpPr/>
          <p:nvPr/>
        </p:nvSpPr>
        <p:spPr>
          <a:xfrm>
            <a:off x="10215324" y="2699891"/>
            <a:ext cx="45267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€1.29</a:t>
            </a:r>
            <a:endParaRPr lang="en-US" sz="1200" dirty="0"/>
          </a:p>
        </p:txBody>
      </p:sp>
      <p:sp>
        <p:nvSpPr>
          <p:cNvPr id="61" name="Shape 56"/>
          <p:cNvSpPr/>
          <p:nvPr/>
        </p:nvSpPr>
        <p:spPr>
          <a:xfrm>
            <a:off x="8483600" y="3288457"/>
            <a:ext cx="2184400" cy="0"/>
          </a:xfrm>
          <a:prstGeom prst="line">
            <a:avLst/>
          </a:prstGeom>
          <a:noFill/>
          <a:ln w="6350">
            <a:solidFill>
              <a:srgbClr val="ECE9F6"/>
            </a:solidFill>
            <a:prstDash val="solid"/>
          </a:ln>
        </p:spPr>
      </p:sp>
      <p:pic>
        <p:nvPicPr>
          <p:cNvPr id="62" name="Image 3" descr="CheckCircle">    </p:cNvPr>
          <p:cNvPicPr>
            <a:picLocks noChangeAspect="1"/>
          </p:cNvPicPr>
          <p:nvPr/>
        </p:nvPicPr>
        <p:blipFill>
          <a:blip r:embed="rId4"/>
          <a:srcRect l="0" r="0" t="0" b="0"/>
          <a:stretch/>
        </p:blipFill>
        <p:spPr>
          <a:xfrm>
            <a:off x="8483600" y="3038921"/>
            <a:ext cx="177800" cy="177800"/>
          </a:xfrm>
          <a:prstGeom prst="rect">
            <a:avLst/>
          </a:prstGeom>
        </p:spPr>
      </p:pic>
      <p:sp>
        <p:nvSpPr>
          <p:cNvPr id="63" name="Text 57"/>
          <p:cNvSpPr/>
          <p:nvPr/>
        </p:nvSpPr>
        <p:spPr>
          <a:xfrm>
            <a:off x="8724900" y="3021161"/>
            <a:ext cx="10457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Basmati rice</a:t>
            </a:r>
            <a:endParaRPr lang="en-US" sz="1200" dirty="0"/>
          </a:p>
        </p:txBody>
      </p:sp>
      <p:sp>
        <p:nvSpPr>
          <p:cNvPr id="64" name="Text 58"/>
          <p:cNvSpPr/>
          <p:nvPr/>
        </p:nvSpPr>
        <p:spPr>
          <a:xfrm>
            <a:off x="10209490" y="3021161"/>
            <a:ext cx="4585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€1.99</a:t>
            </a:r>
            <a:endParaRPr lang="en-US" sz="1200" dirty="0"/>
          </a:p>
        </p:txBody>
      </p:sp>
      <p:sp>
        <p:nvSpPr>
          <p:cNvPr id="65" name="Shape 59"/>
          <p:cNvSpPr/>
          <p:nvPr/>
        </p:nvSpPr>
        <p:spPr>
          <a:xfrm>
            <a:off x="8483600" y="3609727"/>
            <a:ext cx="2184400" cy="0"/>
          </a:xfrm>
          <a:prstGeom prst="line">
            <a:avLst/>
          </a:prstGeom>
          <a:noFill/>
          <a:ln w="6350">
            <a:solidFill>
              <a:srgbClr val="ECE9F6"/>
            </a:solidFill>
            <a:prstDash val="solid"/>
          </a:ln>
        </p:spPr>
      </p:sp>
      <p:sp>
        <p:nvSpPr>
          <p:cNvPr id="66" name="Shape 60"/>
          <p:cNvSpPr/>
          <p:nvPr/>
        </p:nvSpPr>
        <p:spPr>
          <a:xfrm>
            <a:off x="8489950" y="3366542"/>
            <a:ext cx="165100" cy="165100"/>
          </a:xfrm>
          <a:prstGeom prst="roundRect">
            <a:avLst>
              <a:gd name="adj" fmla="val 50000"/>
            </a:avLst>
          </a:prstGeom>
          <a:noFill/>
          <a:ln w="12700">
            <a:solidFill>
              <a:srgbClr val="CFC9EE"/>
            </a:solidFill>
            <a:prstDash val="solid"/>
          </a:ln>
        </p:spPr>
      </p:sp>
      <p:sp>
        <p:nvSpPr>
          <p:cNvPr id="67" name="Text 61"/>
          <p:cNvSpPr/>
          <p:nvPr/>
        </p:nvSpPr>
        <p:spPr>
          <a:xfrm>
            <a:off x="8724900" y="3342432"/>
            <a:ext cx="112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Coconut milk</a:t>
            </a:r>
            <a:endParaRPr lang="en-US" sz="1200" dirty="0"/>
          </a:p>
        </p:txBody>
      </p:sp>
      <p:sp>
        <p:nvSpPr>
          <p:cNvPr id="68" name="Text 62"/>
          <p:cNvSpPr/>
          <p:nvPr/>
        </p:nvSpPr>
        <p:spPr>
          <a:xfrm>
            <a:off x="10148768" y="3342432"/>
            <a:ext cx="5192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€0.99</a:t>
            </a:r>
            <a:endParaRPr lang="en-US" sz="1200" dirty="0"/>
          </a:p>
        </p:txBody>
      </p:sp>
      <p:sp>
        <p:nvSpPr>
          <p:cNvPr id="69" name="Shape 63"/>
          <p:cNvSpPr/>
          <p:nvPr/>
        </p:nvSpPr>
        <p:spPr>
          <a:xfrm>
            <a:off x="8483600" y="3930997"/>
            <a:ext cx="2184400" cy="0"/>
          </a:xfrm>
          <a:prstGeom prst="line">
            <a:avLst/>
          </a:prstGeom>
          <a:noFill/>
          <a:ln w="6350">
            <a:solidFill>
              <a:srgbClr val="ECE9F6"/>
            </a:solidFill>
            <a:prstDash val="solid"/>
          </a:ln>
        </p:spPr>
      </p:sp>
      <p:sp>
        <p:nvSpPr>
          <p:cNvPr id="70" name="Shape 64"/>
          <p:cNvSpPr/>
          <p:nvPr/>
        </p:nvSpPr>
        <p:spPr>
          <a:xfrm>
            <a:off x="8489950" y="3687812"/>
            <a:ext cx="165100" cy="165100"/>
          </a:xfrm>
          <a:prstGeom prst="roundRect">
            <a:avLst>
              <a:gd name="adj" fmla="val 50000"/>
            </a:avLst>
          </a:prstGeom>
          <a:noFill/>
          <a:ln w="12700">
            <a:solidFill>
              <a:srgbClr val="CFC9EE"/>
            </a:solidFill>
            <a:prstDash val="solid"/>
          </a:ln>
        </p:spPr>
      </p:sp>
      <p:sp>
        <p:nvSpPr>
          <p:cNvPr id="71" name="Text 65"/>
          <p:cNvSpPr/>
          <p:nvPr/>
        </p:nvSpPr>
        <p:spPr>
          <a:xfrm>
            <a:off x="8724900" y="3663702"/>
            <a:ext cx="6787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Spinach</a:t>
            </a:r>
            <a:endParaRPr lang="en-US" sz="1200" dirty="0"/>
          </a:p>
        </p:txBody>
      </p:sp>
      <p:sp>
        <p:nvSpPr>
          <p:cNvPr id="72" name="Text 66"/>
          <p:cNvSpPr/>
          <p:nvPr/>
        </p:nvSpPr>
        <p:spPr>
          <a:xfrm>
            <a:off x="10207823" y="3663702"/>
            <a:ext cx="46017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€1.49</a:t>
            </a:r>
            <a:endParaRPr lang="en-US" sz="1200" dirty="0"/>
          </a:p>
        </p:txBody>
      </p:sp>
      <p:sp>
        <p:nvSpPr>
          <p:cNvPr id="73" name="Shape 67"/>
          <p:cNvSpPr/>
          <p:nvPr/>
        </p:nvSpPr>
        <p:spPr>
          <a:xfrm>
            <a:off x="8489950" y="4009082"/>
            <a:ext cx="165100" cy="165100"/>
          </a:xfrm>
          <a:prstGeom prst="roundRect">
            <a:avLst>
              <a:gd name="adj" fmla="val 50000"/>
            </a:avLst>
          </a:prstGeom>
          <a:noFill/>
          <a:ln w="12700">
            <a:solidFill>
              <a:srgbClr val="CFC9EE"/>
            </a:solidFill>
            <a:prstDash val="solid"/>
          </a:ln>
        </p:spPr>
      </p:sp>
      <p:sp>
        <p:nvSpPr>
          <p:cNvPr id="74" name="Text 68"/>
          <p:cNvSpPr/>
          <p:nvPr/>
        </p:nvSpPr>
        <p:spPr>
          <a:xfrm>
            <a:off x="8724900" y="3984972"/>
            <a:ext cx="4020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Oats</a:t>
            </a:r>
            <a:endParaRPr lang="en-US" sz="1200" dirty="0"/>
          </a:p>
        </p:txBody>
      </p:sp>
      <p:sp>
        <p:nvSpPr>
          <p:cNvPr id="75" name="Text 69"/>
          <p:cNvSpPr/>
          <p:nvPr/>
        </p:nvSpPr>
        <p:spPr>
          <a:xfrm>
            <a:off x="10170735" y="3984972"/>
            <a:ext cx="4972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675"/>
                </a:solidFill>
                <a:latin typeface="DM Sans" pitchFamily="34" charset="0"/>
                <a:ea typeface="DM Sans" pitchFamily="34" charset="-122"/>
                <a:cs typeface="DM Sans" pitchFamily="34" charset="-120"/>
              </a:rPr>
              <a:t>€0.79</a:t>
            </a:r>
            <a:endParaRPr lang="en-US" sz="1200" dirty="0"/>
          </a:p>
        </p:txBody>
      </p:sp>
      <p:sp>
        <p:nvSpPr>
          <p:cNvPr id="76" name="Text 70"/>
          <p:cNvSpPr/>
          <p:nvPr/>
        </p:nvSpPr>
        <p:spPr>
          <a:xfrm>
            <a:off x="8483600" y="4337993"/>
            <a:ext cx="47214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Total</a:t>
            </a:r>
            <a:endParaRPr lang="en-US" sz="1300" dirty="0"/>
          </a:p>
        </p:txBody>
      </p:sp>
      <p:sp>
        <p:nvSpPr>
          <p:cNvPr id="77" name="Text 71"/>
          <p:cNvSpPr/>
          <p:nvPr/>
        </p:nvSpPr>
        <p:spPr>
          <a:xfrm>
            <a:off x="10096679" y="4337993"/>
            <a:ext cx="571321"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C1640"/>
                </a:solidFill>
                <a:latin typeface="DM Sans" pitchFamily="34" charset="0"/>
                <a:ea typeface="DM Sans" pitchFamily="34" charset="-122"/>
                <a:cs typeface="DM Sans" pitchFamily="34" charset="-120"/>
              </a:rPr>
              <a:t>€6.55</a:t>
            </a:r>
            <a:endParaRPr lang="en-US" sz="1300" dirty="0"/>
          </a:p>
        </p:txBody>
      </p:sp>
      <p:sp>
        <p:nvSpPr>
          <p:cNvPr id="78" name="Text 72"/>
          <p:cNvSpPr/>
          <p:nvPr/>
        </p:nvSpPr>
        <p:spPr>
          <a:xfrm>
            <a:off x="8483600" y="5184130"/>
            <a:ext cx="2184400" cy="416520"/>
          </a:xfrm>
          <a:custGeom>
            <a:avLst/>
            <a:gdLst/>
            <a:ahLst/>
            <a:cxnLst/>
            <a:rect l="l" t="t" r="r" b="b"/>
            <a:pathLst>
              <a:path w="2184400" h="416520">
                <a:moveTo>
                  <a:pt x="208260" y="0"/>
                </a:moveTo>
                <a:lnTo>
                  <a:pt x="1976140" y="0"/>
                </a:lnTo>
                <a:arcTo hR="208260" wR="208260" stAng="16200000" swAng="5400000"/>
                <a:lnTo>
                  <a:pt x="2184400" y="208260"/>
                </a:lnTo>
                <a:arcTo hR="208260" wR="208260" stAng="0" swAng="5400000"/>
                <a:lnTo>
                  <a:pt x="208260" y="416520"/>
                </a:lnTo>
                <a:arcTo hR="208260" wR="208260" stAng="5400000" swAng="5400000"/>
                <a:lnTo>
                  <a:pt x="0" y="208260"/>
                </a:lnTo>
                <a:arcTo hR="208260" wR="208260" stAng="10800000" swAng="5400000"/>
                <a:close/>
              </a:path>
            </a:pathLst>
          </a:custGeom>
          <a:solidFill>
            <a:srgbClr val="5B4BDB"/>
          </a:solidFill>
          <a:ln/>
        </p:spPr>
        <p:txBody>
          <a:bodyPr wrap="square" lIns="71882" tIns="101600" rIns="71882" bIns="762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Add to shopping list</a:t>
            </a:r>
            <a:endParaRPr lang="en-US" sz="1200" dirty="0"/>
          </a:p>
        </p:txBody>
      </p:sp>
      <p:sp>
        <p:nvSpPr>
          <p:cNvPr id="79" name="Text 7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Illustrative mockup. Values and prices are examples.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FUTURE YOU</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See where your basket is taking you</a:t>
            </a:r>
            <a:endParaRPr lang="en-US" sz="3200" dirty="0"/>
          </a:p>
        </p:txBody>
      </p:sp>
      <p:sp>
        <p:nvSpPr>
          <p:cNvPr id="4" name="Shape 2"/>
          <p:cNvSpPr/>
          <p:nvPr/>
        </p:nvSpPr>
        <p:spPr>
          <a:xfrm>
            <a:off x="815975" y="1806525"/>
            <a:ext cx="5175250" cy="3531791"/>
          </a:xfrm>
          <a:prstGeom prst="roundRect">
            <a:avLst>
              <a:gd name="adj" fmla="val 4944"/>
            </a:avLst>
          </a:prstGeom>
          <a:solidFill>
            <a:srgbClr val="FDFCFF"/>
          </a:solidFill>
          <a:ln w="6350">
            <a:solidFill>
              <a:srgbClr val="E2DEF3"/>
            </a:solidFill>
            <a:prstDash val="solid"/>
          </a:ln>
        </p:spPr>
      </p:sp>
      <p:sp>
        <p:nvSpPr>
          <p:cNvPr id="5" name="Text 3"/>
          <p:cNvSpPr/>
          <p:nvPr/>
        </p:nvSpPr>
        <p:spPr>
          <a:xfrm>
            <a:off x="1073150" y="206370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5541C"/>
                </a:solidFill>
                <a:latin typeface="DM Sans" pitchFamily="34" charset="0"/>
                <a:ea typeface="DM Sans" pitchFamily="34" charset="-122"/>
                <a:cs typeface="DM Sans" pitchFamily="34" charset="-120"/>
              </a:rPr>
              <a:t>IN 12 MONTHS, SAME BASKET</a:t>
            </a:r>
            <a:endParaRPr lang="en-US" sz="1200" dirty="0"/>
          </a:p>
        </p:txBody>
      </p:sp>
      <p:pic>
        <p:nvPicPr>
          <p:cNvPr id="6" name="Image 0" descr="Avatar after 12 months on the current basket: heavier, tired posture">    </p:cNvPr>
          <p:cNvPicPr>
            <a:picLocks noChangeAspect="1"/>
          </p:cNvPicPr>
          <p:nvPr/>
        </p:nvPicPr>
        <p:blipFill>
          <a:blip r:embed="rId1"/>
          <a:srcRect l="0" r="0" t="0" b="0"/>
          <a:stretch/>
        </p:blipFill>
        <p:spPr>
          <a:xfrm>
            <a:off x="1073150" y="2429421"/>
            <a:ext cx="1397000" cy="2286000"/>
          </a:xfrm>
          <a:prstGeom prst="rect">
            <a:avLst/>
          </a:prstGeom>
        </p:spPr>
      </p:pic>
      <p:sp>
        <p:nvSpPr>
          <p:cNvPr id="7" name="Text 4"/>
          <p:cNvSpPr/>
          <p:nvPr/>
        </p:nvSpPr>
        <p:spPr>
          <a:xfrm>
            <a:off x="2724150" y="2656830"/>
            <a:ext cx="6218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Energy</a:t>
            </a:r>
            <a:endParaRPr lang="en-US" sz="1200" dirty="0"/>
          </a:p>
        </p:txBody>
      </p:sp>
      <p:sp>
        <p:nvSpPr>
          <p:cNvPr id="8" name="Text 5"/>
          <p:cNvSpPr/>
          <p:nvPr/>
        </p:nvSpPr>
        <p:spPr>
          <a:xfrm>
            <a:off x="5396984" y="2656830"/>
            <a:ext cx="33706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5541C"/>
                </a:solidFill>
                <a:latin typeface="DM Sans" pitchFamily="34" charset="0"/>
                <a:ea typeface="DM Sans" pitchFamily="34" charset="-122"/>
                <a:cs typeface="DM Sans" pitchFamily="34" charset="-120"/>
              </a:rPr>
              <a:t>Low</a:t>
            </a:r>
            <a:endParaRPr lang="en-US" sz="1200" dirty="0"/>
          </a:p>
        </p:txBody>
      </p:sp>
      <p:sp>
        <p:nvSpPr>
          <p:cNvPr id="9" name="Shape 6"/>
          <p:cNvSpPr/>
          <p:nvPr/>
        </p:nvSpPr>
        <p:spPr>
          <a:xfrm>
            <a:off x="2724150" y="2920950"/>
            <a:ext cx="3009900" cy="88900"/>
          </a:xfrm>
          <a:prstGeom prst="roundRect">
            <a:avLst>
              <a:gd name="adj" fmla="val 50000"/>
            </a:avLst>
          </a:prstGeom>
          <a:solidFill>
            <a:srgbClr val="F1E3DA"/>
          </a:solidFill>
          <a:ln/>
        </p:spPr>
      </p:sp>
      <p:sp>
        <p:nvSpPr>
          <p:cNvPr id="10" name="Shape 7"/>
          <p:cNvSpPr/>
          <p:nvPr/>
        </p:nvSpPr>
        <p:spPr>
          <a:xfrm>
            <a:off x="2724150" y="2920950"/>
            <a:ext cx="3009900" cy="88900"/>
          </a:xfrm>
          <a:prstGeom prst="roundRect">
            <a:avLst>
              <a:gd name="adj" fmla="val 50000"/>
            </a:avLst>
          </a:prstGeom>
          <a:solidFill>
            <a:srgbClr val="B5541C"/>
          </a:solidFill>
          <a:ln/>
        </p:spPr>
      </p:sp>
      <p:sp>
        <p:nvSpPr>
          <p:cNvPr id="11" name="Text 8"/>
          <p:cNvSpPr/>
          <p:nvPr/>
        </p:nvSpPr>
        <p:spPr>
          <a:xfrm>
            <a:off x="2724150" y="3149550"/>
            <a:ext cx="11703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Sleep quality</a:t>
            </a:r>
            <a:endParaRPr lang="en-US" sz="1200" dirty="0"/>
          </a:p>
        </p:txBody>
      </p:sp>
      <p:sp>
        <p:nvSpPr>
          <p:cNvPr id="12" name="Text 9"/>
          <p:cNvSpPr/>
          <p:nvPr/>
        </p:nvSpPr>
        <p:spPr>
          <a:xfrm>
            <a:off x="5348704" y="3149550"/>
            <a:ext cx="3853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5541C"/>
                </a:solidFill>
                <a:latin typeface="DM Sans" pitchFamily="34" charset="0"/>
                <a:ea typeface="DM Sans" pitchFamily="34" charset="-122"/>
                <a:cs typeface="DM Sans" pitchFamily="34" charset="-120"/>
              </a:rPr>
              <a:t>Poor</a:t>
            </a:r>
            <a:endParaRPr lang="en-US" sz="1200" dirty="0"/>
          </a:p>
        </p:txBody>
      </p:sp>
      <p:sp>
        <p:nvSpPr>
          <p:cNvPr id="13" name="Shape 10"/>
          <p:cNvSpPr/>
          <p:nvPr/>
        </p:nvSpPr>
        <p:spPr>
          <a:xfrm>
            <a:off x="2724150" y="3413671"/>
            <a:ext cx="3009900" cy="88900"/>
          </a:xfrm>
          <a:prstGeom prst="roundRect">
            <a:avLst>
              <a:gd name="adj" fmla="val 50000"/>
            </a:avLst>
          </a:prstGeom>
          <a:solidFill>
            <a:srgbClr val="F1E3DA"/>
          </a:solidFill>
          <a:ln/>
        </p:spPr>
      </p:sp>
      <p:sp>
        <p:nvSpPr>
          <p:cNvPr id="14" name="Shape 11"/>
          <p:cNvSpPr/>
          <p:nvPr/>
        </p:nvSpPr>
        <p:spPr>
          <a:xfrm>
            <a:off x="2724150" y="3413671"/>
            <a:ext cx="3009900" cy="88900"/>
          </a:xfrm>
          <a:prstGeom prst="roundRect">
            <a:avLst>
              <a:gd name="adj" fmla="val 50000"/>
            </a:avLst>
          </a:prstGeom>
          <a:solidFill>
            <a:srgbClr val="B5541C"/>
          </a:solidFill>
          <a:ln/>
        </p:spPr>
      </p:sp>
      <p:sp>
        <p:nvSpPr>
          <p:cNvPr id="15" name="Text 12"/>
          <p:cNvSpPr/>
          <p:nvPr/>
        </p:nvSpPr>
        <p:spPr>
          <a:xfrm>
            <a:off x="2724150" y="3642271"/>
            <a:ext cx="11163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Heart health</a:t>
            </a:r>
            <a:endParaRPr lang="en-US" sz="1200" dirty="0"/>
          </a:p>
        </p:txBody>
      </p:sp>
      <p:sp>
        <p:nvSpPr>
          <p:cNvPr id="16" name="Text 13"/>
          <p:cNvSpPr/>
          <p:nvPr/>
        </p:nvSpPr>
        <p:spPr>
          <a:xfrm>
            <a:off x="5204400" y="3642271"/>
            <a:ext cx="5296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5541C"/>
                </a:solidFill>
                <a:latin typeface="DM Sans" pitchFamily="34" charset="0"/>
                <a:ea typeface="DM Sans" pitchFamily="34" charset="-122"/>
                <a:cs typeface="DM Sans" pitchFamily="34" charset="-120"/>
              </a:rPr>
              <a:t>At risk</a:t>
            </a:r>
            <a:endParaRPr lang="en-US" sz="1200" dirty="0"/>
          </a:p>
        </p:txBody>
      </p:sp>
      <p:sp>
        <p:nvSpPr>
          <p:cNvPr id="17" name="Shape 14"/>
          <p:cNvSpPr/>
          <p:nvPr/>
        </p:nvSpPr>
        <p:spPr>
          <a:xfrm>
            <a:off x="2724150" y="3906391"/>
            <a:ext cx="3009900" cy="88900"/>
          </a:xfrm>
          <a:prstGeom prst="roundRect">
            <a:avLst>
              <a:gd name="adj" fmla="val 50000"/>
            </a:avLst>
          </a:prstGeom>
          <a:solidFill>
            <a:srgbClr val="F1E3DA"/>
          </a:solidFill>
          <a:ln/>
        </p:spPr>
      </p:sp>
      <p:sp>
        <p:nvSpPr>
          <p:cNvPr id="18" name="Shape 15"/>
          <p:cNvSpPr/>
          <p:nvPr/>
        </p:nvSpPr>
        <p:spPr>
          <a:xfrm>
            <a:off x="2724150" y="3906391"/>
            <a:ext cx="3009900" cy="88900"/>
          </a:xfrm>
          <a:prstGeom prst="roundRect">
            <a:avLst>
              <a:gd name="adj" fmla="val 50000"/>
            </a:avLst>
          </a:prstGeom>
          <a:solidFill>
            <a:srgbClr val="B5541C"/>
          </a:solidFill>
          <a:ln/>
        </p:spPr>
      </p:sp>
      <p:sp>
        <p:nvSpPr>
          <p:cNvPr id="19" name="Text 16"/>
          <p:cNvSpPr/>
          <p:nvPr/>
        </p:nvSpPr>
        <p:spPr>
          <a:xfrm>
            <a:off x="2724150" y="4134991"/>
            <a:ext cx="6483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Fitness</a:t>
            </a:r>
            <a:endParaRPr lang="en-US" sz="1200" dirty="0"/>
          </a:p>
        </p:txBody>
      </p:sp>
      <p:sp>
        <p:nvSpPr>
          <p:cNvPr id="20" name="Text 17"/>
          <p:cNvSpPr/>
          <p:nvPr/>
        </p:nvSpPr>
        <p:spPr>
          <a:xfrm>
            <a:off x="5396984" y="4134991"/>
            <a:ext cx="33706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5541C"/>
                </a:solidFill>
                <a:latin typeface="DM Sans" pitchFamily="34" charset="0"/>
                <a:ea typeface="DM Sans" pitchFamily="34" charset="-122"/>
                <a:cs typeface="DM Sans" pitchFamily="34" charset="-120"/>
              </a:rPr>
              <a:t>Low</a:t>
            </a:r>
            <a:endParaRPr lang="en-US" sz="1200" dirty="0"/>
          </a:p>
        </p:txBody>
      </p:sp>
      <p:sp>
        <p:nvSpPr>
          <p:cNvPr id="21" name="Shape 18"/>
          <p:cNvSpPr/>
          <p:nvPr/>
        </p:nvSpPr>
        <p:spPr>
          <a:xfrm>
            <a:off x="2724150" y="4399111"/>
            <a:ext cx="3009900" cy="88900"/>
          </a:xfrm>
          <a:prstGeom prst="roundRect">
            <a:avLst>
              <a:gd name="adj" fmla="val 50000"/>
            </a:avLst>
          </a:prstGeom>
          <a:solidFill>
            <a:srgbClr val="F1E3DA"/>
          </a:solidFill>
          <a:ln/>
        </p:spPr>
      </p:sp>
      <p:sp>
        <p:nvSpPr>
          <p:cNvPr id="22" name="Shape 19"/>
          <p:cNvSpPr/>
          <p:nvPr/>
        </p:nvSpPr>
        <p:spPr>
          <a:xfrm>
            <a:off x="2724150" y="4399111"/>
            <a:ext cx="3009900" cy="88900"/>
          </a:xfrm>
          <a:prstGeom prst="roundRect">
            <a:avLst>
              <a:gd name="adj" fmla="val 50000"/>
            </a:avLst>
          </a:prstGeom>
          <a:solidFill>
            <a:srgbClr val="B5541C"/>
          </a:solidFill>
          <a:ln/>
        </p:spPr>
      </p:sp>
      <p:sp>
        <p:nvSpPr>
          <p:cNvPr id="23" name="Text 20"/>
          <p:cNvSpPr/>
          <p:nvPr/>
        </p:nvSpPr>
        <p:spPr>
          <a:xfrm>
            <a:off x="1073150" y="486782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Basket today: soft drinks, sweets, ready meals</a:t>
            </a:r>
            <a:endParaRPr lang="en-US" sz="1200" dirty="0"/>
          </a:p>
        </p:txBody>
      </p:sp>
      <p:sp>
        <p:nvSpPr>
          <p:cNvPr id="24" name="Shape 21"/>
          <p:cNvSpPr/>
          <p:nvPr/>
        </p:nvSpPr>
        <p:spPr>
          <a:xfrm>
            <a:off x="6200775" y="1806525"/>
            <a:ext cx="5175250" cy="3531791"/>
          </a:xfrm>
          <a:prstGeom prst="roundRect">
            <a:avLst>
              <a:gd name="adj" fmla="val 4944"/>
            </a:avLst>
          </a:prstGeom>
          <a:solidFill>
            <a:srgbClr val="FDFCFF"/>
          </a:solidFill>
          <a:ln w="6350">
            <a:solidFill>
              <a:srgbClr val="E2DEF3"/>
            </a:solidFill>
            <a:prstDash val="solid"/>
          </a:ln>
        </p:spPr>
      </p:sp>
      <p:sp>
        <p:nvSpPr>
          <p:cNvPr id="25" name="Text 22"/>
          <p:cNvSpPr/>
          <p:nvPr/>
        </p:nvSpPr>
        <p:spPr>
          <a:xfrm>
            <a:off x="6457950" y="206370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7A52"/>
                </a:solidFill>
                <a:latin typeface="DM Sans" pitchFamily="34" charset="0"/>
                <a:ea typeface="DM Sans" pitchFamily="34" charset="-122"/>
                <a:cs typeface="DM Sans" pitchFamily="34" charset="-120"/>
              </a:rPr>
              <a:t>IN 12 MONTHS, WITH SWAPS</a:t>
            </a:r>
            <a:endParaRPr lang="en-US" sz="1200" dirty="0"/>
          </a:p>
        </p:txBody>
      </p:sp>
      <p:pic>
        <p:nvPicPr>
          <p:cNvPr id="26" name="Image 1" descr="Avatar after 12 months with healthier swaps: upright, energetic, arms raised">    </p:cNvPr>
          <p:cNvPicPr>
            <a:picLocks noChangeAspect="1"/>
          </p:cNvPicPr>
          <p:nvPr/>
        </p:nvPicPr>
        <p:blipFill>
          <a:blip r:embed="rId2"/>
          <a:srcRect l="0" r="0" t="0" b="0"/>
          <a:stretch/>
        </p:blipFill>
        <p:spPr>
          <a:xfrm>
            <a:off x="6457950" y="2429421"/>
            <a:ext cx="1397000" cy="2286000"/>
          </a:xfrm>
          <a:prstGeom prst="rect">
            <a:avLst/>
          </a:prstGeom>
        </p:spPr>
      </p:pic>
      <p:sp>
        <p:nvSpPr>
          <p:cNvPr id="27" name="Text 23"/>
          <p:cNvSpPr/>
          <p:nvPr/>
        </p:nvSpPr>
        <p:spPr>
          <a:xfrm>
            <a:off x="8108950" y="2656830"/>
            <a:ext cx="6218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Energy</a:t>
            </a:r>
            <a:endParaRPr lang="en-US" sz="1200" dirty="0"/>
          </a:p>
        </p:txBody>
      </p:sp>
      <p:sp>
        <p:nvSpPr>
          <p:cNvPr id="28" name="Text 24"/>
          <p:cNvSpPr/>
          <p:nvPr/>
        </p:nvSpPr>
        <p:spPr>
          <a:xfrm>
            <a:off x="10743208" y="2656830"/>
            <a:ext cx="37564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7A52"/>
                </a:solidFill>
                <a:latin typeface="DM Sans" pitchFamily="34" charset="0"/>
                <a:ea typeface="DM Sans" pitchFamily="34" charset="-122"/>
                <a:cs typeface="DM Sans" pitchFamily="34" charset="-120"/>
              </a:rPr>
              <a:t>High</a:t>
            </a:r>
            <a:endParaRPr lang="en-US" sz="1200" dirty="0"/>
          </a:p>
        </p:txBody>
      </p:sp>
      <p:sp>
        <p:nvSpPr>
          <p:cNvPr id="29" name="Shape 25"/>
          <p:cNvSpPr/>
          <p:nvPr/>
        </p:nvSpPr>
        <p:spPr>
          <a:xfrm>
            <a:off x="8108950" y="2920950"/>
            <a:ext cx="3009900" cy="88900"/>
          </a:xfrm>
          <a:prstGeom prst="roundRect">
            <a:avLst>
              <a:gd name="adj" fmla="val 50000"/>
            </a:avLst>
          </a:prstGeom>
          <a:solidFill>
            <a:srgbClr val="D5EDDF"/>
          </a:solidFill>
          <a:ln/>
        </p:spPr>
      </p:sp>
      <p:sp>
        <p:nvSpPr>
          <p:cNvPr id="30" name="Shape 26"/>
          <p:cNvSpPr/>
          <p:nvPr/>
        </p:nvSpPr>
        <p:spPr>
          <a:xfrm>
            <a:off x="8108950" y="2920950"/>
            <a:ext cx="3009900" cy="88900"/>
          </a:xfrm>
          <a:prstGeom prst="roundRect">
            <a:avLst>
              <a:gd name="adj" fmla="val 50000"/>
            </a:avLst>
          </a:prstGeom>
          <a:solidFill>
            <a:srgbClr val="1F7A52"/>
          </a:solidFill>
          <a:ln/>
        </p:spPr>
      </p:sp>
      <p:sp>
        <p:nvSpPr>
          <p:cNvPr id="31" name="Text 27"/>
          <p:cNvSpPr/>
          <p:nvPr/>
        </p:nvSpPr>
        <p:spPr>
          <a:xfrm>
            <a:off x="8108950" y="3149550"/>
            <a:ext cx="11703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Sleep quality</a:t>
            </a:r>
            <a:endParaRPr lang="en-US" sz="1200" dirty="0"/>
          </a:p>
        </p:txBody>
      </p:sp>
      <p:sp>
        <p:nvSpPr>
          <p:cNvPr id="32" name="Text 28"/>
          <p:cNvSpPr/>
          <p:nvPr/>
        </p:nvSpPr>
        <p:spPr>
          <a:xfrm>
            <a:off x="10648613" y="3149550"/>
            <a:ext cx="4702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7A52"/>
                </a:solidFill>
                <a:latin typeface="DM Sans" pitchFamily="34" charset="0"/>
                <a:ea typeface="DM Sans" pitchFamily="34" charset="-122"/>
                <a:cs typeface="DM Sans" pitchFamily="34" charset="-120"/>
              </a:rPr>
              <a:t>Good</a:t>
            </a:r>
            <a:endParaRPr lang="en-US" sz="1200" dirty="0"/>
          </a:p>
        </p:txBody>
      </p:sp>
      <p:sp>
        <p:nvSpPr>
          <p:cNvPr id="33" name="Shape 29"/>
          <p:cNvSpPr/>
          <p:nvPr/>
        </p:nvSpPr>
        <p:spPr>
          <a:xfrm>
            <a:off x="8108950" y="3413671"/>
            <a:ext cx="3009900" cy="88900"/>
          </a:xfrm>
          <a:prstGeom prst="roundRect">
            <a:avLst>
              <a:gd name="adj" fmla="val 50000"/>
            </a:avLst>
          </a:prstGeom>
          <a:solidFill>
            <a:srgbClr val="D5EDDF"/>
          </a:solidFill>
          <a:ln/>
        </p:spPr>
      </p:sp>
      <p:sp>
        <p:nvSpPr>
          <p:cNvPr id="34" name="Shape 30"/>
          <p:cNvSpPr/>
          <p:nvPr/>
        </p:nvSpPr>
        <p:spPr>
          <a:xfrm>
            <a:off x="8108950" y="3413671"/>
            <a:ext cx="3009900" cy="88900"/>
          </a:xfrm>
          <a:prstGeom prst="roundRect">
            <a:avLst>
              <a:gd name="adj" fmla="val 50000"/>
            </a:avLst>
          </a:prstGeom>
          <a:solidFill>
            <a:srgbClr val="1F7A52"/>
          </a:solidFill>
          <a:ln/>
        </p:spPr>
      </p:sp>
      <p:sp>
        <p:nvSpPr>
          <p:cNvPr id="35" name="Text 31"/>
          <p:cNvSpPr/>
          <p:nvPr/>
        </p:nvSpPr>
        <p:spPr>
          <a:xfrm>
            <a:off x="8108950" y="3642271"/>
            <a:ext cx="11163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Heart health</a:t>
            </a:r>
            <a:endParaRPr lang="en-US" sz="1200" dirty="0"/>
          </a:p>
        </p:txBody>
      </p:sp>
      <p:sp>
        <p:nvSpPr>
          <p:cNvPr id="36" name="Text 32"/>
          <p:cNvSpPr/>
          <p:nvPr/>
        </p:nvSpPr>
        <p:spPr>
          <a:xfrm>
            <a:off x="10648613" y="3642271"/>
            <a:ext cx="4702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7A52"/>
                </a:solidFill>
                <a:latin typeface="DM Sans" pitchFamily="34" charset="0"/>
                <a:ea typeface="DM Sans" pitchFamily="34" charset="-122"/>
                <a:cs typeface="DM Sans" pitchFamily="34" charset="-120"/>
              </a:rPr>
              <a:t>Good</a:t>
            </a:r>
            <a:endParaRPr lang="en-US" sz="1200" dirty="0"/>
          </a:p>
        </p:txBody>
      </p:sp>
      <p:sp>
        <p:nvSpPr>
          <p:cNvPr id="37" name="Shape 33"/>
          <p:cNvSpPr/>
          <p:nvPr/>
        </p:nvSpPr>
        <p:spPr>
          <a:xfrm>
            <a:off x="8108950" y="3906391"/>
            <a:ext cx="3009900" cy="88900"/>
          </a:xfrm>
          <a:prstGeom prst="roundRect">
            <a:avLst>
              <a:gd name="adj" fmla="val 50000"/>
            </a:avLst>
          </a:prstGeom>
          <a:solidFill>
            <a:srgbClr val="D5EDDF"/>
          </a:solidFill>
          <a:ln/>
        </p:spPr>
      </p:sp>
      <p:sp>
        <p:nvSpPr>
          <p:cNvPr id="38" name="Shape 34"/>
          <p:cNvSpPr/>
          <p:nvPr/>
        </p:nvSpPr>
        <p:spPr>
          <a:xfrm>
            <a:off x="8108950" y="3906391"/>
            <a:ext cx="3009900" cy="88900"/>
          </a:xfrm>
          <a:prstGeom prst="roundRect">
            <a:avLst>
              <a:gd name="adj" fmla="val 50000"/>
            </a:avLst>
          </a:prstGeom>
          <a:solidFill>
            <a:srgbClr val="1F7A52"/>
          </a:solidFill>
          <a:ln/>
        </p:spPr>
      </p:sp>
      <p:sp>
        <p:nvSpPr>
          <p:cNvPr id="39" name="Text 35"/>
          <p:cNvSpPr/>
          <p:nvPr/>
        </p:nvSpPr>
        <p:spPr>
          <a:xfrm>
            <a:off x="8108950" y="4134991"/>
            <a:ext cx="6483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Fitness</a:t>
            </a:r>
            <a:endParaRPr lang="en-US" sz="1200" dirty="0"/>
          </a:p>
        </p:txBody>
      </p:sp>
      <p:sp>
        <p:nvSpPr>
          <p:cNvPr id="40" name="Text 36"/>
          <p:cNvSpPr/>
          <p:nvPr/>
        </p:nvSpPr>
        <p:spPr>
          <a:xfrm>
            <a:off x="10623610" y="4134991"/>
            <a:ext cx="4952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7A52"/>
                </a:solidFill>
                <a:latin typeface="DM Sans" pitchFamily="34" charset="0"/>
                <a:ea typeface="DM Sans" pitchFamily="34" charset="-122"/>
                <a:cs typeface="DM Sans" pitchFamily="34" charset="-120"/>
              </a:rPr>
              <a:t>Rising</a:t>
            </a:r>
            <a:endParaRPr lang="en-US" sz="1200" dirty="0"/>
          </a:p>
        </p:txBody>
      </p:sp>
      <p:sp>
        <p:nvSpPr>
          <p:cNvPr id="41" name="Shape 37"/>
          <p:cNvSpPr/>
          <p:nvPr/>
        </p:nvSpPr>
        <p:spPr>
          <a:xfrm>
            <a:off x="8108950" y="4399111"/>
            <a:ext cx="3009900" cy="88900"/>
          </a:xfrm>
          <a:prstGeom prst="roundRect">
            <a:avLst>
              <a:gd name="adj" fmla="val 50000"/>
            </a:avLst>
          </a:prstGeom>
          <a:solidFill>
            <a:srgbClr val="D5EDDF"/>
          </a:solidFill>
          <a:ln/>
        </p:spPr>
      </p:sp>
      <p:sp>
        <p:nvSpPr>
          <p:cNvPr id="42" name="Shape 38"/>
          <p:cNvSpPr/>
          <p:nvPr/>
        </p:nvSpPr>
        <p:spPr>
          <a:xfrm>
            <a:off x="8108950" y="4399111"/>
            <a:ext cx="3009900" cy="88900"/>
          </a:xfrm>
          <a:prstGeom prst="roundRect">
            <a:avLst>
              <a:gd name="adj" fmla="val 50000"/>
            </a:avLst>
          </a:prstGeom>
          <a:solidFill>
            <a:srgbClr val="1F7A52"/>
          </a:solidFill>
          <a:ln/>
        </p:spPr>
      </p:sp>
      <p:sp>
        <p:nvSpPr>
          <p:cNvPr id="43" name="Text 39"/>
          <p:cNvSpPr/>
          <p:nvPr/>
        </p:nvSpPr>
        <p:spPr>
          <a:xfrm>
            <a:off x="6457950" y="486782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With swaps: fruit, vegetables, whole grains</a:t>
            </a:r>
            <a:endParaRPr lang="en-US" sz="1200" dirty="0"/>
          </a:p>
        </p:txBody>
      </p:sp>
      <p:sp>
        <p:nvSpPr>
          <p:cNvPr id="44" name="Text 4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Illustrative. The avatar is opt-in and built from the user’s own photo and purchase history.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640"/>
        </a:solidFill>
      </p:bgPr>
    </p:bg>
    <p:spTree>
      <p:nvGrpSpPr>
        <p:cNvPr id="1" name=""/>
        <p:cNvGrpSpPr/>
        <p:nvPr/>
      </p:nvGrpSpPr>
      <p:grpSpPr>
        <a:xfrm>
          <a:off x="0" y="0"/>
          <a:ext cx="0" cy="0"/>
          <a:chOff x="0" y="0"/>
          <a:chExt cx="0" cy="0"/>
        </a:xfrm>
      </p:grpSpPr>
      <p:sp>
        <p:nvSpPr>
          <p:cNvPr id="2" name="Text 0"/>
          <p:cNvSpPr/>
          <p:nvPr/>
        </p:nvSpPr>
        <p:spPr>
          <a:xfrm>
            <a:off x="812800" y="1275259"/>
            <a:ext cx="76393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BFF"/>
                </a:solidFill>
                <a:latin typeface="DM Sans" pitchFamily="34" charset="0"/>
                <a:ea typeface="DM Sans" pitchFamily="34" charset="-122"/>
                <a:cs typeface="DM Sans" pitchFamily="34" charset="-120"/>
              </a:rPr>
              <a:t>BET ON YOURSELF</a:t>
            </a:r>
            <a:endParaRPr lang="en-US" sz="1200" dirty="0"/>
          </a:p>
        </p:txBody>
      </p:sp>
      <p:sp>
        <p:nvSpPr>
          <p:cNvPr id="3" name="Text 1"/>
          <p:cNvSpPr/>
          <p:nvPr>
            <p:ph type="title"/>
          </p:nvPr>
        </p:nvSpPr>
        <p:spPr>
          <a:xfrm>
            <a:off x="812800" y="1564779"/>
            <a:ext cx="7639304"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FB"/>
                </a:solidFill>
                <a:latin typeface="DM Sans" pitchFamily="34" charset="0"/>
                <a:ea typeface="DM Sans" pitchFamily="34" charset="-122"/>
                <a:cs typeface="DM Sans" pitchFamily="34" charset="-120"/>
              </a:rPr>
              <a:t>Put €10 on your own health goal</a:t>
            </a:r>
            <a:endParaRPr lang="en-US" sz="3200" dirty="0"/>
          </a:p>
        </p:txBody>
      </p:sp>
      <p:sp>
        <p:nvSpPr>
          <p:cNvPr id="4" name="Text 2"/>
          <p:cNvSpPr/>
          <p:nvPr/>
        </p:nvSpPr>
        <p:spPr>
          <a:xfrm>
            <a:off x="812800" y="2265809"/>
            <a:ext cx="304800" cy="314920"/>
          </a:xfrm>
          <a:custGeom>
            <a:avLst/>
            <a:gdLst/>
            <a:ahLst/>
            <a:cxnLst/>
            <a:rect l="l" t="t" r="r" b="b"/>
            <a:pathLst>
              <a:path w="304800" h="314920">
                <a:moveTo>
                  <a:pt x="152400" y="0"/>
                </a:moveTo>
                <a:lnTo>
                  <a:pt x="152400" y="0"/>
                </a:lnTo>
                <a:arcTo hR="152400" wR="152400" stAng="16200000" swAng="5400000"/>
                <a:lnTo>
                  <a:pt x="304800" y="162520"/>
                </a:lnTo>
                <a:arcTo hR="152400" wR="152400" stAng="0" swAng="5400000"/>
                <a:lnTo>
                  <a:pt x="152400" y="314920"/>
                </a:lnTo>
                <a:arcTo hR="152400" wR="152400" stAng="5400000" swAng="5400000"/>
                <a:lnTo>
                  <a:pt x="0" y="152400"/>
                </a:lnTo>
                <a:arcTo hR="152400" wR="152400" stAng="10800000" swAng="5400000"/>
                <a:close/>
              </a:path>
            </a:pathLst>
          </a:custGeom>
          <a:solidFill>
            <a:srgbClr val="5B4BDB"/>
          </a:solidFill>
          <a:ln/>
        </p:spPr>
        <p:txBody>
          <a:bodyPr wrap="square" lIns="0" tIns="50800" rIns="0" bIns="254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1</a:t>
            </a:r>
            <a:endParaRPr lang="en-US" sz="1200" dirty="0"/>
          </a:p>
        </p:txBody>
      </p:sp>
      <p:sp>
        <p:nvSpPr>
          <p:cNvPr id="5" name="Text 3"/>
          <p:cNvSpPr/>
          <p:nvPr/>
        </p:nvSpPr>
        <p:spPr>
          <a:xfrm>
            <a:off x="1244600" y="2265809"/>
            <a:ext cx="375480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FB"/>
                </a:solidFill>
                <a:latin typeface="DM Sans" pitchFamily="34" charset="0"/>
                <a:ea typeface="DM Sans" pitchFamily="34" charset="-122"/>
                <a:cs typeface="DM Sans" pitchFamily="34" charset="-120"/>
              </a:rPr>
              <a:t>Pick a goal</a:t>
            </a:r>
            <a:endParaRPr lang="en-US" sz="1400" dirty="0"/>
          </a:p>
        </p:txBody>
      </p:sp>
      <p:sp>
        <p:nvSpPr>
          <p:cNvPr id="6" name="Text 4"/>
          <p:cNvSpPr/>
          <p:nvPr/>
        </p:nvSpPr>
        <p:spPr>
          <a:xfrm>
            <a:off x="1244600" y="2504529"/>
            <a:ext cx="4374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For example: half your basket is fruit and vegetables</a:t>
            </a:r>
            <a:endParaRPr lang="en-US" sz="1200" dirty="0"/>
          </a:p>
        </p:txBody>
      </p:sp>
      <p:sp>
        <p:nvSpPr>
          <p:cNvPr id="7" name="Text 5"/>
          <p:cNvSpPr/>
          <p:nvPr/>
        </p:nvSpPr>
        <p:spPr>
          <a:xfrm>
            <a:off x="812800" y="2844850"/>
            <a:ext cx="304800" cy="314920"/>
          </a:xfrm>
          <a:custGeom>
            <a:avLst/>
            <a:gdLst/>
            <a:ahLst/>
            <a:cxnLst/>
            <a:rect l="l" t="t" r="r" b="b"/>
            <a:pathLst>
              <a:path w="304800" h="314920">
                <a:moveTo>
                  <a:pt x="152400" y="0"/>
                </a:moveTo>
                <a:lnTo>
                  <a:pt x="152400" y="0"/>
                </a:lnTo>
                <a:arcTo hR="152400" wR="152400" stAng="16200000" swAng="5400000"/>
                <a:lnTo>
                  <a:pt x="304800" y="162520"/>
                </a:lnTo>
                <a:arcTo hR="152400" wR="152400" stAng="0" swAng="5400000"/>
                <a:lnTo>
                  <a:pt x="152400" y="314920"/>
                </a:lnTo>
                <a:arcTo hR="152400" wR="152400" stAng="5400000" swAng="5400000"/>
                <a:lnTo>
                  <a:pt x="0" y="152400"/>
                </a:lnTo>
                <a:arcTo hR="152400" wR="152400" stAng="10800000" swAng="5400000"/>
                <a:close/>
              </a:path>
            </a:pathLst>
          </a:custGeom>
          <a:solidFill>
            <a:srgbClr val="5B4BDB"/>
          </a:solidFill>
          <a:ln/>
        </p:spPr>
        <p:txBody>
          <a:bodyPr wrap="square" lIns="0" tIns="50800" rIns="0" bIns="254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2</a:t>
            </a:r>
            <a:endParaRPr lang="en-US" sz="1200" dirty="0"/>
          </a:p>
        </p:txBody>
      </p:sp>
      <p:sp>
        <p:nvSpPr>
          <p:cNvPr id="8" name="Text 6"/>
          <p:cNvSpPr/>
          <p:nvPr/>
        </p:nvSpPr>
        <p:spPr>
          <a:xfrm>
            <a:off x="1244600" y="2844850"/>
            <a:ext cx="33676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FB"/>
                </a:solidFill>
                <a:latin typeface="DM Sans" pitchFamily="34" charset="0"/>
                <a:ea typeface="DM Sans" pitchFamily="34" charset="-122"/>
                <a:cs typeface="DM Sans" pitchFamily="34" charset="-120"/>
              </a:rPr>
              <a:t>Stake €10 and shop as usual</a:t>
            </a:r>
            <a:endParaRPr lang="en-US" sz="1400" dirty="0"/>
          </a:p>
        </p:txBody>
      </p:sp>
      <p:sp>
        <p:nvSpPr>
          <p:cNvPr id="9" name="Text 7"/>
          <p:cNvSpPr/>
          <p:nvPr/>
        </p:nvSpPr>
        <p:spPr>
          <a:xfrm>
            <a:off x="1244600" y="3083570"/>
            <a:ext cx="39235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The Lidl app tracks every basket automatically</a:t>
            </a:r>
            <a:endParaRPr lang="en-US" sz="1200" dirty="0"/>
          </a:p>
        </p:txBody>
      </p:sp>
      <p:sp>
        <p:nvSpPr>
          <p:cNvPr id="10" name="Text 8"/>
          <p:cNvSpPr/>
          <p:nvPr/>
        </p:nvSpPr>
        <p:spPr>
          <a:xfrm>
            <a:off x="812800" y="3423890"/>
            <a:ext cx="304800" cy="314920"/>
          </a:xfrm>
          <a:custGeom>
            <a:avLst/>
            <a:gdLst/>
            <a:ahLst/>
            <a:cxnLst/>
            <a:rect l="l" t="t" r="r" b="b"/>
            <a:pathLst>
              <a:path w="304800" h="314920">
                <a:moveTo>
                  <a:pt x="152400" y="0"/>
                </a:moveTo>
                <a:lnTo>
                  <a:pt x="152400" y="0"/>
                </a:lnTo>
                <a:arcTo hR="152400" wR="152400" stAng="16200000" swAng="5400000"/>
                <a:lnTo>
                  <a:pt x="304800" y="162520"/>
                </a:lnTo>
                <a:arcTo hR="152400" wR="152400" stAng="0" swAng="5400000"/>
                <a:lnTo>
                  <a:pt x="152400" y="314920"/>
                </a:lnTo>
                <a:arcTo hR="152400" wR="152400" stAng="5400000" swAng="5400000"/>
                <a:lnTo>
                  <a:pt x="0" y="152400"/>
                </a:lnTo>
                <a:arcTo hR="152400" wR="152400" stAng="10800000" swAng="5400000"/>
                <a:close/>
              </a:path>
            </a:pathLst>
          </a:custGeom>
          <a:solidFill>
            <a:srgbClr val="5B4BDB"/>
          </a:solidFill>
          <a:ln/>
        </p:spPr>
        <p:txBody>
          <a:bodyPr wrap="square" lIns="0" tIns="50800" rIns="0" bIns="254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3</a:t>
            </a:r>
            <a:endParaRPr lang="en-US" sz="1200" dirty="0"/>
          </a:p>
        </p:txBody>
      </p:sp>
      <p:sp>
        <p:nvSpPr>
          <p:cNvPr id="11" name="Text 9"/>
          <p:cNvSpPr/>
          <p:nvPr/>
        </p:nvSpPr>
        <p:spPr>
          <a:xfrm>
            <a:off x="1244600" y="3423890"/>
            <a:ext cx="18565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3FB"/>
                </a:solidFill>
                <a:latin typeface="DM Sans" pitchFamily="34" charset="0"/>
                <a:ea typeface="DM Sans" pitchFamily="34" charset="-122"/>
                <a:cs typeface="DM Sans" pitchFamily="34" charset="-120"/>
              </a:rPr>
              <a:t>Settle at month end</a:t>
            </a:r>
            <a:endParaRPr lang="en-US" sz="1400" dirty="0"/>
          </a:p>
        </p:txBody>
      </p:sp>
      <p:sp>
        <p:nvSpPr>
          <p:cNvPr id="12" name="Text 10"/>
          <p:cNvSpPr/>
          <p:nvPr/>
        </p:nvSpPr>
        <p:spPr>
          <a:xfrm>
            <a:off x="1244600" y="3662611"/>
            <a:ext cx="21629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Either way, someone wins</a:t>
            </a:r>
            <a:endParaRPr lang="en-US" sz="1200" dirty="0"/>
          </a:p>
        </p:txBody>
      </p:sp>
      <p:sp>
        <p:nvSpPr>
          <p:cNvPr id="13" name="Shape 11"/>
          <p:cNvSpPr/>
          <p:nvPr/>
        </p:nvSpPr>
        <p:spPr>
          <a:xfrm>
            <a:off x="812800" y="4129931"/>
            <a:ext cx="3638550" cy="1452761"/>
          </a:xfrm>
          <a:prstGeom prst="roundRect">
            <a:avLst>
              <a:gd name="adj" fmla="val 10490"/>
            </a:avLst>
          </a:prstGeom>
          <a:solidFill>
            <a:srgbClr val="E6F4EC"/>
          </a:solidFill>
          <a:ln/>
        </p:spPr>
      </p:sp>
      <p:sp>
        <p:nvSpPr>
          <p:cNvPr id="14" name="Text 12"/>
          <p:cNvSpPr/>
          <p:nvPr/>
        </p:nvSpPr>
        <p:spPr>
          <a:xfrm>
            <a:off x="990600" y="4307731"/>
            <a:ext cx="33814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52"/>
                </a:solidFill>
                <a:latin typeface="DM Sans" pitchFamily="34" charset="0"/>
                <a:ea typeface="DM Sans" pitchFamily="34" charset="-122"/>
                <a:cs typeface="DM Sans" pitchFamily="34" charset="-120"/>
              </a:rPr>
              <a:t>Goal reached</a:t>
            </a:r>
            <a:endParaRPr lang="en-US" sz="1200" dirty="0"/>
          </a:p>
        </p:txBody>
      </p:sp>
      <p:sp>
        <p:nvSpPr>
          <p:cNvPr id="15" name="Text 13"/>
          <p:cNvSpPr/>
          <p:nvPr/>
        </p:nvSpPr>
        <p:spPr>
          <a:xfrm>
            <a:off x="990600" y="4571851"/>
            <a:ext cx="338143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02E"/>
                </a:solidFill>
                <a:latin typeface="DM Sans" pitchFamily="34" charset="0"/>
                <a:ea typeface="DM Sans" pitchFamily="34" charset="-122"/>
                <a:cs typeface="DM Sans" pitchFamily="34" charset="-120"/>
              </a:rPr>
              <a:t>€15 back</a:t>
            </a:r>
            <a:endParaRPr lang="en-US" sz="2000" dirty="0"/>
          </a:p>
        </p:txBody>
      </p:sp>
      <p:sp>
        <p:nvSpPr>
          <p:cNvPr id="16" name="Text 14"/>
          <p:cNvSpPr/>
          <p:nvPr/>
        </p:nvSpPr>
        <p:spPr>
          <a:xfrm>
            <a:off x="990600" y="4978251"/>
            <a:ext cx="33814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3655"/>
                </a:solidFill>
                <a:latin typeface="DM Sans" pitchFamily="34" charset="0"/>
                <a:ea typeface="DM Sans" pitchFamily="34" charset="-122"/>
                <a:cs typeface="DM Sans" pitchFamily="34" charset="-120"/>
              </a:rPr>
              <a:t>as fresh-food credit, co-funded by a health insurer</a:t>
            </a:r>
            <a:endParaRPr lang="en-US" sz="1200" dirty="0"/>
          </a:p>
        </p:txBody>
      </p:sp>
      <p:sp>
        <p:nvSpPr>
          <p:cNvPr id="17" name="Shape 15"/>
          <p:cNvSpPr/>
          <p:nvPr/>
        </p:nvSpPr>
        <p:spPr>
          <a:xfrm>
            <a:off x="4581525" y="4133106"/>
            <a:ext cx="3644900" cy="1446411"/>
          </a:xfrm>
          <a:prstGeom prst="roundRect">
            <a:avLst>
              <a:gd name="adj" fmla="val 10317"/>
            </a:avLst>
          </a:prstGeom>
          <a:solidFill>
            <a:srgbClr val="2C2460"/>
          </a:solidFill>
          <a:ln w="6350">
            <a:solidFill>
              <a:srgbClr val="4A3F99"/>
            </a:solidFill>
            <a:prstDash val="solid"/>
          </a:ln>
        </p:spPr>
      </p:sp>
      <p:sp>
        <p:nvSpPr>
          <p:cNvPr id="18" name="Text 16"/>
          <p:cNvSpPr/>
          <p:nvPr/>
        </p:nvSpPr>
        <p:spPr>
          <a:xfrm>
            <a:off x="4762500" y="4314081"/>
            <a:ext cx="33814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B27A"/>
                </a:solidFill>
                <a:latin typeface="DM Sans" pitchFamily="34" charset="0"/>
                <a:ea typeface="DM Sans" pitchFamily="34" charset="-122"/>
                <a:cs typeface="DM Sans" pitchFamily="34" charset="-120"/>
              </a:rPr>
              <a:t>Goal missed</a:t>
            </a:r>
            <a:endParaRPr lang="en-US" sz="1200" dirty="0"/>
          </a:p>
        </p:txBody>
      </p:sp>
      <p:sp>
        <p:nvSpPr>
          <p:cNvPr id="19" name="Text 17"/>
          <p:cNvSpPr/>
          <p:nvPr/>
        </p:nvSpPr>
        <p:spPr>
          <a:xfrm>
            <a:off x="4762500" y="4578201"/>
            <a:ext cx="338143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3FB"/>
                </a:solidFill>
                <a:latin typeface="DM Sans" pitchFamily="34" charset="0"/>
                <a:ea typeface="DM Sans" pitchFamily="34" charset="-122"/>
                <a:cs typeface="DM Sans" pitchFamily="34" charset="-120"/>
              </a:rPr>
              <a:t>€10 to the Tafel</a:t>
            </a:r>
            <a:endParaRPr lang="en-US" sz="2000" dirty="0"/>
          </a:p>
        </p:txBody>
      </p:sp>
      <p:sp>
        <p:nvSpPr>
          <p:cNvPr id="20" name="Text 18"/>
          <p:cNvSpPr/>
          <p:nvPr/>
        </p:nvSpPr>
        <p:spPr>
          <a:xfrm>
            <a:off x="4762500" y="4984601"/>
            <a:ext cx="33814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Your stake feeds families in need</a:t>
            </a:r>
            <a:endParaRPr lang="en-US" sz="1200" dirty="0"/>
          </a:p>
        </p:txBody>
      </p:sp>
      <p:sp>
        <p:nvSpPr>
          <p:cNvPr id="21" name="Shape 19"/>
          <p:cNvSpPr/>
          <p:nvPr/>
        </p:nvSpPr>
        <p:spPr>
          <a:xfrm>
            <a:off x="8845550" y="819150"/>
            <a:ext cx="2527300" cy="5219700"/>
          </a:xfrm>
          <a:prstGeom prst="roundRect">
            <a:avLst>
              <a:gd name="adj" fmla="val 14824"/>
            </a:avLst>
          </a:prstGeom>
          <a:solidFill>
            <a:srgbClr val="0E0B22"/>
          </a:solidFill>
          <a:ln w="12700">
            <a:solidFill>
              <a:srgbClr val="3A3270"/>
            </a:solidFill>
            <a:prstDash val="solid"/>
          </a:ln>
        </p:spPr>
      </p:sp>
      <p:sp>
        <p:nvSpPr>
          <p:cNvPr id="22" name="Shape 20"/>
          <p:cNvSpPr/>
          <p:nvPr/>
        </p:nvSpPr>
        <p:spPr>
          <a:xfrm>
            <a:off x="8940800" y="914400"/>
            <a:ext cx="2336800" cy="5029200"/>
          </a:xfrm>
          <a:prstGeom prst="roundRect">
            <a:avLst>
              <a:gd name="adj" fmla="val 13043"/>
            </a:avLst>
          </a:prstGeom>
          <a:solidFill>
            <a:srgbClr val="FBFAFE"/>
          </a:solidFill>
          <a:ln/>
        </p:spPr>
      </p:sp>
      <p:sp>
        <p:nvSpPr>
          <p:cNvPr id="23" name="Text 21"/>
          <p:cNvSpPr/>
          <p:nvPr/>
        </p:nvSpPr>
        <p:spPr>
          <a:xfrm>
            <a:off x="9093200" y="10922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This month’s bet</a:t>
            </a:r>
            <a:endParaRPr lang="en-US" sz="1200" dirty="0"/>
          </a:p>
        </p:txBody>
      </p:sp>
      <p:sp>
        <p:nvSpPr>
          <p:cNvPr id="24" name="Text 22"/>
          <p:cNvSpPr/>
          <p:nvPr/>
        </p:nvSpPr>
        <p:spPr>
          <a:xfrm>
            <a:off x="9093200" y="1407120"/>
            <a:ext cx="209296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1640"/>
                </a:solidFill>
                <a:latin typeface="DM Sans" pitchFamily="34" charset="0"/>
                <a:ea typeface="DM Sans" pitchFamily="34" charset="-122"/>
                <a:cs typeface="DM Sans" pitchFamily="34" charset="-120"/>
              </a:rPr>
              <a:t>Half my basket is fruit and veg</a:t>
            </a:r>
            <a:endParaRPr lang="en-US" sz="1500" dirty="0"/>
          </a:p>
        </p:txBody>
      </p:sp>
      <p:sp>
        <p:nvSpPr>
          <p:cNvPr id="25" name="Shape 23"/>
          <p:cNvSpPr/>
          <p:nvPr/>
        </p:nvSpPr>
        <p:spPr>
          <a:xfrm>
            <a:off x="9093200" y="1965920"/>
            <a:ext cx="2032000" cy="416520"/>
          </a:xfrm>
          <a:prstGeom prst="roundRect">
            <a:avLst>
              <a:gd name="adj" fmla="val 24393"/>
            </a:avLst>
          </a:prstGeom>
          <a:solidFill>
            <a:srgbClr val="EEEBFB"/>
          </a:solidFill>
          <a:ln/>
        </p:spPr>
      </p:sp>
      <p:sp>
        <p:nvSpPr>
          <p:cNvPr id="26" name="Text 24"/>
          <p:cNvSpPr/>
          <p:nvPr/>
        </p:nvSpPr>
        <p:spPr>
          <a:xfrm>
            <a:off x="9194800" y="2067520"/>
            <a:ext cx="868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Your stake</a:t>
            </a:r>
            <a:endParaRPr lang="en-US" sz="1200" dirty="0"/>
          </a:p>
        </p:txBody>
      </p:sp>
      <p:sp>
        <p:nvSpPr>
          <p:cNvPr id="27" name="Text 25"/>
          <p:cNvSpPr/>
          <p:nvPr/>
        </p:nvSpPr>
        <p:spPr>
          <a:xfrm>
            <a:off x="10684034" y="2067520"/>
            <a:ext cx="33956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C1640"/>
                </a:solidFill>
                <a:latin typeface="DM Sans" pitchFamily="34" charset="0"/>
                <a:ea typeface="DM Sans" pitchFamily="34" charset="-122"/>
                <a:cs typeface="DM Sans" pitchFamily="34" charset="-120"/>
              </a:rPr>
              <a:t>€10</a:t>
            </a:r>
            <a:endParaRPr lang="en-US" sz="1200" dirty="0"/>
          </a:p>
        </p:txBody>
      </p:sp>
      <p:sp>
        <p:nvSpPr>
          <p:cNvPr id="28" name="Shape 26"/>
          <p:cNvSpPr/>
          <p:nvPr/>
        </p:nvSpPr>
        <p:spPr>
          <a:xfrm>
            <a:off x="9096375" y="2487216"/>
            <a:ext cx="2025650" cy="1296591"/>
          </a:xfrm>
          <a:prstGeom prst="roundRect">
            <a:avLst>
              <a:gd name="adj" fmla="val 8571"/>
            </a:avLst>
          </a:prstGeom>
          <a:solidFill>
            <a:srgbClr val="FDFCFF"/>
          </a:solidFill>
          <a:ln w="6350">
            <a:solidFill>
              <a:srgbClr val="E2DEF3"/>
            </a:solidFill>
            <a:prstDash val="solid"/>
          </a:ln>
        </p:spPr>
      </p:sp>
      <p:sp>
        <p:nvSpPr>
          <p:cNvPr id="29" name="Text 27"/>
          <p:cNvSpPr/>
          <p:nvPr/>
        </p:nvSpPr>
        <p:spPr>
          <a:xfrm>
            <a:off x="9213850" y="2604691"/>
            <a:ext cx="18444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Fruit and veg share</a:t>
            </a:r>
            <a:endParaRPr lang="en-US" sz="1200" dirty="0"/>
          </a:p>
        </p:txBody>
      </p:sp>
      <p:sp>
        <p:nvSpPr>
          <p:cNvPr id="30" name="Text 28"/>
          <p:cNvSpPr/>
          <p:nvPr/>
        </p:nvSpPr>
        <p:spPr>
          <a:xfrm>
            <a:off x="9213850" y="2881511"/>
            <a:ext cx="184442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7A52"/>
                </a:solidFill>
                <a:latin typeface="DM Sans" pitchFamily="34" charset="0"/>
                <a:ea typeface="DM Sans" pitchFamily="34" charset="-122"/>
                <a:cs typeface="DM Sans" pitchFamily="34" charset="-120"/>
              </a:rPr>
              <a:t>46%</a:t>
            </a:r>
            <a:endParaRPr lang="en-US" sz="2000" dirty="0"/>
          </a:p>
        </p:txBody>
      </p:sp>
      <p:sp>
        <p:nvSpPr>
          <p:cNvPr id="31" name="Shape 29"/>
          <p:cNvSpPr/>
          <p:nvPr/>
        </p:nvSpPr>
        <p:spPr>
          <a:xfrm>
            <a:off x="9213850" y="3300611"/>
            <a:ext cx="1790700" cy="88900"/>
          </a:xfrm>
          <a:prstGeom prst="roundRect">
            <a:avLst>
              <a:gd name="adj" fmla="val 50000"/>
            </a:avLst>
          </a:prstGeom>
          <a:solidFill>
            <a:srgbClr val="D5EDDF"/>
          </a:solidFill>
          <a:ln/>
        </p:spPr>
      </p:sp>
      <p:sp>
        <p:nvSpPr>
          <p:cNvPr id="32" name="Shape 30"/>
          <p:cNvSpPr/>
          <p:nvPr/>
        </p:nvSpPr>
        <p:spPr>
          <a:xfrm>
            <a:off x="9213850" y="3300611"/>
            <a:ext cx="1790700" cy="88900"/>
          </a:xfrm>
          <a:prstGeom prst="roundRect">
            <a:avLst>
              <a:gd name="adj" fmla="val 50000"/>
            </a:avLst>
          </a:prstGeom>
          <a:solidFill>
            <a:srgbClr val="1F7A52"/>
          </a:solidFill>
          <a:ln/>
        </p:spPr>
      </p:sp>
      <p:sp>
        <p:nvSpPr>
          <p:cNvPr id="33" name="Text 31"/>
          <p:cNvSpPr/>
          <p:nvPr/>
        </p:nvSpPr>
        <p:spPr>
          <a:xfrm>
            <a:off x="9213850" y="3453011"/>
            <a:ext cx="18444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Goal 50% · week 3 of 4</a:t>
            </a:r>
            <a:endParaRPr lang="en-US" sz="1200" dirty="0"/>
          </a:p>
        </p:txBody>
      </p:sp>
      <p:sp>
        <p:nvSpPr>
          <p:cNvPr id="34" name="Shape 32"/>
          <p:cNvSpPr/>
          <p:nvPr/>
        </p:nvSpPr>
        <p:spPr>
          <a:xfrm>
            <a:off x="9093200" y="3888581"/>
            <a:ext cx="2032000" cy="416520"/>
          </a:xfrm>
          <a:prstGeom prst="roundRect">
            <a:avLst>
              <a:gd name="adj" fmla="val 24393"/>
            </a:avLst>
          </a:prstGeom>
          <a:solidFill>
            <a:srgbClr val="E6F4EC"/>
          </a:solidFill>
          <a:ln/>
        </p:spPr>
      </p:sp>
      <p:pic>
        <p:nvPicPr>
          <p:cNvPr id="35" name="Image 0" descr="CheckCircle">    </p:cNvPr>
          <p:cNvPicPr>
            <a:picLocks noChangeAspect="1"/>
          </p:cNvPicPr>
          <p:nvPr/>
        </p:nvPicPr>
        <p:blipFill>
          <a:blip r:embed="rId1"/>
          <a:srcRect l="0" r="0" t="0" b="0"/>
          <a:stretch/>
        </p:blipFill>
        <p:spPr>
          <a:xfrm>
            <a:off x="9194800" y="4007941"/>
            <a:ext cx="177800" cy="177800"/>
          </a:xfrm>
          <a:prstGeom prst="rect">
            <a:avLst/>
          </a:prstGeom>
        </p:spPr>
      </p:pic>
      <p:sp>
        <p:nvSpPr>
          <p:cNvPr id="36" name="Text 33"/>
          <p:cNvSpPr/>
          <p:nvPr/>
        </p:nvSpPr>
        <p:spPr>
          <a:xfrm>
            <a:off x="9436100" y="3990181"/>
            <a:ext cx="777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52"/>
                </a:solidFill>
                <a:latin typeface="DM Sans" pitchFamily="34" charset="0"/>
                <a:ea typeface="DM Sans" pitchFamily="34" charset="-122"/>
                <a:cs typeface="DM Sans" pitchFamily="34" charset="-120"/>
              </a:rPr>
              <a:t>On track</a:t>
            </a:r>
            <a:endParaRPr lang="en-US" sz="1200" dirty="0"/>
          </a:p>
        </p:txBody>
      </p:sp>
      <p:sp>
        <p:nvSpPr>
          <p:cNvPr id="37" name="Text 34"/>
          <p:cNvSpPr/>
          <p:nvPr/>
        </p:nvSpPr>
        <p:spPr>
          <a:xfrm>
            <a:off x="9093200" y="4406702"/>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Make it and win €15 credit</a:t>
            </a:r>
            <a:endParaRPr lang="en-US" sz="1200" dirty="0"/>
          </a:p>
        </p:txBody>
      </p:sp>
      <p:sp>
        <p:nvSpPr>
          <p:cNvPr id="38" name="Text 35"/>
          <p:cNvSpPr/>
          <p:nvPr/>
        </p:nvSpPr>
        <p:spPr>
          <a:xfrm>
            <a:off x="9093200" y="5323880"/>
            <a:ext cx="2032000" cy="441920"/>
          </a:xfrm>
          <a:custGeom>
            <a:avLst/>
            <a:gdLst/>
            <a:ahLst/>
            <a:cxnLst/>
            <a:rect l="l" t="t" r="r" b="b"/>
            <a:pathLst>
              <a:path w="2032000" h="441920">
                <a:moveTo>
                  <a:pt x="220960" y="0"/>
                </a:moveTo>
                <a:lnTo>
                  <a:pt x="1811040" y="0"/>
                </a:lnTo>
                <a:arcTo hR="220960" wR="220960" stAng="16200000" swAng="5400000"/>
                <a:lnTo>
                  <a:pt x="2032000" y="220960"/>
                </a:lnTo>
                <a:arcTo hR="220960" wR="220960" stAng="0" swAng="5400000"/>
                <a:lnTo>
                  <a:pt x="220960" y="441920"/>
                </a:lnTo>
                <a:arcTo hR="220960" wR="220960" stAng="5400000" swAng="5400000"/>
                <a:lnTo>
                  <a:pt x="0" y="220960"/>
                </a:lnTo>
                <a:arcTo hR="220960" wR="220960" stAng="10800000" swAng="5400000"/>
                <a:close/>
              </a:path>
            </a:pathLst>
          </a:custGeom>
          <a:solidFill>
            <a:srgbClr val="5B4BDB"/>
          </a:solidFill>
          <a:ln/>
        </p:spPr>
        <p:txBody>
          <a:bodyPr wrap="square" lIns="87249" tIns="114300" rIns="87249" bIns="889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Raise my stake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HEALTH LINE · POWERED BY AI FOR THE ELDERLY PEOPLE AND OTHERS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Digital health with zero screens</a:t>
            </a:r>
            <a:endParaRPr lang="en-US" sz="3200" dirty="0"/>
          </a:p>
        </p:txBody>
      </p:sp>
      <p:sp>
        <p:nvSpPr>
          <p:cNvPr id="4" name="Shape 2"/>
          <p:cNvSpPr/>
          <p:nvPr/>
        </p:nvSpPr>
        <p:spPr>
          <a:xfrm>
            <a:off x="812800" y="1803350"/>
            <a:ext cx="5461000" cy="4241850"/>
          </a:xfrm>
          <a:prstGeom prst="roundRect">
            <a:avLst>
              <a:gd name="adj" fmla="val 4790"/>
            </a:avLst>
          </a:prstGeom>
          <a:solidFill>
            <a:srgbClr val="1C1640"/>
          </a:solidFill>
          <a:ln/>
        </p:spPr>
      </p:sp>
      <p:pic>
        <p:nvPicPr>
          <p:cNvPr id="5" name="Image 0" descr="Chat">    </p:cNvPr>
          <p:cNvPicPr>
            <a:picLocks noChangeAspect="1"/>
          </p:cNvPicPr>
          <p:nvPr/>
        </p:nvPicPr>
        <p:blipFill>
          <a:blip r:embed="rId1"/>
          <a:srcRect l="0" r="0" t="0" b="0"/>
          <a:stretch/>
        </p:blipFill>
        <p:spPr>
          <a:xfrm>
            <a:off x="1066800" y="2057350"/>
            <a:ext cx="254000" cy="254000"/>
          </a:xfrm>
          <a:prstGeom prst="rect">
            <a:avLst/>
          </a:prstGeom>
        </p:spPr>
      </p:pic>
      <p:sp>
        <p:nvSpPr>
          <p:cNvPr id="6" name="Text 3"/>
          <p:cNvSpPr/>
          <p:nvPr/>
        </p:nvSpPr>
        <p:spPr>
          <a:xfrm>
            <a:off x="1422400" y="2077690"/>
            <a:ext cx="26735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FB"/>
                </a:solidFill>
                <a:latin typeface="DM Sans" pitchFamily="34" charset="0"/>
                <a:ea typeface="DM Sans" pitchFamily="34" charset="-122"/>
                <a:cs typeface="DM Sans" pitchFamily="34" charset="-120"/>
              </a:rPr>
              <a:t>Call with Health Line · 2:14 min</a:t>
            </a:r>
            <a:endParaRPr lang="en-US" sz="1200" dirty="0"/>
          </a:p>
        </p:txBody>
      </p:sp>
      <p:sp>
        <p:nvSpPr>
          <p:cNvPr id="7" name="Text 4"/>
          <p:cNvSpPr/>
          <p:nvPr/>
        </p:nvSpPr>
        <p:spPr>
          <a:xfrm>
            <a:off x="1066800" y="2438350"/>
            <a:ext cx="3556000" cy="726380"/>
          </a:xfrm>
          <a:prstGeom prst="roundRect">
            <a:avLst>
              <a:gd name="adj" fmla="val 20981"/>
            </a:avLst>
          </a:prstGeom>
          <a:solidFill>
            <a:srgbClr val="E9E6F4"/>
          </a:solidFill>
          <a:ln/>
        </p:spPr>
        <p:txBody>
          <a:bodyPr wrap="square" lIns="107764" tIns="69664" rIns="10228" bIns="44264" rtlCol="0" anchor="t">
            <a:normAutofit/>
          </a:bodyPr>
          <a:lstStyle/>
          <a:p>
            <a:pPr algn="l" indent="0" marL="0">
              <a:lnSpc>
                <a:spcPts val="1960"/>
              </a:lnSpc>
              <a:buNone/>
            </a:pPr>
            <a:r>
              <a:rPr lang="en-US" sz="1400" dirty="0">
                <a:solidFill>
                  <a:srgbClr val="1C1640"/>
                </a:solidFill>
                <a:latin typeface="DM Sans" pitchFamily="34" charset="0"/>
                <a:ea typeface="DM Sans" pitchFamily="34" charset="-122"/>
                <a:cs typeface="DM Sans" pitchFamily="34" charset="-120"/>
              </a:rPr>
              <a:t>“Same as last week, but less salt, please.”</a:t>
            </a:r>
            <a:endParaRPr lang="en-US" sz="1400" dirty="0"/>
          </a:p>
        </p:txBody>
      </p:sp>
      <p:sp>
        <p:nvSpPr>
          <p:cNvPr id="8" name="Text 5"/>
          <p:cNvSpPr/>
          <p:nvPr/>
        </p:nvSpPr>
        <p:spPr>
          <a:xfrm>
            <a:off x="1955800" y="3291731"/>
            <a:ext cx="4064000" cy="975271"/>
          </a:xfrm>
          <a:prstGeom prst="roundRect">
            <a:avLst>
              <a:gd name="adj" fmla="val 15626"/>
            </a:avLst>
          </a:prstGeom>
          <a:solidFill>
            <a:srgbClr val="5B4BDB"/>
          </a:solidFill>
          <a:ln/>
        </p:spPr>
        <p:txBody>
          <a:bodyPr wrap="square" lIns="107764" tIns="69664" rIns="0" bIns="44264" rtlCol="0" anchor="t">
            <a:normAutofit/>
          </a:bodyPr>
          <a:lstStyle/>
          <a:p>
            <a:pPr algn="l" indent="0" marL="0">
              <a:lnSpc>
                <a:spcPts val="1960"/>
              </a:lnSpc>
              <a:buNone/>
            </a:pPr>
            <a:r>
              <a:rPr lang="en-US" sz="1400" dirty="0">
                <a:solidFill>
                  <a:srgbClr val="FDFCFF"/>
                </a:solidFill>
                <a:latin typeface="DM Sans" pitchFamily="34" charset="0"/>
                <a:ea typeface="DM Sans" pitchFamily="34" charset="-122"/>
                <a:cs typeface="DM Sans" pitchFamily="34" charset="-120"/>
              </a:rPr>
              <a:t>“Of course, Mrs. Weber. I swapped the salted crackers for unsalted ones and added fresh spinach.”</a:t>
            </a:r>
            <a:endParaRPr lang="en-US" sz="1400" dirty="0"/>
          </a:p>
        </p:txBody>
      </p:sp>
      <p:sp>
        <p:nvSpPr>
          <p:cNvPr id="9" name="Text 6"/>
          <p:cNvSpPr/>
          <p:nvPr/>
        </p:nvSpPr>
        <p:spPr>
          <a:xfrm>
            <a:off x="1066800" y="4394002"/>
            <a:ext cx="2667000" cy="477490"/>
          </a:xfrm>
          <a:prstGeom prst="roundRect">
            <a:avLst>
              <a:gd name="adj" fmla="val 31917"/>
            </a:avLst>
          </a:prstGeom>
          <a:solidFill>
            <a:srgbClr val="E9E6F4"/>
          </a:solidFill>
          <a:ln/>
        </p:spPr>
        <p:txBody>
          <a:bodyPr wrap="square" lIns="107764" tIns="69664" rIns="36898" bIns="44264" rtlCol="0" anchor="t">
            <a:normAutofit/>
          </a:bodyPr>
          <a:lstStyle/>
          <a:p>
            <a:pPr algn="l" indent="0" marL="0">
              <a:lnSpc>
                <a:spcPts val="1960"/>
              </a:lnSpc>
              <a:buNone/>
            </a:pPr>
            <a:r>
              <a:rPr lang="en-US" sz="1400" dirty="0">
                <a:solidFill>
                  <a:srgbClr val="1C1640"/>
                </a:solidFill>
                <a:latin typeface="DM Sans" pitchFamily="34" charset="0"/>
                <a:ea typeface="DM Sans" pitchFamily="34" charset="-122"/>
                <a:cs typeface="DM Sans" pitchFamily="34" charset="-120"/>
              </a:rPr>
              <a:t>“Wonderful, thank you.”</a:t>
            </a:r>
            <a:endParaRPr lang="en-US" sz="1400" dirty="0"/>
          </a:p>
        </p:txBody>
      </p:sp>
      <p:sp>
        <p:nvSpPr>
          <p:cNvPr id="10" name="Text 7"/>
          <p:cNvSpPr/>
          <p:nvPr/>
        </p:nvSpPr>
        <p:spPr>
          <a:xfrm>
            <a:off x="1955800" y="4998492"/>
            <a:ext cx="4064000" cy="726380"/>
          </a:xfrm>
          <a:prstGeom prst="roundRect">
            <a:avLst>
              <a:gd name="adj" fmla="val 20981"/>
            </a:avLst>
          </a:prstGeom>
          <a:solidFill>
            <a:srgbClr val="5B4BDB"/>
          </a:solidFill>
          <a:ln/>
        </p:spPr>
        <p:txBody>
          <a:bodyPr wrap="square" lIns="107764" tIns="69664" rIns="0" bIns="44264" rtlCol="0" anchor="t">
            <a:normAutofit/>
          </a:bodyPr>
          <a:lstStyle/>
          <a:p>
            <a:pPr algn="l" indent="0" marL="0">
              <a:lnSpc>
                <a:spcPts val="1960"/>
              </a:lnSpc>
              <a:buNone/>
            </a:pPr>
            <a:r>
              <a:rPr lang="en-US" sz="1400" dirty="0">
                <a:solidFill>
                  <a:srgbClr val="FDFCFF"/>
                </a:solidFill>
                <a:latin typeface="DM Sans" pitchFamily="34" charset="0"/>
                <a:ea typeface="DM Sans" pitchFamily="34" charset="-122"/>
                <a:cs typeface="DM Sans" pitchFamily="34" charset="-120"/>
              </a:rPr>
              <a:t>“Your order is ready on Thursday. See you then!”</a:t>
            </a:r>
            <a:endParaRPr lang="en-US" sz="1400" dirty="0"/>
          </a:p>
        </p:txBody>
      </p:sp>
      <p:pic>
        <p:nvPicPr>
          <p:cNvPr id="11" name="Image 1" descr="Chat">    </p:cNvPr>
          <p:cNvPicPr>
            <a:picLocks noChangeAspect="1"/>
          </p:cNvPicPr>
          <p:nvPr/>
        </p:nvPicPr>
        <p:blipFill>
          <a:blip r:embed="rId2"/>
          <a:srcRect l="0" r="0" t="0" b="0"/>
          <a:stretch/>
        </p:blipFill>
        <p:spPr>
          <a:xfrm>
            <a:off x="6680200" y="2469009"/>
            <a:ext cx="254000" cy="254000"/>
          </a:xfrm>
          <a:prstGeom prst="rect">
            <a:avLst/>
          </a:prstGeom>
        </p:spPr>
      </p:pic>
      <p:sp>
        <p:nvSpPr>
          <p:cNvPr id="12" name="Text 8"/>
          <p:cNvSpPr/>
          <p:nvPr/>
        </p:nvSpPr>
        <p:spPr>
          <a:xfrm>
            <a:off x="7061200" y="2469009"/>
            <a:ext cx="23924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Just call and talk</a:t>
            </a:r>
            <a:endParaRPr lang="en-US" sz="1400" dirty="0"/>
          </a:p>
        </p:txBody>
      </p:sp>
      <p:sp>
        <p:nvSpPr>
          <p:cNvPr id="13" name="Text 9"/>
          <p:cNvSpPr/>
          <p:nvPr/>
        </p:nvSpPr>
        <p:spPr>
          <a:xfrm>
            <a:off x="7061200" y="2707729"/>
            <a:ext cx="27873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Order by phone in plain language</a:t>
            </a:r>
            <a:endParaRPr lang="en-US" sz="1200" dirty="0"/>
          </a:p>
        </p:txBody>
      </p:sp>
      <p:pic>
        <p:nvPicPr>
          <p:cNvPr id="14" name="Image 2" descr="Lightbulb">    </p:cNvPr>
          <p:cNvPicPr>
            <a:picLocks noChangeAspect="1"/>
          </p:cNvPicPr>
          <p:nvPr/>
        </p:nvPicPr>
        <p:blipFill>
          <a:blip r:embed="rId3"/>
          <a:srcRect l="0" r="0" t="0" b="0"/>
          <a:stretch/>
        </p:blipFill>
        <p:spPr>
          <a:xfrm>
            <a:off x="6680200" y="3098850"/>
            <a:ext cx="254000" cy="254000"/>
          </a:xfrm>
          <a:prstGeom prst="rect">
            <a:avLst/>
          </a:prstGeom>
        </p:spPr>
      </p:pic>
      <p:sp>
        <p:nvSpPr>
          <p:cNvPr id="15" name="Text 10"/>
          <p:cNvSpPr/>
          <p:nvPr/>
        </p:nvSpPr>
        <p:spPr>
          <a:xfrm>
            <a:off x="7061200" y="3098850"/>
            <a:ext cx="22593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Healthy swaps</a:t>
            </a:r>
            <a:endParaRPr lang="en-US" sz="1400" dirty="0"/>
          </a:p>
        </p:txBody>
      </p:sp>
      <p:sp>
        <p:nvSpPr>
          <p:cNvPr id="16" name="Text 11"/>
          <p:cNvSpPr/>
          <p:nvPr/>
        </p:nvSpPr>
        <p:spPr>
          <a:xfrm>
            <a:off x="7061200" y="3337570"/>
            <a:ext cx="26322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Less salt and sugar, same price</a:t>
            </a:r>
            <a:endParaRPr lang="en-US" sz="1200" dirty="0"/>
          </a:p>
        </p:txBody>
      </p:sp>
      <p:pic>
        <p:nvPicPr>
          <p:cNvPr id="17" name="Image 3" descr="Clock">    </p:cNvPr>
          <p:cNvPicPr>
            <a:picLocks noChangeAspect="1"/>
          </p:cNvPicPr>
          <p:nvPr/>
        </p:nvPicPr>
        <p:blipFill>
          <a:blip r:embed="rId4"/>
          <a:srcRect l="0" r="0" t="0" b="0"/>
          <a:stretch/>
        </p:blipFill>
        <p:spPr>
          <a:xfrm>
            <a:off x="6680200" y="3728690"/>
            <a:ext cx="254000" cy="254000"/>
          </a:xfrm>
          <a:prstGeom prst="rect">
            <a:avLst/>
          </a:prstGeom>
        </p:spPr>
      </p:pic>
      <p:sp>
        <p:nvSpPr>
          <p:cNvPr id="18" name="Text 12"/>
          <p:cNvSpPr/>
          <p:nvPr/>
        </p:nvSpPr>
        <p:spPr>
          <a:xfrm>
            <a:off x="7061200" y="3728690"/>
            <a:ext cx="217711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Remembers routines</a:t>
            </a:r>
            <a:endParaRPr lang="en-US" sz="1400" dirty="0"/>
          </a:p>
        </p:txBody>
      </p:sp>
      <p:sp>
        <p:nvSpPr>
          <p:cNvPr id="19" name="Text 13"/>
          <p:cNvSpPr/>
          <p:nvPr/>
        </p:nvSpPr>
        <p:spPr>
          <a:xfrm>
            <a:off x="7061200" y="3967411"/>
            <a:ext cx="18686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Knows the usual basket</a:t>
            </a:r>
            <a:endParaRPr lang="en-US" sz="1200" dirty="0"/>
          </a:p>
        </p:txBody>
      </p:sp>
      <p:pic>
        <p:nvPicPr>
          <p:cNvPr id="20" name="Image 4" descr="Trust">    </p:cNvPr>
          <p:cNvPicPr>
            <a:picLocks noChangeAspect="1"/>
          </p:cNvPicPr>
          <p:nvPr/>
        </p:nvPicPr>
        <p:blipFill>
          <a:blip r:embed="rId5"/>
          <a:srcRect l="0" r="0" t="0" b="0"/>
          <a:stretch/>
        </p:blipFill>
        <p:spPr>
          <a:xfrm>
            <a:off x="6680200" y="4358531"/>
            <a:ext cx="254000" cy="254000"/>
          </a:xfrm>
          <a:prstGeom prst="rect">
            <a:avLst/>
          </a:prstGeom>
        </p:spPr>
      </p:pic>
      <p:sp>
        <p:nvSpPr>
          <p:cNvPr id="21" name="Text 14"/>
          <p:cNvSpPr/>
          <p:nvPr/>
        </p:nvSpPr>
        <p:spPr>
          <a:xfrm>
            <a:off x="7061200" y="4358531"/>
            <a:ext cx="253388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Family safety net</a:t>
            </a:r>
            <a:endParaRPr lang="en-US" sz="1400" dirty="0"/>
          </a:p>
        </p:txBody>
      </p:sp>
      <p:sp>
        <p:nvSpPr>
          <p:cNvPr id="22" name="Text 15"/>
          <p:cNvSpPr/>
          <p:nvPr/>
        </p:nvSpPr>
        <p:spPr>
          <a:xfrm>
            <a:off x="7061200" y="4597251"/>
            <a:ext cx="2952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Alerts family if orders stop (opt-in)</a:t>
            </a:r>
            <a:endParaRPr lang="en-US" sz="1200" dirty="0"/>
          </a:p>
        </p:txBody>
      </p:sp>
      <p:sp>
        <p:nvSpPr>
          <p:cNvPr id="23" name="Text 16"/>
          <p:cNvSpPr/>
          <p:nvPr/>
        </p:nvSpPr>
        <p:spPr>
          <a:xfrm>
            <a:off x="6680200" y="4988371"/>
            <a:ext cx="4699000" cy="391120"/>
          </a:xfrm>
          <a:prstGeom prst="roundRect">
            <a:avLst>
              <a:gd name="adj" fmla="val 22730"/>
            </a:avLst>
          </a:prstGeom>
          <a:solidFill>
            <a:srgbClr val="EEEBFB"/>
          </a:solidFill>
          <a:ln/>
        </p:spPr>
        <p:txBody>
          <a:bodyPr wrap="square" lIns="100962" tIns="62862" rIns="0" bIns="37462"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Fits the “digital balance” megatrend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IN-STORE EXPERIENCE · SHORT TO MEDIUM TERM</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From Point of Sale to Point of Well-Being</a:t>
            </a:r>
            <a:endParaRPr lang="en-US" sz="3200" dirty="0"/>
          </a:p>
        </p:txBody>
      </p:sp>
      <p:sp>
        <p:nvSpPr>
          <p:cNvPr id="4" name="Shape 2"/>
          <p:cNvSpPr/>
          <p:nvPr/>
        </p:nvSpPr>
        <p:spPr>
          <a:xfrm>
            <a:off x="815975" y="1806525"/>
            <a:ext cx="3380284" cy="3823643"/>
          </a:xfrm>
          <a:prstGeom prst="roundRect">
            <a:avLst>
              <a:gd name="adj" fmla="val 4415"/>
            </a:avLst>
          </a:prstGeom>
          <a:solidFill>
            <a:srgbClr val="FDFCFF"/>
          </a:solidFill>
          <a:ln w="6350">
            <a:solidFill>
              <a:srgbClr val="E2DEF3"/>
            </a:solidFill>
            <a:prstDash val="solid"/>
          </a:ln>
        </p:spPr>
      </p:sp>
      <p:sp>
        <p:nvSpPr>
          <p:cNvPr id="5" name="Text 3"/>
          <p:cNvSpPr/>
          <p:nvPr/>
        </p:nvSpPr>
        <p:spPr>
          <a:xfrm>
            <a:off x="1022350" y="2012900"/>
            <a:ext cx="304800" cy="314920"/>
          </a:xfrm>
          <a:custGeom>
            <a:avLst/>
            <a:gdLst/>
            <a:ahLst/>
            <a:cxnLst/>
            <a:rect l="l" t="t" r="r" b="b"/>
            <a:pathLst>
              <a:path w="304800" h="314920">
                <a:moveTo>
                  <a:pt x="152400" y="0"/>
                </a:moveTo>
                <a:lnTo>
                  <a:pt x="152400" y="0"/>
                </a:lnTo>
                <a:arcTo hR="152400" wR="152400" stAng="16200000" swAng="5400000"/>
                <a:lnTo>
                  <a:pt x="304800" y="162520"/>
                </a:lnTo>
                <a:arcTo hR="152400" wR="152400" stAng="0" swAng="5400000"/>
                <a:lnTo>
                  <a:pt x="152400" y="314920"/>
                </a:lnTo>
                <a:arcTo hR="152400" wR="152400" stAng="5400000" swAng="5400000"/>
                <a:lnTo>
                  <a:pt x="0" y="152400"/>
                </a:lnTo>
                <a:arcTo hR="152400" wR="152400" stAng="10800000" swAng="5400000"/>
                <a:close/>
              </a:path>
            </a:pathLst>
          </a:custGeom>
          <a:solidFill>
            <a:srgbClr val="5B4BDB"/>
          </a:solidFill>
          <a:ln/>
        </p:spPr>
        <p:txBody>
          <a:bodyPr wrap="square" lIns="0" tIns="50800" rIns="0" bIns="254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1</a:t>
            </a:r>
            <a:endParaRPr lang="en-US" sz="1200" dirty="0"/>
          </a:p>
        </p:txBody>
      </p:sp>
      <p:pic>
        <p:nvPicPr>
          <p:cNvPr id="6" name="Image 0" descr="Search">    </p:cNvPr>
          <p:cNvPicPr>
            <a:picLocks noChangeAspect="1"/>
          </p:cNvPicPr>
          <p:nvPr/>
        </p:nvPicPr>
        <p:blipFill>
          <a:blip r:embed="rId1"/>
          <a:srcRect l="0" r="0" t="0" b="0"/>
          <a:stretch/>
        </p:blipFill>
        <p:spPr>
          <a:xfrm>
            <a:off x="1428750" y="2043361"/>
            <a:ext cx="254000" cy="254000"/>
          </a:xfrm>
          <a:prstGeom prst="rect">
            <a:avLst/>
          </a:prstGeom>
        </p:spPr>
      </p:pic>
      <p:sp>
        <p:nvSpPr>
          <p:cNvPr id="7" name="Text 4"/>
          <p:cNvSpPr/>
          <p:nvPr/>
        </p:nvSpPr>
        <p:spPr>
          <a:xfrm>
            <a:off x="1022350" y="2467521"/>
            <a:ext cx="3056560"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Smart and personalized shopping</a:t>
            </a:r>
            <a:endParaRPr lang="en-US" sz="1600" dirty="0"/>
          </a:p>
        </p:txBody>
      </p:sp>
      <p:sp>
        <p:nvSpPr>
          <p:cNvPr id="8" name="Text 5"/>
          <p:cNvSpPr/>
          <p:nvPr/>
        </p:nvSpPr>
        <p:spPr>
          <a:xfrm>
            <a:off x="1022350" y="3094881"/>
            <a:ext cx="30565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Goal-based shopping</a:t>
            </a:r>
            <a:endParaRPr lang="en-US" sz="1300" dirty="0"/>
          </a:p>
        </p:txBody>
      </p:sp>
      <p:sp>
        <p:nvSpPr>
          <p:cNvPr id="9" name="Text 6"/>
          <p:cNvSpPr/>
          <p:nvPr/>
        </p:nvSpPr>
        <p:spPr>
          <a:xfrm>
            <a:off x="1022350" y="335141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Store routes by goal: high protein, budget or 15-minute meals</a:t>
            </a:r>
            <a:endParaRPr lang="en-US" sz="1200" dirty="0"/>
          </a:p>
        </p:txBody>
      </p:sp>
      <p:sp>
        <p:nvSpPr>
          <p:cNvPr id="10" name="Text 7"/>
          <p:cNvSpPr/>
          <p:nvPr/>
        </p:nvSpPr>
        <p:spPr>
          <a:xfrm>
            <a:off x="1022350" y="3917752"/>
            <a:ext cx="30565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AI shopping assistant</a:t>
            </a:r>
            <a:endParaRPr lang="en-US" sz="1300" dirty="0"/>
          </a:p>
        </p:txBody>
      </p:sp>
      <p:sp>
        <p:nvSpPr>
          <p:cNvPr id="11" name="Text 8"/>
          <p:cNvSpPr/>
          <p:nvPr/>
        </p:nvSpPr>
        <p:spPr>
          <a:xfrm>
            <a:off x="1022350" y="4174282"/>
            <a:ext cx="3170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Recipes and automatic lists via LidlHealth</a:t>
            </a:r>
            <a:endParaRPr lang="en-US" sz="1200" dirty="0"/>
          </a:p>
        </p:txBody>
      </p:sp>
      <p:sp>
        <p:nvSpPr>
          <p:cNvPr id="12" name="Text 9"/>
          <p:cNvSpPr/>
          <p:nvPr/>
        </p:nvSpPr>
        <p:spPr>
          <a:xfrm>
            <a:off x="1022350" y="4527302"/>
            <a:ext cx="30565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Smart nutritional nudges</a:t>
            </a:r>
            <a:endParaRPr lang="en-US" sz="1300" dirty="0"/>
          </a:p>
        </p:txBody>
      </p:sp>
      <p:sp>
        <p:nvSpPr>
          <p:cNvPr id="13" name="Text 10"/>
          <p:cNvSpPr/>
          <p:nvPr/>
        </p:nvSpPr>
        <p:spPr>
          <a:xfrm>
            <a:off x="1022350" y="4783832"/>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Healthier swaps on shelf labels, QR codes and receipts</a:t>
            </a:r>
            <a:endParaRPr lang="en-US" sz="1200" dirty="0"/>
          </a:p>
        </p:txBody>
      </p:sp>
      <p:sp>
        <p:nvSpPr>
          <p:cNvPr id="14" name="Shape 11"/>
          <p:cNvSpPr/>
          <p:nvPr/>
        </p:nvSpPr>
        <p:spPr>
          <a:xfrm>
            <a:off x="4405809" y="1806525"/>
            <a:ext cx="3380333" cy="3823643"/>
          </a:xfrm>
          <a:prstGeom prst="roundRect">
            <a:avLst>
              <a:gd name="adj" fmla="val 4415"/>
            </a:avLst>
          </a:prstGeom>
          <a:solidFill>
            <a:srgbClr val="FDFCFF"/>
          </a:solidFill>
          <a:ln w="6350">
            <a:solidFill>
              <a:srgbClr val="E2DEF3"/>
            </a:solidFill>
            <a:prstDash val="solid"/>
          </a:ln>
        </p:spPr>
      </p:sp>
      <p:sp>
        <p:nvSpPr>
          <p:cNvPr id="15" name="Text 12"/>
          <p:cNvSpPr/>
          <p:nvPr/>
        </p:nvSpPr>
        <p:spPr>
          <a:xfrm>
            <a:off x="4612184" y="2012900"/>
            <a:ext cx="304800" cy="314920"/>
          </a:xfrm>
          <a:custGeom>
            <a:avLst/>
            <a:gdLst/>
            <a:ahLst/>
            <a:cxnLst/>
            <a:rect l="l" t="t" r="r" b="b"/>
            <a:pathLst>
              <a:path w="304800" h="314920">
                <a:moveTo>
                  <a:pt x="152400" y="0"/>
                </a:moveTo>
                <a:lnTo>
                  <a:pt x="152400" y="0"/>
                </a:lnTo>
                <a:arcTo hR="152400" wR="152400" stAng="16200000" swAng="5400000"/>
                <a:lnTo>
                  <a:pt x="304800" y="162520"/>
                </a:lnTo>
                <a:arcTo hR="152400" wR="152400" stAng="0" swAng="5400000"/>
                <a:lnTo>
                  <a:pt x="152400" y="314920"/>
                </a:lnTo>
                <a:arcTo hR="152400" wR="152400" stAng="5400000" swAng="5400000"/>
                <a:lnTo>
                  <a:pt x="0" y="152400"/>
                </a:lnTo>
                <a:arcTo hR="152400" wR="152400" stAng="10800000" swAng="5400000"/>
                <a:close/>
              </a:path>
            </a:pathLst>
          </a:custGeom>
          <a:solidFill>
            <a:srgbClr val="1F7A52"/>
          </a:solidFill>
          <a:ln/>
        </p:spPr>
        <p:txBody>
          <a:bodyPr wrap="square" lIns="0" tIns="50800" rIns="0" bIns="254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2</a:t>
            </a:r>
            <a:endParaRPr lang="en-US" sz="1200" dirty="0"/>
          </a:p>
        </p:txBody>
      </p:sp>
      <p:pic>
        <p:nvPicPr>
          <p:cNvPr id="16" name="Image 1" descr="Star">    </p:cNvPr>
          <p:cNvPicPr>
            <a:picLocks noChangeAspect="1"/>
          </p:cNvPicPr>
          <p:nvPr/>
        </p:nvPicPr>
        <p:blipFill>
          <a:blip r:embed="rId2"/>
          <a:srcRect l="0" r="0" t="0" b="0"/>
          <a:stretch/>
        </p:blipFill>
        <p:spPr>
          <a:xfrm>
            <a:off x="5018584" y="2043361"/>
            <a:ext cx="254000" cy="254000"/>
          </a:xfrm>
          <a:prstGeom prst="rect">
            <a:avLst/>
          </a:prstGeom>
        </p:spPr>
      </p:pic>
      <p:sp>
        <p:nvSpPr>
          <p:cNvPr id="17" name="Text 13"/>
          <p:cNvSpPr/>
          <p:nvPr/>
        </p:nvSpPr>
        <p:spPr>
          <a:xfrm>
            <a:off x="4612184" y="2467521"/>
            <a:ext cx="3056611"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Healthy products and accessibility</a:t>
            </a:r>
            <a:endParaRPr lang="en-US" sz="1600" dirty="0"/>
          </a:p>
        </p:txBody>
      </p:sp>
      <p:sp>
        <p:nvSpPr>
          <p:cNvPr id="18" name="Text 14"/>
          <p:cNvSpPr/>
          <p:nvPr/>
        </p:nvSpPr>
        <p:spPr>
          <a:xfrm>
            <a:off x="4612184" y="3094881"/>
            <a:ext cx="305661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Healthy own-brand line</a:t>
            </a:r>
            <a:endParaRPr lang="en-US" sz="1300" dirty="0"/>
          </a:p>
        </p:txBody>
      </p:sp>
      <p:sp>
        <p:nvSpPr>
          <p:cNvPr id="19" name="Text 15"/>
          <p:cNvSpPr/>
          <p:nvPr/>
        </p:nvSpPr>
        <p:spPr>
          <a:xfrm>
            <a:off x="4612184" y="3351411"/>
            <a:ext cx="30566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Health range, meal-prep kits and wellness sections</a:t>
            </a:r>
            <a:endParaRPr lang="en-US" sz="1200" dirty="0"/>
          </a:p>
        </p:txBody>
      </p:sp>
      <p:sp>
        <p:nvSpPr>
          <p:cNvPr id="20" name="Text 16"/>
          <p:cNvSpPr/>
          <p:nvPr/>
        </p:nvSpPr>
        <p:spPr>
          <a:xfrm>
            <a:off x="4612184" y="3917752"/>
            <a:ext cx="305661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Healthy Deals</a:t>
            </a:r>
            <a:endParaRPr lang="en-US" sz="1300" dirty="0"/>
          </a:p>
        </p:txBody>
      </p:sp>
      <p:sp>
        <p:nvSpPr>
          <p:cNvPr id="21" name="Text 17"/>
          <p:cNvSpPr/>
          <p:nvPr/>
        </p:nvSpPr>
        <p:spPr>
          <a:xfrm>
            <a:off x="4612184" y="4174282"/>
            <a:ext cx="30566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Weekly discounts on selected nutritious products</a:t>
            </a:r>
            <a:endParaRPr lang="en-US" sz="1200" dirty="0"/>
          </a:p>
        </p:txBody>
      </p:sp>
      <p:sp>
        <p:nvSpPr>
          <p:cNvPr id="22" name="Text 18"/>
          <p:cNvSpPr/>
          <p:nvPr/>
        </p:nvSpPr>
        <p:spPr>
          <a:xfrm>
            <a:off x="4612184" y="4740622"/>
            <a:ext cx="305661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Smart packaging</a:t>
            </a:r>
            <a:endParaRPr lang="en-US" sz="1300" dirty="0"/>
          </a:p>
        </p:txBody>
      </p:sp>
      <p:sp>
        <p:nvSpPr>
          <p:cNvPr id="23" name="Text 19"/>
          <p:cNvSpPr/>
          <p:nvPr/>
        </p:nvSpPr>
        <p:spPr>
          <a:xfrm>
            <a:off x="4612184" y="4997152"/>
            <a:ext cx="30566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Quick recipes and health tips printed on the pack</a:t>
            </a:r>
            <a:endParaRPr lang="en-US" sz="1200" dirty="0"/>
          </a:p>
        </p:txBody>
      </p:sp>
      <p:sp>
        <p:nvSpPr>
          <p:cNvPr id="24" name="Shape 20"/>
          <p:cNvSpPr/>
          <p:nvPr/>
        </p:nvSpPr>
        <p:spPr>
          <a:xfrm>
            <a:off x="7995692" y="1806525"/>
            <a:ext cx="3380284" cy="3823643"/>
          </a:xfrm>
          <a:prstGeom prst="roundRect">
            <a:avLst>
              <a:gd name="adj" fmla="val 4415"/>
            </a:avLst>
          </a:prstGeom>
          <a:solidFill>
            <a:srgbClr val="FDFCFF"/>
          </a:solidFill>
          <a:ln w="6350">
            <a:solidFill>
              <a:srgbClr val="E2DEF3"/>
            </a:solidFill>
            <a:prstDash val="solid"/>
          </a:ln>
        </p:spPr>
      </p:sp>
      <p:sp>
        <p:nvSpPr>
          <p:cNvPr id="25" name="Text 21"/>
          <p:cNvSpPr/>
          <p:nvPr/>
        </p:nvSpPr>
        <p:spPr>
          <a:xfrm>
            <a:off x="8202067" y="2012900"/>
            <a:ext cx="304800" cy="314920"/>
          </a:xfrm>
          <a:custGeom>
            <a:avLst/>
            <a:gdLst/>
            <a:ahLst/>
            <a:cxnLst/>
            <a:rect l="l" t="t" r="r" b="b"/>
            <a:pathLst>
              <a:path w="304800" h="314920">
                <a:moveTo>
                  <a:pt x="152400" y="0"/>
                </a:moveTo>
                <a:lnTo>
                  <a:pt x="152400" y="0"/>
                </a:lnTo>
                <a:arcTo hR="152400" wR="152400" stAng="16200000" swAng="5400000"/>
                <a:lnTo>
                  <a:pt x="304800" y="162520"/>
                </a:lnTo>
                <a:arcTo hR="152400" wR="152400" stAng="0" swAng="5400000"/>
                <a:lnTo>
                  <a:pt x="152400" y="314920"/>
                </a:lnTo>
                <a:arcTo hR="152400" wR="152400" stAng="5400000" swAng="5400000"/>
                <a:lnTo>
                  <a:pt x="0" y="152400"/>
                </a:lnTo>
                <a:arcTo hR="152400" wR="152400" stAng="10800000" swAng="5400000"/>
                <a:close/>
              </a:path>
            </a:pathLst>
          </a:custGeom>
          <a:solidFill>
            <a:srgbClr val="B5541C"/>
          </a:solidFill>
          <a:ln/>
        </p:spPr>
        <p:txBody>
          <a:bodyPr wrap="square" lIns="0" tIns="50800" rIns="0" bIns="254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3</a:t>
            </a:r>
            <a:endParaRPr lang="en-US" sz="1200" dirty="0"/>
          </a:p>
        </p:txBody>
      </p:sp>
      <p:pic>
        <p:nvPicPr>
          <p:cNvPr id="26" name="Image 2" descr="Activity">    </p:cNvPr>
          <p:cNvPicPr>
            <a:picLocks noChangeAspect="1"/>
          </p:cNvPicPr>
          <p:nvPr/>
        </p:nvPicPr>
        <p:blipFill>
          <a:blip r:embed="rId3"/>
          <a:srcRect l="0" r="0" t="0" b="0"/>
          <a:stretch/>
        </p:blipFill>
        <p:spPr>
          <a:xfrm>
            <a:off x="8608467" y="2043361"/>
            <a:ext cx="254000" cy="254000"/>
          </a:xfrm>
          <a:prstGeom prst="rect">
            <a:avLst/>
          </a:prstGeom>
        </p:spPr>
      </p:pic>
      <p:sp>
        <p:nvSpPr>
          <p:cNvPr id="27" name="Text 22"/>
          <p:cNvSpPr/>
          <p:nvPr/>
        </p:nvSpPr>
        <p:spPr>
          <a:xfrm>
            <a:off x="8202067" y="2467521"/>
            <a:ext cx="3056560"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Health and innovation stations</a:t>
            </a:r>
            <a:endParaRPr lang="en-US" sz="1600" dirty="0"/>
          </a:p>
        </p:txBody>
      </p:sp>
      <p:sp>
        <p:nvSpPr>
          <p:cNvPr id="28" name="Text 23"/>
          <p:cNvSpPr/>
          <p:nvPr/>
        </p:nvSpPr>
        <p:spPr>
          <a:xfrm>
            <a:off x="8202067" y="3094881"/>
            <a:ext cx="30565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Self-service health stations</a:t>
            </a:r>
            <a:endParaRPr lang="en-US" sz="1300" dirty="0"/>
          </a:p>
        </p:txBody>
      </p:sp>
      <p:sp>
        <p:nvSpPr>
          <p:cNvPr id="29" name="Text 24"/>
          <p:cNvSpPr/>
          <p:nvPr/>
        </p:nvSpPr>
        <p:spPr>
          <a:xfrm>
            <a:off x="8202067" y="335141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Weight, height and blood pressure, synced to LidlHealth</a:t>
            </a:r>
            <a:endParaRPr lang="en-US" sz="1200" dirty="0"/>
          </a:p>
        </p:txBody>
      </p:sp>
      <p:sp>
        <p:nvSpPr>
          <p:cNvPr id="30" name="Text 25"/>
          <p:cNvSpPr/>
          <p:nvPr/>
        </p:nvSpPr>
        <p:spPr>
          <a:xfrm>
            <a:off x="8202067" y="3917752"/>
            <a:ext cx="30565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640"/>
                </a:solidFill>
                <a:latin typeface="DM Sans" pitchFamily="34" charset="0"/>
                <a:ea typeface="DM Sans" pitchFamily="34" charset="-122"/>
                <a:cs typeface="DM Sans" pitchFamily="34" charset="-120"/>
              </a:rPr>
              <a:t>Customer Health Lab</a:t>
            </a:r>
            <a:endParaRPr lang="en-US" sz="1300" dirty="0"/>
          </a:p>
        </p:txBody>
      </p:sp>
      <p:sp>
        <p:nvSpPr>
          <p:cNvPr id="31" name="Text 26"/>
          <p:cNvSpPr/>
          <p:nvPr/>
        </p:nvSpPr>
        <p:spPr>
          <a:xfrm>
            <a:off x="8202067" y="4174282"/>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Shoppers vote on and co-create healthier products</a:t>
            </a:r>
            <a:endParaRPr lang="en-US" sz="1200" dirty="0"/>
          </a:p>
        </p:txBody>
      </p:sp>
      <p:sp>
        <p:nvSpPr>
          <p:cNvPr id="32" name="Text 27"/>
          <p:cNvSpPr/>
          <p:nvPr/>
        </p:nvSpPr>
        <p:spPr>
          <a:xfrm>
            <a:off x="8202067" y="4740622"/>
            <a:ext cx="809179" cy="314920"/>
          </a:xfrm>
          <a:prstGeom prst="roundRect">
            <a:avLst>
              <a:gd name="adj" fmla="val 50000"/>
            </a:avLst>
          </a:prstGeom>
          <a:solidFill>
            <a:srgbClr val="FBEDE4"/>
          </a:solidFill>
          <a:ln/>
        </p:spPr>
        <p:txBody>
          <a:bodyPr wrap="none" lIns="0" tIns="0" rIns="0" bIns="0" rtlCol="0" anchor="ctr">
            <a:normAutofit/>
          </a:bodyPr>
          <a:lstStyle/>
          <a:p>
            <a:pPr algn="ctr" indent="0" marL="0">
              <a:lnSpc>
                <a:spcPts val="1680"/>
              </a:lnSpc>
              <a:buNone/>
            </a:pPr>
            <a:r>
              <a:rPr lang="en-US" sz="1200" b="1" dirty="0">
                <a:solidFill>
                  <a:srgbClr val="B5541C"/>
                </a:solidFill>
                <a:latin typeface="DM Sans" pitchFamily="34" charset="0"/>
                <a:ea typeface="DM Sans" pitchFamily="34" charset="-122"/>
                <a:cs typeface="DM Sans" pitchFamily="34" charset="-120"/>
              </a:rPr>
              <a:t>Measure</a:t>
            </a:r>
            <a:endParaRPr lang="en-US" sz="1200" dirty="0"/>
          </a:p>
        </p:txBody>
      </p:sp>
      <p:sp>
        <p:nvSpPr>
          <p:cNvPr id="33" name="Text 28"/>
          <p:cNvSpPr/>
          <p:nvPr/>
        </p:nvSpPr>
        <p:spPr>
          <a:xfrm>
            <a:off x="9062045" y="4740622"/>
            <a:ext cx="541834" cy="314920"/>
          </a:xfrm>
          <a:prstGeom prst="roundRect">
            <a:avLst>
              <a:gd name="adj" fmla="val 50000"/>
            </a:avLst>
          </a:prstGeom>
          <a:solidFill>
            <a:srgbClr val="FBEDE4"/>
          </a:solidFill>
          <a:ln/>
        </p:spPr>
        <p:txBody>
          <a:bodyPr wrap="none" lIns="0" tIns="0" rIns="0" bIns="0" rtlCol="0" anchor="ctr">
            <a:normAutofit/>
          </a:bodyPr>
          <a:lstStyle/>
          <a:p>
            <a:pPr algn="ctr" indent="0" marL="0">
              <a:lnSpc>
                <a:spcPts val="1680"/>
              </a:lnSpc>
              <a:buNone/>
            </a:pPr>
            <a:r>
              <a:rPr lang="en-US" sz="1200" b="1" dirty="0">
                <a:solidFill>
                  <a:srgbClr val="B5541C"/>
                </a:solidFill>
                <a:latin typeface="DM Sans" pitchFamily="34" charset="0"/>
                <a:ea typeface="DM Sans" pitchFamily="34" charset="-122"/>
                <a:cs typeface="DM Sans" pitchFamily="34" charset="-120"/>
              </a:rPr>
              <a:t>Sync</a:t>
            </a:r>
            <a:endParaRPr lang="en-US" sz="1200" dirty="0"/>
          </a:p>
        </p:txBody>
      </p:sp>
      <p:sp>
        <p:nvSpPr>
          <p:cNvPr id="34" name="Text 29"/>
          <p:cNvSpPr/>
          <p:nvPr/>
        </p:nvSpPr>
        <p:spPr>
          <a:xfrm>
            <a:off x="9654679" y="4740622"/>
            <a:ext cx="488107" cy="314920"/>
          </a:xfrm>
          <a:prstGeom prst="roundRect">
            <a:avLst>
              <a:gd name="adj" fmla="val 50000"/>
            </a:avLst>
          </a:prstGeom>
          <a:solidFill>
            <a:srgbClr val="FBEDE4"/>
          </a:solidFill>
          <a:ln/>
        </p:spPr>
        <p:txBody>
          <a:bodyPr wrap="none" lIns="0" tIns="0" rIns="0" bIns="0" rtlCol="0" anchor="ctr">
            <a:normAutofit/>
          </a:bodyPr>
          <a:lstStyle/>
          <a:p>
            <a:pPr algn="ctr" indent="0" marL="0">
              <a:lnSpc>
                <a:spcPts val="1680"/>
              </a:lnSpc>
              <a:buNone/>
            </a:pPr>
            <a:r>
              <a:rPr lang="en-US" sz="1200" b="1" dirty="0">
                <a:solidFill>
                  <a:srgbClr val="B5541C"/>
                </a:solidFill>
                <a:latin typeface="DM Sans" pitchFamily="34" charset="0"/>
                <a:ea typeface="DM Sans" pitchFamily="34" charset="-122"/>
                <a:cs typeface="DM Sans" pitchFamily="34" charset="-120"/>
              </a:rPr>
              <a:t>Plan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BEYOND SHOPPING</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Supermarkets as community health hubs</a:t>
            </a:r>
            <a:endParaRPr lang="en-US" sz="3200" dirty="0"/>
          </a:p>
        </p:txBody>
      </p:sp>
      <p:sp>
        <p:nvSpPr>
          <p:cNvPr id="4" name="Shape 2"/>
          <p:cNvSpPr/>
          <p:nvPr/>
        </p:nvSpPr>
        <p:spPr>
          <a:xfrm>
            <a:off x="815975" y="1806575"/>
            <a:ext cx="3380284" cy="2861022"/>
          </a:xfrm>
          <a:prstGeom prst="roundRect">
            <a:avLst>
              <a:gd name="adj" fmla="val 5216"/>
            </a:avLst>
          </a:prstGeom>
          <a:solidFill>
            <a:srgbClr val="FDFCFF"/>
          </a:solidFill>
          <a:ln w="6350">
            <a:solidFill>
              <a:srgbClr val="E2DEF3"/>
            </a:solidFill>
            <a:prstDash val="solid"/>
          </a:ln>
        </p:spPr>
      </p:sp>
      <p:sp>
        <p:nvSpPr>
          <p:cNvPr id="5" name="Shape 3"/>
          <p:cNvSpPr/>
          <p:nvPr/>
        </p:nvSpPr>
        <p:spPr>
          <a:xfrm>
            <a:off x="819150" y="1809750"/>
            <a:ext cx="3373934" cy="609600"/>
          </a:xfrm>
          <a:custGeom>
            <a:avLst/>
            <a:gdLst/>
            <a:ahLst/>
            <a:cxnLst/>
            <a:rect l="l" t="t" r="r" b="b"/>
            <a:pathLst>
              <a:path w="3373934" h="609600">
                <a:moveTo>
                  <a:pt x="0" y="146050"/>
                </a:moveTo>
                <a:arcTo hR="146050" wR="146050" stAng="10800000" swAng="5400000"/>
                <a:lnTo>
                  <a:pt x="3227884" y="0"/>
                </a:lnTo>
                <a:arcTo hR="146050" wR="146050" stAng="16200000" swAng="5400000"/>
                <a:lnTo>
                  <a:pt x="3373934" y="609600"/>
                </a:lnTo>
                <a:lnTo>
                  <a:pt x="0" y="609600"/>
                </a:lnTo>
                <a:close/>
              </a:path>
            </a:pathLst>
          </a:custGeom>
          <a:gradFill rotWithShape="1">
            <a:gsLst>
              <a:gs pos="0">
                <a:srgbClr val="1F7A52"/>
              </a:gs>
              <a:gs pos="100000">
                <a:srgbClr val="2E9E6B"/>
              </a:gs>
            </a:gsLst>
            <a:lin ang="2700000" scaled="0"/>
          </a:gradFill>
          <a:ln/>
        </p:spPr>
      </p:sp>
      <p:pic>
        <p:nvPicPr>
          <p:cNvPr id="6" name="Image 0" descr="Home">    </p:cNvPr>
          <p:cNvPicPr>
            <a:picLocks noChangeAspect="1"/>
          </p:cNvPicPr>
          <p:nvPr/>
        </p:nvPicPr>
        <p:blipFill>
          <a:blip r:embed="rId1"/>
          <a:srcRect l="0" r="0" t="0" b="0"/>
          <a:stretch/>
        </p:blipFill>
        <p:spPr>
          <a:xfrm>
            <a:off x="1022350" y="1962150"/>
            <a:ext cx="304800" cy="304800"/>
          </a:xfrm>
          <a:prstGeom prst="rect">
            <a:avLst/>
          </a:prstGeom>
        </p:spPr>
      </p:pic>
      <p:sp>
        <p:nvSpPr>
          <p:cNvPr id="7" name="Text 4"/>
          <p:cNvSpPr/>
          <p:nvPr/>
        </p:nvSpPr>
        <p:spPr>
          <a:xfrm>
            <a:off x="2999482" y="1969790"/>
            <a:ext cx="990402" cy="289520"/>
          </a:xfrm>
          <a:custGeom>
            <a:avLst/>
            <a:gdLst/>
            <a:ahLst/>
            <a:cxnLst/>
            <a:rect l="l" t="t" r="r" b="b"/>
            <a:pathLst>
              <a:path w="990402" h="289520">
                <a:moveTo>
                  <a:pt x="144760" y="0"/>
                </a:moveTo>
                <a:lnTo>
                  <a:pt x="845641" y="0"/>
                </a:lnTo>
                <a:arcTo hR="144760" wR="144760" stAng="16200000" swAng="5400000"/>
                <a:lnTo>
                  <a:pt x="99040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F4EC"/>
          </a:solidFill>
          <a:ln/>
        </p:spPr>
        <p:txBody>
          <a:bodyPr wrap="none" lIns="0" tIns="0" rIns="0" bIns="0" rtlCol="0" anchor="ctr">
            <a:normAutofit/>
          </a:bodyPr>
          <a:lstStyle/>
          <a:p>
            <a:pPr algn="ctr" indent="0" marL="0">
              <a:lnSpc>
                <a:spcPts val="1680"/>
              </a:lnSpc>
              <a:buNone/>
            </a:pPr>
            <a:r>
              <a:rPr lang="en-US" sz="1200" b="1" dirty="0">
                <a:solidFill>
                  <a:srgbClr val="14102E"/>
                </a:solidFill>
                <a:latin typeface="DM Sans" pitchFamily="34" charset="0"/>
                <a:ea typeface="DM Sans" pitchFamily="34" charset="-122"/>
                <a:cs typeface="DM Sans" pitchFamily="34" charset="-120"/>
              </a:rPr>
              <a:t>Daily 18:00</a:t>
            </a:r>
            <a:endParaRPr lang="en-US" sz="1200" dirty="0"/>
          </a:p>
        </p:txBody>
      </p:sp>
      <p:sp>
        <p:nvSpPr>
          <p:cNvPr id="8" name="Text 5"/>
          <p:cNvSpPr/>
          <p:nvPr/>
        </p:nvSpPr>
        <p:spPr>
          <a:xfrm>
            <a:off x="1022350" y="2597150"/>
            <a:ext cx="30565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Healthy Hour</a:t>
            </a:r>
            <a:endParaRPr lang="en-US" sz="1600" dirty="0"/>
          </a:p>
        </p:txBody>
      </p:sp>
      <p:sp>
        <p:nvSpPr>
          <p:cNvPr id="9" name="Text 6"/>
          <p:cNvSpPr/>
          <p:nvPr/>
        </p:nvSpPr>
        <p:spPr>
          <a:xfrm>
            <a:off x="1022350" y="291718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52"/>
                </a:solidFill>
                <a:latin typeface="DM Sans" pitchFamily="34" charset="0"/>
                <a:ea typeface="DM Sans" pitchFamily="34" charset="-122"/>
                <a:cs typeface="DM Sans" pitchFamily="34" charset="-120"/>
              </a:rPr>
              <a:t>From food waste to community meals</a:t>
            </a:r>
            <a:endParaRPr lang="en-US" sz="1200" dirty="0"/>
          </a:p>
        </p:txBody>
      </p:sp>
      <p:sp>
        <p:nvSpPr>
          <p:cNvPr id="10" name="Text 7"/>
          <p:cNvSpPr/>
          <p:nvPr/>
        </p:nvSpPr>
        <p:spPr>
          <a:xfrm>
            <a:off x="1121156" y="3206700"/>
            <a:ext cx="2950134"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Surplus fresh produce becomes free, supervised cooking sessions</a:t>
            </a:r>
            <a:endParaRPr lang="en-US" sz="1200" dirty="0"/>
          </a:p>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Healthy eating, social contact and less waste in one</a:t>
            </a:r>
            <a:endParaRPr lang="en-US" sz="1200" dirty="0"/>
          </a:p>
        </p:txBody>
      </p:sp>
      <p:sp>
        <p:nvSpPr>
          <p:cNvPr id="11" name="Shape 8"/>
          <p:cNvSpPr/>
          <p:nvPr/>
        </p:nvSpPr>
        <p:spPr>
          <a:xfrm>
            <a:off x="4405809" y="1806575"/>
            <a:ext cx="3380333" cy="2861022"/>
          </a:xfrm>
          <a:prstGeom prst="roundRect">
            <a:avLst>
              <a:gd name="adj" fmla="val 5216"/>
            </a:avLst>
          </a:prstGeom>
          <a:solidFill>
            <a:srgbClr val="FDFCFF"/>
          </a:solidFill>
          <a:ln w="6350">
            <a:solidFill>
              <a:srgbClr val="E2DEF3"/>
            </a:solidFill>
            <a:prstDash val="solid"/>
          </a:ln>
        </p:spPr>
      </p:sp>
      <p:sp>
        <p:nvSpPr>
          <p:cNvPr id="12" name="Shape 9"/>
          <p:cNvSpPr/>
          <p:nvPr/>
        </p:nvSpPr>
        <p:spPr>
          <a:xfrm>
            <a:off x="4408984" y="1809750"/>
            <a:ext cx="3373983" cy="609600"/>
          </a:xfrm>
          <a:custGeom>
            <a:avLst/>
            <a:gdLst/>
            <a:ahLst/>
            <a:cxnLst/>
            <a:rect l="l" t="t" r="r" b="b"/>
            <a:pathLst>
              <a:path w="3373983" h="609600">
                <a:moveTo>
                  <a:pt x="0" y="146050"/>
                </a:moveTo>
                <a:arcTo hR="146050" wR="146050" stAng="10800000" swAng="5400000"/>
                <a:lnTo>
                  <a:pt x="3227933" y="0"/>
                </a:lnTo>
                <a:arcTo hR="146050" wR="146050" stAng="16200000" swAng="5400000"/>
                <a:lnTo>
                  <a:pt x="3373983" y="609600"/>
                </a:lnTo>
                <a:lnTo>
                  <a:pt x="0" y="609600"/>
                </a:lnTo>
                <a:close/>
              </a:path>
            </a:pathLst>
          </a:custGeom>
          <a:gradFill rotWithShape="1">
            <a:gsLst>
              <a:gs pos="0">
                <a:srgbClr val="5B4BDB"/>
              </a:gs>
              <a:gs pos="100000">
                <a:srgbClr val="7A6CF0"/>
              </a:gs>
            </a:gsLst>
            <a:lin ang="2700000" scaled="0"/>
          </a:gradFill>
          <a:ln/>
        </p:spPr>
      </p:sp>
      <p:pic>
        <p:nvPicPr>
          <p:cNvPr id="13" name="Image 1" descr="Activity">    </p:cNvPr>
          <p:cNvPicPr>
            <a:picLocks noChangeAspect="1"/>
          </p:cNvPicPr>
          <p:nvPr/>
        </p:nvPicPr>
        <p:blipFill>
          <a:blip r:embed="rId2"/>
          <a:srcRect l="0" r="0" t="0" b="0"/>
          <a:stretch/>
        </p:blipFill>
        <p:spPr>
          <a:xfrm>
            <a:off x="4612184" y="1962150"/>
            <a:ext cx="304800" cy="304800"/>
          </a:xfrm>
          <a:prstGeom prst="rect">
            <a:avLst/>
          </a:prstGeom>
        </p:spPr>
      </p:pic>
      <p:sp>
        <p:nvSpPr>
          <p:cNvPr id="14" name="Text 10"/>
          <p:cNvSpPr/>
          <p:nvPr/>
        </p:nvSpPr>
        <p:spPr>
          <a:xfrm>
            <a:off x="6486178" y="1969790"/>
            <a:ext cx="1093589" cy="289520"/>
          </a:xfrm>
          <a:custGeom>
            <a:avLst/>
            <a:gdLst/>
            <a:ahLst/>
            <a:cxnLst/>
            <a:rect l="l" t="t" r="r" b="b"/>
            <a:pathLst>
              <a:path w="1093589" h="289520">
                <a:moveTo>
                  <a:pt x="144760" y="0"/>
                </a:moveTo>
                <a:lnTo>
                  <a:pt x="948829" y="0"/>
                </a:lnTo>
                <a:arcTo hR="144760" wR="144760" stAng="16200000" swAng="5400000"/>
                <a:lnTo>
                  <a:pt x="1093589" y="144760"/>
                </a:lnTo>
                <a:arcTo hR="144760" wR="144760" stAng="0" swAng="5400000"/>
                <a:lnTo>
                  <a:pt x="144760" y="289520"/>
                </a:lnTo>
                <a:arcTo hR="144760" wR="144760" stAng="5400000" swAng="5400000"/>
                <a:lnTo>
                  <a:pt x="0" y="144760"/>
                </a:lnTo>
                <a:arcTo hR="144760" wR="144760" stAng="10800000" swAng="5400000"/>
                <a:close/>
              </a:path>
            </a:pathLst>
          </a:custGeom>
          <a:solidFill>
            <a:srgbClr val="EEEBFB"/>
          </a:solidFill>
          <a:ln/>
        </p:spPr>
        <p:txBody>
          <a:bodyPr wrap="none" lIns="0" tIns="0" rIns="0" bIns="0" rtlCol="0" anchor="ctr">
            <a:normAutofit/>
          </a:bodyPr>
          <a:lstStyle/>
          <a:p>
            <a:pPr algn="ctr" indent="0" marL="0">
              <a:lnSpc>
                <a:spcPts val="1680"/>
              </a:lnSpc>
              <a:buNone/>
            </a:pPr>
            <a:r>
              <a:rPr lang="en-US" sz="1200" b="1" dirty="0">
                <a:solidFill>
                  <a:srgbClr val="14102E"/>
                </a:solidFill>
                <a:latin typeface="DM Sans" pitchFamily="34" charset="0"/>
                <a:ea typeface="DM Sans" pitchFamily="34" charset="-122"/>
                <a:cs typeface="DM Sans" pitchFamily="34" charset="-120"/>
              </a:rPr>
              <a:t>Weekly, free</a:t>
            </a:r>
            <a:endParaRPr lang="en-US" sz="1200" dirty="0"/>
          </a:p>
        </p:txBody>
      </p:sp>
      <p:sp>
        <p:nvSpPr>
          <p:cNvPr id="15" name="Text 11"/>
          <p:cNvSpPr/>
          <p:nvPr/>
        </p:nvSpPr>
        <p:spPr>
          <a:xfrm>
            <a:off x="4612184" y="2597150"/>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Move with Lidl</a:t>
            </a:r>
            <a:endParaRPr lang="en-US" sz="1600" dirty="0"/>
          </a:p>
        </p:txBody>
      </p:sp>
      <p:sp>
        <p:nvSpPr>
          <p:cNvPr id="16" name="Text 12"/>
          <p:cNvSpPr/>
          <p:nvPr/>
        </p:nvSpPr>
        <p:spPr>
          <a:xfrm>
            <a:off x="4612184" y="2917180"/>
            <a:ext cx="30566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BDB"/>
                </a:solidFill>
                <a:latin typeface="DM Sans" pitchFamily="34" charset="0"/>
                <a:ea typeface="DM Sans" pitchFamily="34" charset="-122"/>
                <a:cs typeface="DM Sans" pitchFamily="34" charset="-120"/>
              </a:rPr>
              <a:t>Fitness for everyone</a:t>
            </a:r>
            <a:endParaRPr lang="en-US" sz="1200" dirty="0"/>
          </a:p>
        </p:txBody>
      </p:sp>
      <p:sp>
        <p:nvSpPr>
          <p:cNvPr id="17" name="Text 13"/>
          <p:cNvSpPr/>
          <p:nvPr/>
        </p:nvSpPr>
        <p:spPr>
          <a:xfrm>
            <a:off x="4710990" y="3206700"/>
            <a:ext cx="2950185" cy="130532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Yoga, fitness and wellbeing sessions with local instructors</a:t>
            </a:r>
            <a:endParaRPr lang="en-US" sz="1200" dirty="0"/>
          </a:p>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Walking routes and outdoor zones starting at the store</a:t>
            </a:r>
            <a:endParaRPr lang="en-US" sz="1200" dirty="0"/>
          </a:p>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Pay for groceries with healthy actions, not money</a:t>
            </a:r>
            <a:endParaRPr lang="en-US" sz="1200" dirty="0"/>
          </a:p>
        </p:txBody>
      </p:sp>
      <p:sp>
        <p:nvSpPr>
          <p:cNvPr id="18" name="Shape 14"/>
          <p:cNvSpPr/>
          <p:nvPr/>
        </p:nvSpPr>
        <p:spPr>
          <a:xfrm>
            <a:off x="7995692" y="1806575"/>
            <a:ext cx="3380284" cy="2861022"/>
          </a:xfrm>
          <a:prstGeom prst="roundRect">
            <a:avLst>
              <a:gd name="adj" fmla="val 5216"/>
            </a:avLst>
          </a:prstGeom>
          <a:solidFill>
            <a:srgbClr val="FDFCFF"/>
          </a:solidFill>
          <a:ln w="6350">
            <a:solidFill>
              <a:srgbClr val="E2DEF3"/>
            </a:solidFill>
            <a:prstDash val="solid"/>
          </a:ln>
        </p:spPr>
      </p:sp>
      <p:sp>
        <p:nvSpPr>
          <p:cNvPr id="19" name="Shape 15"/>
          <p:cNvSpPr/>
          <p:nvPr/>
        </p:nvSpPr>
        <p:spPr>
          <a:xfrm>
            <a:off x="7998867" y="1809750"/>
            <a:ext cx="3373934" cy="609600"/>
          </a:xfrm>
          <a:custGeom>
            <a:avLst/>
            <a:gdLst/>
            <a:ahLst/>
            <a:cxnLst/>
            <a:rect l="l" t="t" r="r" b="b"/>
            <a:pathLst>
              <a:path w="3373934" h="609600">
                <a:moveTo>
                  <a:pt x="0" y="146050"/>
                </a:moveTo>
                <a:arcTo hR="146050" wR="146050" stAng="10800000" swAng="5400000"/>
                <a:lnTo>
                  <a:pt x="3227884" y="0"/>
                </a:lnTo>
                <a:arcTo hR="146050" wR="146050" stAng="16200000" swAng="5400000"/>
                <a:lnTo>
                  <a:pt x="3373934" y="609600"/>
                </a:lnTo>
                <a:lnTo>
                  <a:pt x="0" y="609600"/>
                </a:lnTo>
                <a:close/>
              </a:path>
            </a:pathLst>
          </a:custGeom>
          <a:gradFill rotWithShape="1">
            <a:gsLst>
              <a:gs pos="0">
                <a:srgbClr val="B5541C"/>
              </a:gs>
              <a:gs pos="100000">
                <a:srgbClr val="D6773A"/>
              </a:gs>
            </a:gsLst>
            <a:lin ang="2700000" scaled="0"/>
          </a:gradFill>
          <a:ln/>
        </p:spPr>
      </p:sp>
      <p:pic>
        <p:nvPicPr>
          <p:cNvPr id="20" name="Image 2" descr="Star">    </p:cNvPr>
          <p:cNvPicPr>
            <a:picLocks noChangeAspect="1"/>
          </p:cNvPicPr>
          <p:nvPr/>
        </p:nvPicPr>
        <p:blipFill>
          <a:blip r:embed="rId3"/>
          <a:srcRect l="0" r="0" t="0" b="0"/>
          <a:stretch/>
        </p:blipFill>
        <p:spPr>
          <a:xfrm>
            <a:off x="8202067" y="1962150"/>
            <a:ext cx="304800" cy="304800"/>
          </a:xfrm>
          <a:prstGeom prst="rect">
            <a:avLst/>
          </a:prstGeom>
        </p:spPr>
      </p:pic>
      <p:sp>
        <p:nvSpPr>
          <p:cNvPr id="21" name="Text 16"/>
          <p:cNvSpPr/>
          <p:nvPr/>
        </p:nvSpPr>
        <p:spPr>
          <a:xfrm>
            <a:off x="10087372" y="1969790"/>
            <a:ext cx="1082229" cy="289520"/>
          </a:xfrm>
          <a:custGeom>
            <a:avLst/>
            <a:gdLst/>
            <a:ahLst/>
            <a:cxnLst/>
            <a:rect l="l" t="t" r="r" b="b"/>
            <a:pathLst>
              <a:path w="1082229" h="289520">
                <a:moveTo>
                  <a:pt x="144760" y="0"/>
                </a:moveTo>
                <a:lnTo>
                  <a:pt x="937468" y="0"/>
                </a:lnTo>
                <a:arcTo hR="144760" wR="144760" stAng="16200000" swAng="5400000"/>
                <a:lnTo>
                  <a:pt x="1082229" y="144760"/>
                </a:lnTo>
                <a:arcTo hR="144760" wR="144760" stAng="0" swAng="5400000"/>
                <a:lnTo>
                  <a:pt x="144760" y="289520"/>
                </a:lnTo>
                <a:arcTo hR="144760" wR="144760" stAng="5400000" swAng="5400000"/>
                <a:lnTo>
                  <a:pt x="0" y="144760"/>
                </a:lnTo>
                <a:arcTo hR="144760" wR="144760" stAng="10800000" swAng="5400000"/>
                <a:close/>
              </a:path>
            </a:pathLst>
          </a:custGeom>
          <a:solidFill>
            <a:srgbClr val="FBEDE4"/>
          </a:solidFill>
          <a:ln/>
        </p:spPr>
        <p:txBody>
          <a:bodyPr wrap="none" lIns="0" tIns="0" rIns="0" bIns="0" rtlCol="0" anchor="ctr">
            <a:normAutofit/>
          </a:bodyPr>
          <a:lstStyle/>
          <a:p>
            <a:pPr algn="ctr" indent="0" marL="0">
              <a:lnSpc>
                <a:spcPts val="1680"/>
              </a:lnSpc>
              <a:buNone/>
            </a:pPr>
            <a:r>
              <a:rPr lang="en-US" sz="1200" b="1" dirty="0">
                <a:solidFill>
                  <a:srgbClr val="14102E"/>
                </a:solidFill>
                <a:latin typeface="DM Sans" pitchFamily="34" charset="0"/>
                <a:ea typeface="DM Sans" pitchFamily="34" charset="-122"/>
                <a:cs typeface="DM Sans" pitchFamily="34" charset="-120"/>
              </a:rPr>
              <a:t>Earn credits</a:t>
            </a:r>
            <a:endParaRPr lang="en-US" sz="1200" dirty="0"/>
          </a:p>
        </p:txBody>
      </p:sp>
      <p:sp>
        <p:nvSpPr>
          <p:cNvPr id="22" name="Text 17"/>
          <p:cNvSpPr/>
          <p:nvPr/>
        </p:nvSpPr>
        <p:spPr>
          <a:xfrm>
            <a:off x="8202067" y="2597150"/>
            <a:ext cx="30565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640"/>
                </a:solidFill>
                <a:latin typeface="DM Sans" pitchFamily="34" charset="0"/>
                <a:ea typeface="DM Sans" pitchFamily="34" charset="-122"/>
                <a:cs typeface="DM Sans" pitchFamily="34" charset="-120"/>
              </a:rPr>
              <a:t>Lidl Life Exchange</a:t>
            </a:r>
            <a:endParaRPr lang="en-US" sz="1600" dirty="0"/>
          </a:p>
        </p:txBody>
      </p:sp>
      <p:sp>
        <p:nvSpPr>
          <p:cNvPr id="23" name="Text 18"/>
          <p:cNvSpPr/>
          <p:nvPr/>
        </p:nvSpPr>
        <p:spPr>
          <a:xfrm>
            <a:off x="8202067" y="291718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41C"/>
                </a:solidFill>
                <a:latin typeface="DM Sans" pitchFamily="34" charset="0"/>
                <a:ea typeface="DM Sans" pitchFamily="34" charset="-122"/>
                <a:cs typeface="DM Sans" pitchFamily="34" charset="-120"/>
              </a:rPr>
              <a:t>Healthy actions become rewards</a:t>
            </a:r>
            <a:endParaRPr lang="en-US" sz="1200" dirty="0"/>
          </a:p>
        </p:txBody>
      </p:sp>
      <p:sp>
        <p:nvSpPr>
          <p:cNvPr id="24" name="Text 19"/>
          <p:cNvSpPr/>
          <p:nvPr/>
        </p:nvSpPr>
        <p:spPr>
          <a:xfrm>
            <a:off x="8300873" y="3206700"/>
            <a:ext cx="2950134"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Grocery credits for walks, workouts and cooking classes</a:t>
            </a:r>
            <a:endParaRPr lang="en-US" sz="1200" dirty="0"/>
          </a:p>
          <a:p>
            <a:pPr algn="l" marL="155194" indent="-155194">
              <a:lnSpc>
                <a:spcPts val="1680"/>
              </a:lnSpc>
              <a:buSzPct val="100000"/>
              <a:buChar char="•"/>
            </a:pPr>
            <a:r>
              <a:rPr lang="en-US" sz="1200" dirty="0">
                <a:solidFill>
                  <a:srgbClr val="5A5675"/>
                </a:solidFill>
                <a:latin typeface="DM Sans" pitchFamily="34" charset="0"/>
                <a:ea typeface="DM Sans" pitchFamily="34" charset="-122"/>
                <a:cs typeface="DM Sans" pitchFamily="34" charset="-120"/>
              </a:rPr>
              <a:t>Funded by insurers, municipalities and employers</a:t>
            </a:r>
            <a:endParaRPr lang="en-US" sz="1200" dirty="0"/>
          </a:p>
        </p:txBody>
      </p:sp>
      <p:sp>
        <p:nvSpPr>
          <p:cNvPr id="25" name="Shape 20"/>
          <p:cNvSpPr/>
          <p:nvPr/>
        </p:nvSpPr>
        <p:spPr>
          <a:xfrm>
            <a:off x="812800" y="4495800"/>
            <a:ext cx="10566400" cy="819150"/>
          </a:xfrm>
          <a:prstGeom prst="roundRect">
            <a:avLst>
              <a:gd name="adj" fmla="val 18605"/>
            </a:avLst>
          </a:prstGeom>
          <a:solidFill>
            <a:srgbClr val="1C1640"/>
          </a:solidFill>
          <a:ln/>
        </p:spPr>
      </p:sp>
      <p:pic>
        <p:nvPicPr>
          <p:cNvPr id="26" name="Image 3" descr="Lightbulb">    </p:cNvPr>
          <p:cNvPicPr>
            <a:picLocks noChangeAspect="1"/>
          </p:cNvPicPr>
          <p:nvPr/>
        </p:nvPicPr>
        <p:blipFill>
          <a:blip r:embed="rId4"/>
          <a:srcRect l="0" r="0" t="-608" b="-608"/>
          <a:stretch/>
        </p:blipFill>
        <p:spPr>
          <a:xfrm>
            <a:off x="1041400" y="4765675"/>
            <a:ext cx="244673" cy="279400"/>
          </a:xfrm>
          <a:prstGeom prst="rect">
            <a:avLst/>
          </a:prstGeom>
        </p:spPr>
      </p:pic>
      <p:sp>
        <p:nvSpPr>
          <p:cNvPr id="27" name="Text 21"/>
          <p:cNvSpPr/>
          <p:nvPr/>
        </p:nvSpPr>
        <p:spPr>
          <a:xfrm>
            <a:off x="1438473" y="4674245"/>
            <a:ext cx="1000349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5F3FB"/>
                </a:solidFill>
                <a:latin typeface="DM Sans" pitchFamily="34" charset="0"/>
                <a:ea typeface="DM Sans" pitchFamily="34" charset="-122"/>
                <a:cs typeface="DM Sans" pitchFamily="34" charset="-120"/>
              </a:rPr>
              <a:t>Core value:</a:t>
            </a:r>
            <a:r>
              <a:rPr lang="en-US" sz="1400" dirty="0">
                <a:solidFill>
                  <a:srgbClr val="F5F3FB"/>
                </a:solidFill>
                <a:latin typeface="DM Sans" pitchFamily="34" charset="0"/>
                <a:ea typeface="DM Sans" pitchFamily="34" charset="-122"/>
                <a:cs typeface="DM Sans" pitchFamily="34" charset="-120"/>
              </a:rPr>
              <a:t> Schwarz stores become accessible neighbourhood health hubs that connect nutrition, activity, prevention and community.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FB"/>
        </a:solidFill>
      </p:bgPr>
    </p:bg>
    <p:spTree>
      <p:nvGrpSpPr>
        <p:cNvPr id="1" name=""/>
        <p:cNvGrpSpPr/>
        <p:nvPr/>
      </p:nvGrpSpPr>
      <p:grpSpPr>
        <a:xfrm>
          <a:off x="0" y="0"/>
          <a:ext cx="0" cy="0"/>
          <a:chOff x="0" y="0"/>
          <a:chExt cx="0" cy="0"/>
        </a:xfrm>
      </p:grpSpPr>
      <p:sp>
        <p:nvSpPr>
          <p:cNvPr id="2" name="Text 0"/>
          <p:cNvSpPr/>
          <p:nvPr>
            <p:ph type="title"/>
          </p:nvPr>
        </p:nvSpPr>
        <p:spPr>
          <a:xfrm>
            <a:off x="113870" y="369466"/>
            <a:ext cx="11964261" cy="919460"/>
          </a:xfrm>
          <a:prstGeom prst="rect">
            <a:avLst/>
          </a:prstGeom>
          <a:noFill/>
          <a:ln/>
        </p:spPr>
        <p:txBody>
          <a:bodyPr wrap="square" lIns="0" tIns="0" rIns="0" bIns="0" rtlCol="0" anchor="t">
            <a:normAutofit/>
          </a:bodyPr>
          <a:lstStyle/>
          <a:p>
            <a:pPr algn="ctr" indent="0" marL="0">
              <a:lnSpc>
                <a:spcPts val="3520"/>
              </a:lnSpc>
              <a:buNone/>
            </a:pPr>
            <a:r>
              <a:rPr lang="en-US" sz="3200" b="1" i="0" dirty="0">
                <a:solidFill>
                  <a:srgbClr val="141413"/>
                </a:solidFill>
                <a:latin typeface="DM Sans" pitchFamily="34" charset="0"/>
                <a:ea typeface="DM Sans" pitchFamily="34" charset="-122"/>
                <a:cs typeface="DM Sans" pitchFamily="34" charset="-120"/>
              </a:rPr>
              <a:t>"Walk 3,000 steps this week = earn €2 toward your groceries."</a:t>
            </a:r>
            <a:endParaRPr lang="en-US" sz="3200" dirty="0"/>
          </a:p>
        </p:txBody>
      </p:sp>
      <p:pic>
        <p:nvPicPr>
          <p:cNvPr id="3" name="Image 0" descr="Lidl Life Exchange Wellness Activation.png">    </p:cNvPr>
          <p:cNvPicPr>
            <a:picLocks noChangeAspect="1"/>
          </p:cNvPicPr>
          <p:nvPr/>
        </p:nvPicPr>
        <p:blipFill>
          <a:blip r:embed="rId1"/>
          <a:srcRect l="0" r="0" t="5091" b="5091"/>
          <a:stretch/>
        </p:blipFill>
        <p:spPr>
          <a:xfrm>
            <a:off x="1543893" y="1515343"/>
            <a:ext cx="9835307" cy="49717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FB"/>
        </a:solidFill>
      </p:bgPr>
    </p:bg>
    <p:spTree>
      <p:nvGrpSpPr>
        <p:cNvPr id="1" name=""/>
        <p:cNvGrpSpPr/>
        <p:nvPr/>
      </p:nvGrpSpPr>
      <p:grpSpPr>
        <a:xfrm>
          <a:off x="0" y="0"/>
          <a:ext cx="0" cy="0"/>
          <a:chOff x="0" y="0"/>
          <a:chExt cx="0" cy="0"/>
        </a:xfrm>
      </p:grpSpPr>
      <p:sp>
        <p:nvSpPr>
          <p:cNvPr id="2" name="Shape 0"/>
          <p:cNvSpPr/>
          <p:nvPr/>
        </p:nvSpPr>
        <p:spPr>
          <a:xfrm>
            <a:off x="812800" y="812800"/>
            <a:ext cx="2540000" cy="5232400"/>
          </a:xfrm>
          <a:prstGeom prst="roundRect">
            <a:avLst>
              <a:gd name="adj" fmla="val 15000"/>
            </a:avLst>
          </a:prstGeom>
          <a:solidFill>
            <a:srgbClr val="14102E"/>
          </a:solidFill>
          <a:ln/>
        </p:spPr>
      </p:sp>
      <p:sp>
        <p:nvSpPr>
          <p:cNvPr id="3" name="Shape 1"/>
          <p:cNvSpPr/>
          <p:nvPr/>
        </p:nvSpPr>
        <p:spPr>
          <a:xfrm>
            <a:off x="901700" y="901700"/>
            <a:ext cx="2362200" cy="5054600"/>
          </a:xfrm>
          <a:prstGeom prst="roundRect">
            <a:avLst>
              <a:gd name="adj" fmla="val 12903"/>
            </a:avLst>
          </a:prstGeom>
          <a:solidFill>
            <a:srgbClr val="FBFAFE"/>
          </a:solidFill>
          <a:ln/>
        </p:spPr>
      </p:sp>
      <p:sp>
        <p:nvSpPr>
          <p:cNvPr id="4" name="Text 2"/>
          <p:cNvSpPr/>
          <p:nvPr/>
        </p:nvSpPr>
        <p:spPr>
          <a:xfrm>
            <a:off x="1054100" y="1079500"/>
            <a:ext cx="117681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BDB"/>
                </a:solidFill>
                <a:latin typeface="DM Sans" pitchFamily="34" charset="0"/>
                <a:ea typeface="DM Sans" pitchFamily="34" charset="-122"/>
                <a:cs typeface="DM Sans" pitchFamily="34" charset="-120"/>
              </a:rPr>
              <a:t>FoodMatch</a:t>
            </a:r>
            <a:endParaRPr lang="en-US" sz="1400" dirty="0"/>
          </a:p>
        </p:txBody>
      </p:sp>
      <p:pic>
        <p:nvPicPr>
          <p:cNvPr id="5" name="Image 0" descr="Settings">    </p:cNvPr>
          <p:cNvPicPr>
            <a:picLocks noChangeAspect="1"/>
          </p:cNvPicPr>
          <p:nvPr/>
        </p:nvPicPr>
        <p:blipFill>
          <a:blip r:embed="rId1"/>
          <a:srcRect l="0" r="0" t="0" b="0"/>
          <a:stretch/>
        </p:blipFill>
        <p:spPr>
          <a:xfrm>
            <a:off x="2933700" y="1115020"/>
            <a:ext cx="177800" cy="177800"/>
          </a:xfrm>
          <a:prstGeom prst="rect">
            <a:avLst/>
          </a:prstGeom>
        </p:spPr>
      </p:pic>
      <p:sp>
        <p:nvSpPr>
          <p:cNvPr id="6" name="Shape 3"/>
          <p:cNvSpPr/>
          <p:nvPr/>
        </p:nvSpPr>
        <p:spPr>
          <a:xfrm>
            <a:off x="1054100" y="1429990"/>
            <a:ext cx="2057400" cy="2448371"/>
          </a:xfrm>
          <a:prstGeom prst="roundRect">
            <a:avLst>
              <a:gd name="adj" fmla="val 8642"/>
            </a:avLst>
          </a:prstGeom>
          <a:gradFill rotWithShape="1">
            <a:gsLst>
              <a:gs pos="0">
                <a:srgbClr val="7A6CF0"/>
              </a:gs>
              <a:gs pos="55000">
                <a:srgbClr val="5B4BDB"/>
              </a:gs>
              <a:gs pos="100000">
                <a:srgbClr val="2C2460"/>
              </a:gs>
            </a:gsLst>
            <a:lin ang="4200000" scaled="0"/>
          </a:gradFill>
          <a:ln/>
        </p:spPr>
      </p:sp>
      <p:sp>
        <p:nvSpPr>
          <p:cNvPr id="7" name="Text 4"/>
          <p:cNvSpPr/>
          <p:nvPr/>
        </p:nvSpPr>
        <p:spPr>
          <a:xfrm>
            <a:off x="1206500" y="1582390"/>
            <a:ext cx="660400" cy="701030"/>
          </a:xfrm>
          <a:custGeom>
            <a:avLst/>
            <a:gdLst/>
            <a:ahLst/>
            <a:cxnLst/>
            <a:rect l="l" t="t" r="r" b="b"/>
            <a:pathLst>
              <a:path w="660400" h="701030">
                <a:moveTo>
                  <a:pt x="330200" y="0"/>
                </a:moveTo>
                <a:lnTo>
                  <a:pt x="330200" y="0"/>
                </a:lnTo>
                <a:arcTo hR="330200" wR="330200" stAng="16200000" swAng="5400000"/>
                <a:lnTo>
                  <a:pt x="660400" y="370830"/>
                </a:lnTo>
                <a:arcTo hR="330200" wR="330200" stAng="0" swAng="5400000"/>
                <a:lnTo>
                  <a:pt x="330200" y="701030"/>
                </a:lnTo>
                <a:arcTo hR="330200" wR="330200" stAng="5400000" swAng="5400000"/>
                <a:lnTo>
                  <a:pt x="0" y="330200"/>
                </a:lnTo>
                <a:arcTo hR="330200" wR="330200" stAng="10800000" swAng="5400000"/>
                <a:close/>
              </a:path>
            </a:pathLst>
          </a:custGeom>
          <a:solidFill>
            <a:srgbClr val="F5F3FB"/>
          </a:solidFill>
          <a:ln/>
        </p:spPr>
        <p:txBody>
          <a:bodyPr wrap="square" lIns="0" tIns="101600" rIns="0" bIns="76200" rtlCol="0" anchor="t">
            <a:normAutofit/>
          </a:bodyPr>
          <a:lstStyle/>
          <a:p>
            <a:pPr algn="ctr" indent="0" marL="0">
              <a:lnSpc>
                <a:spcPts val="3920"/>
              </a:lnSpc>
              <a:buNone/>
            </a:pPr>
            <a:r>
              <a:rPr lang="en-US" sz="2800" b="1" dirty="0">
                <a:solidFill>
                  <a:srgbClr val="5B4BDB"/>
                </a:solidFill>
                <a:latin typeface="DM Sans" pitchFamily="34" charset="0"/>
                <a:ea typeface="DM Sans" pitchFamily="34" charset="-122"/>
                <a:cs typeface="DM Sans" pitchFamily="34" charset="-120"/>
              </a:rPr>
              <a:t>H</a:t>
            </a:r>
            <a:endParaRPr lang="en-US" sz="2800" dirty="0"/>
          </a:p>
        </p:txBody>
      </p:sp>
      <p:sp>
        <p:nvSpPr>
          <p:cNvPr id="8" name="Text 5"/>
          <p:cNvSpPr/>
          <p:nvPr/>
        </p:nvSpPr>
        <p:spPr>
          <a:xfrm>
            <a:off x="1206500" y="2359620"/>
            <a:ext cx="180517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DFCFF"/>
                </a:solidFill>
                <a:latin typeface="DM Sans" pitchFamily="34" charset="0"/>
                <a:ea typeface="DM Sans" pitchFamily="34" charset="-122"/>
                <a:cs typeface="DM Sans" pitchFamily="34" charset="-120"/>
              </a:rPr>
              <a:t>Helga, 72</a:t>
            </a:r>
            <a:endParaRPr lang="en-US" sz="1600" dirty="0"/>
          </a:p>
        </p:txBody>
      </p:sp>
      <p:sp>
        <p:nvSpPr>
          <p:cNvPr id="9" name="Text 6"/>
          <p:cNvSpPr/>
          <p:nvPr/>
        </p:nvSpPr>
        <p:spPr>
          <a:xfrm>
            <a:off x="1206500" y="2720280"/>
            <a:ext cx="180517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E6F4"/>
                </a:solidFill>
                <a:latin typeface="DM Sans" pitchFamily="34" charset="0"/>
                <a:ea typeface="DM Sans" pitchFamily="34" charset="-122"/>
                <a:cs typeface="DM Sans" pitchFamily="34" charset="-120"/>
              </a:rPr>
              <a:t>Bakes whole-grain bread, loves Sunday walks</a:t>
            </a:r>
            <a:endParaRPr lang="en-US" sz="1200" dirty="0"/>
          </a:p>
        </p:txBody>
      </p:sp>
      <p:sp>
        <p:nvSpPr>
          <p:cNvPr id="10" name="Text 7"/>
          <p:cNvSpPr/>
          <p:nvPr/>
        </p:nvSpPr>
        <p:spPr>
          <a:xfrm>
            <a:off x="1206500" y="3436441"/>
            <a:ext cx="613122" cy="289520"/>
          </a:xfrm>
          <a:custGeom>
            <a:avLst/>
            <a:gdLst/>
            <a:ahLst/>
            <a:cxnLst/>
            <a:rect l="l" t="t" r="r" b="b"/>
            <a:pathLst>
              <a:path w="613122" h="289520">
                <a:moveTo>
                  <a:pt x="144760" y="0"/>
                </a:moveTo>
                <a:lnTo>
                  <a:pt x="468362" y="0"/>
                </a:lnTo>
                <a:arcTo hR="144760" wR="144760" stAng="16200000" swAng="5400000"/>
                <a:lnTo>
                  <a:pt x="613122"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6F4"/>
          </a:solidFill>
          <a:ln/>
        </p:spPr>
        <p:txBody>
          <a:bodyPr wrap="none" lIns="0" tIns="0" rIns="0" bIns="0" rtlCol="0" anchor="ctr">
            <a:normAutofit/>
          </a:bodyPr>
          <a:lstStyle/>
          <a:p>
            <a:pPr algn="ctr" indent="0" marL="0">
              <a:lnSpc>
                <a:spcPts val="1680"/>
              </a:lnSpc>
              <a:buNone/>
            </a:pPr>
            <a:r>
              <a:rPr lang="en-US" sz="1200" dirty="0">
                <a:solidFill>
                  <a:srgbClr val="14102E"/>
                </a:solidFill>
                <a:latin typeface="DM Sans" pitchFamily="34" charset="0"/>
                <a:ea typeface="DM Sans" pitchFamily="34" charset="-122"/>
                <a:cs typeface="DM Sans" pitchFamily="34" charset="-120"/>
              </a:rPr>
              <a:t>Baking</a:t>
            </a:r>
            <a:endParaRPr lang="en-US" sz="1200" dirty="0"/>
          </a:p>
        </p:txBody>
      </p:sp>
      <p:sp>
        <p:nvSpPr>
          <p:cNvPr id="11" name="Text 8"/>
          <p:cNvSpPr/>
          <p:nvPr/>
        </p:nvSpPr>
        <p:spPr>
          <a:xfrm>
            <a:off x="1870422" y="3436441"/>
            <a:ext cx="558254" cy="289520"/>
          </a:xfrm>
          <a:custGeom>
            <a:avLst/>
            <a:gdLst/>
            <a:ahLst/>
            <a:cxnLst/>
            <a:rect l="l" t="t" r="r" b="b"/>
            <a:pathLst>
              <a:path w="558254" h="289520">
                <a:moveTo>
                  <a:pt x="144760" y="0"/>
                </a:moveTo>
                <a:lnTo>
                  <a:pt x="413494" y="0"/>
                </a:lnTo>
                <a:arcTo hR="144760" wR="144760" stAng="16200000" swAng="5400000"/>
                <a:lnTo>
                  <a:pt x="558254"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6F4"/>
          </a:solidFill>
          <a:ln/>
        </p:spPr>
        <p:txBody>
          <a:bodyPr wrap="none" lIns="0" tIns="0" rIns="0" bIns="0" rtlCol="0" anchor="ctr">
            <a:normAutofit/>
          </a:bodyPr>
          <a:lstStyle/>
          <a:p>
            <a:pPr algn="ctr" indent="0" marL="0">
              <a:lnSpc>
                <a:spcPts val="1680"/>
              </a:lnSpc>
              <a:buNone/>
            </a:pPr>
            <a:r>
              <a:rPr lang="en-US" sz="1200" dirty="0">
                <a:solidFill>
                  <a:srgbClr val="14102E"/>
                </a:solidFill>
                <a:latin typeface="DM Sans" pitchFamily="34" charset="0"/>
                <a:ea typeface="DM Sans" pitchFamily="34" charset="-122"/>
                <a:cs typeface="DM Sans" pitchFamily="34" charset="-120"/>
              </a:rPr>
              <a:t>Walks</a:t>
            </a:r>
            <a:endParaRPr lang="en-US" sz="1200" dirty="0"/>
          </a:p>
        </p:txBody>
      </p:sp>
      <p:sp>
        <p:nvSpPr>
          <p:cNvPr id="12" name="Shape 9"/>
          <p:cNvSpPr/>
          <p:nvPr/>
        </p:nvSpPr>
        <p:spPr>
          <a:xfrm>
            <a:off x="1054100" y="3979962"/>
            <a:ext cx="2057400" cy="655241"/>
          </a:xfrm>
          <a:prstGeom prst="roundRect">
            <a:avLst>
              <a:gd name="adj" fmla="val 17444"/>
            </a:avLst>
          </a:prstGeom>
          <a:solidFill>
            <a:srgbClr val="EEEBFB"/>
          </a:solidFill>
          <a:ln/>
        </p:spPr>
      </p:sp>
      <p:sp>
        <p:nvSpPr>
          <p:cNvPr id="13" name="Text 10"/>
          <p:cNvSpPr/>
          <p:nvPr/>
        </p:nvSpPr>
        <p:spPr>
          <a:xfrm>
            <a:off x="1155700" y="4081562"/>
            <a:ext cx="1909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Community dinner</a:t>
            </a:r>
            <a:endParaRPr lang="en-US" sz="1200" dirty="0"/>
          </a:p>
        </p:txBody>
      </p:sp>
      <p:sp>
        <p:nvSpPr>
          <p:cNvPr id="14" name="Text 11"/>
          <p:cNvSpPr/>
          <p:nvPr/>
        </p:nvSpPr>
        <p:spPr>
          <a:xfrm>
            <a:off x="1155700" y="4320282"/>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Thu 18:30 · your Kaufland</a:t>
            </a:r>
            <a:endParaRPr lang="en-US" sz="1200" dirty="0"/>
          </a:p>
        </p:txBody>
      </p:sp>
      <p:sp>
        <p:nvSpPr>
          <p:cNvPr id="15" name="Text 12"/>
          <p:cNvSpPr/>
          <p:nvPr/>
        </p:nvSpPr>
        <p:spPr>
          <a:xfrm>
            <a:off x="1060450" y="5342930"/>
            <a:ext cx="990600" cy="429220"/>
          </a:xfrm>
          <a:custGeom>
            <a:avLst/>
            <a:gdLst/>
            <a:ahLst/>
            <a:cxnLst/>
            <a:rect l="l" t="t" r="r" b="b"/>
            <a:pathLst>
              <a:path w="990600" h="429220">
                <a:moveTo>
                  <a:pt x="214610" y="0"/>
                </a:moveTo>
                <a:lnTo>
                  <a:pt x="775990" y="0"/>
                </a:lnTo>
                <a:arcTo hR="214610" wR="214610" stAng="16200000" swAng="5400000"/>
                <a:lnTo>
                  <a:pt x="990600" y="214610"/>
                </a:lnTo>
                <a:arcTo hR="214610" wR="214610" stAng="0" swAng="5400000"/>
                <a:lnTo>
                  <a:pt x="214610" y="429220"/>
                </a:lnTo>
                <a:arcTo hR="214610" wR="214610" stAng="5400000" swAng="5400000"/>
                <a:lnTo>
                  <a:pt x="0" y="214610"/>
                </a:lnTo>
                <a:arcTo hR="214610" wR="214610" stAng="10800000" swAng="5400000"/>
                <a:close/>
              </a:path>
            </a:pathLst>
          </a:custGeom>
          <a:noFill/>
          <a:ln w="12700">
            <a:solidFill>
              <a:srgbClr val="CFC9EE"/>
            </a:solidFill>
            <a:prstDash val="solid"/>
          </a:ln>
        </p:spPr>
        <p:txBody>
          <a:bodyPr wrap="square" lIns="82550" tIns="107950" rIns="82550" bIns="82550" rtlCol="0" anchor="t">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Pass</a:t>
            </a:r>
            <a:endParaRPr lang="en-US" sz="1200" dirty="0"/>
          </a:p>
        </p:txBody>
      </p:sp>
      <p:sp>
        <p:nvSpPr>
          <p:cNvPr id="16" name="Text 13"/>
          <p:cNvSpPr/>
          <p:nvPr/>
        </p:nvSpPr>
        <p:spPr>
          <a:xfrm>
            <a:off x="2133600" y="5336580"/>
            <a:ext cx="977900" cy="441920"/>
          </a:xfrm>
          <a:custGeom>
            <a:avLst/>
            <a:gdLst/>
            <a:ahLst/>
            <a:cxnLst/>
            <a:rect l="l" t="t" r="r" b="b"/>
            <a:pathLst>
              <a:path w="977900" h="441920">
                <a:moveTo>
                  <a:pt x="220960" y="0"/>
                </a:moveTo>
                <a:lnTo>
                  <a:pt x="756940" y="0"/>
                </a:lnTo>
                <a:arcTo hR="220960" wR="220960" stAng="16200000" swAng="5400000"/>
                <a:lnTo>
                  <a:pt x="977900" y="220960"/>
                </a:lnTo>
                <a:arcTo hR="220960" wR="220960" stAng="0" swAng="5400000"/>
                <a:lnTo>
                  <a:pt x="220960" y="441920"/>
                </a:lnTo>
                <a:arcTo hR="220960" wR="220960" stAng="5400000" swAng="5400000"/>
                <a:lnTo>
                  <a:pt x="0" y="220960"/>
                </a:lnTo>
                <a:arcTo hR="220960" wR="220960" stAng="10800000" swAng="5400000"/>
                <a:close/>
              </a:path>
            </a:pathLst>
          </a:custGeom>
          <a:solidFill>
            <a:srgbClr val="5B4BDB"/>
          </a:solidFill>
          <a:ln/>
        </p:spPr>
        <p:txBody>
          <a:bodyPr wrap="square" lIns="76200" tIns="101600" rIns="76200" bIns="76200" rtlCol="0" anchor="t">
            <a:normAutofit/>
          </a:bodyPr>
          <a:lstStyle/>
          <a:p>
            <a:pPr algn="ctr" indent="0" marL="0">
              <a:lnSpc>
                <a:spcPts val="1680"/>
              </a:lnSpc>
              <a:buNone/>
            </a:pPr>
            <a:r>
              <a:rPr lang="en-US" sz="1200" b="1" dirty="0">
                <a:solidFill>
                  <a:srgbClr val="FDFCFF"/>
                </a:solidFill>
                <a:latin typeface="DM Sans" pitchFamily="34" charset="0"/>
                <a:ea typeface="DM Sans" pitchFamily="34" charset="-122"/>
                <a:cs typeface="DM Sans" pitchFamily="34" charset="-120"/>
              </a:rPr>
              <a:t>Match</a:t>
            </a:r>
            <a:endParaRPr lang="en-US" sz="1200" dirty="0"/>
          </a:p>
        </p:txBody>
      </p:sp>
      <p:sp>
        <p:nvSpPr>
          <p:cNvPr id="17" name="Text 14"/>
          <p:cNvSpPr/>
          <p:nvPr/>
        </p:nvSpPr>
        <p:spPr>
          <a:xfrm>
            <a:off x="3962400" y="1101279"/>
            <a:ext cx="76393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SOCIAL WELLBEING · INSIDE LIDLHEALTH</a:t>
            </a:r>
            <a:endParaRPr lang="en-US" sz="1200" dirty="0"/>
          </a:p>
        </p:txBody>
      </p:sp>
      <p:sp>
        <p:nvSpPr>
          <p:cNvPr id="18" name="Text 15"/>
          <p:cNvSpPr/>
          <p:nvPr>
            <p:ph type="title"/>
          </p:nvPr>
        </p:nvSpPr>
        <p:spPr>
          <a:xfrm>
            <a:off x="3962400" y="1390799"/>
            <a:ext cx="7639304"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FoodMatch: swipe right on social wellbeing</a:t>
            </a:r>
            <a:endParaRPr lang="en-US" sz="3200" dirty="0"/>
          </a:p>
        </p:txBody>
      </p:sp>
      <p:sp>
        <p:nvSpPr>
          <p:cNvPr id="19" name="Shape 16"/>
          <p:cNvSpPr/>
          <p:nvPr/>
        </p:nvSpPr>
        <p:spPr>
          <a:xfrm>
            <a:off x="3965575" y="2491234"/>
            <a:ext cx="3651250" cy="737791"/>
          </a:xfrm>
          <a:prstGeom prst="roundRect">
            <a:avLst>
              <a:gd name="adj" fmla="val 16783"/>
            </a:avLst>
          </a:prstGeom>
          <a:solidFill>
            <a:srgbClr val="FDFCFF"/>
          </a:solidFill>
          <a:ln w="6350">
            <a:solidFill>
              <a:srgbClr val="E2DEF3"/>
            </a:solidFill>
            <a:prstDash val="solid"/>
          </a:ln>
        </p:spPr>
      </p:sp>
      <p:pic>
        <p:nvPicPr>
          <p:cNvPr id="20" name="Image 1" descr="Users">    </p:cNvPr>
          <p:cNvPicPr>
            <a:picLocks noChangeAspect="1"/>
          </p:cNvPicPr>
          <p:nvPr/>
        </p:nvPicPr>
        <p:blipFill>
          <a:blip r:embed="rId2"/>
          <a:srcRect l="0" r="0" t="0" b="0"/>
          <a:stretch/>
        </p:blipFill>
        <p:spPr>
          <a:xfrm>
            <a:off x="4108450" y="2634109"/>
            <a:ext cx="254000" cy="254000"/>
          </a:xfrm>
          <a:prstGeom prst="rect">
            <a:avLst/>
          </a:prstGeom>
        </p:spPr>
      </p:pic>
      <p:sp>
        <p:nvSpPr>
          <p:cNvPr id="21" name="Text 17"/>
          <p:cNvSpPr/>
          <p:nvPr/>
        </p:nvSpPr>
        <p:spPr>
          <a:xfrm>
            <a:off x="4476750" y="2634109"/>
            <a:ext cx="25004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Match and connect</a:t>
            </a:r>
            <a:endParaRPr lang="en-US" sz="1400" dirty="0"/>
          </a:p>
        </p:txBody>
      </p:sp>
      <p:sp>
        <p:nvSpPr>
          <p:cNvPr id="22" name="Text 18"/>
          <p:cNvSpPr/>
          <p:nvPr/>
        </p:nvSpPr>
        <p:spPr>
          <a:xfrm>
            <a:off x="4476750" y="2872829"/>
            <a:ext cx="29131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Nearby people, shared food tastes</a:t>
            </a:r>
            <a:endParaRPr lang="en-US" sz="1200" dirty="0"/>
          </a:p>
        </p:txBody>
      </p:sp>
      <p:sp>
        <p:nvSpPr>
          <p:cNvPr id="23" name="Shape 19"/>
          <p:cNvSpPr/>
          <p:nvPr/>
        </p:nvSpPr>
        <p:spPr>
          <a:xfrm>
            <a:off x="7724775" y="2491234"/>
            <a:ext cx="3651250" cy="737791"/>
          </a:xfrm>
          <a:prstGeom prst="roundRect">
            <a:avLst>
              <a:gd name="adj" fmla="val 16783"/>
            </a:avLst>
          </a:prstGeom>
          <a:solidFill>
            <a:srgbClr val="FDFCFF"/>
          </a:solidFill>
          <a:ln w="6350">
            <a:solidFill>
              <a:srgbClr val="E2DEF3"/>
            </a:solidFill>
            <a:prstDash val="solid"/>
          </a:ln>
        </p:spPr>
      </p:sp>
      <p:pic>
        <p:nvPicPr>
          <p:cNvPr id="24" name="Image 2" descr="Home">    </p:cNvPr>
          <p:cNvPicPr>
            <a:picLocks noChangeAspect="1"/>
          </p:cNvPicPr>
          <p:nvPr/>
        </p:nvPicPr>
        <p:blipFill>
          <a:blip r:embed="rId3"/>
          <a:srcRect l="0" r="0" t="0" b="0"/>
          <a:stretch/>
        </p:blipFill>
        <p:spPr>
          <a:xfrm>
            <a:off x="7867650" y="2634109"/>
            <a:ext cx="254000" cy="254000"/>
          </a:xfrm>
          <a:prstGeom prst="rect">
            <a:avLst/>
          </a:prstGeom>
        </p:spPr>
      </p:pic>
      <p:sp>
        <p:nvSpPr>
          <p:cNvPr id="25" name="Text 20"/>
          <p:cNvSpPr/>
          <p:nvPr/>
        </p:nvSpPr>
        <p:spPr>
          <a:xfrm>
            <a:off x="8235950" y="2634109"/>
            <a:ext cx="25103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In-store social spaces</a:t>
            </a:r>
            <a:endParaRPr lang="en-US" sz="1400" dirty="0"/>
          </a:p>
        </p:txBody>
      </p:sp>
      <p:sp>
        <p:nvSpPr>
          <p:cNvPr id="26" name="Text 21"/>
          <p:cNvSpPr/>
          <p:nvPr/>
        </p:nvSpPr>
        <p:spPr>
          <a:xfrm>
            <a:off x="8235950" y="2872829"/>
            <a:ext cx="29246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Communal tables and dining areas</a:t>
            </a:r>
            <a:endParaRPr lang="en-US" sz="1200" dirty="0"/>
          </a:p>
        </p:txBody>
      </p:sp>
      <p:sp>
        <p:nvSpPr>
          <p:cNvPr id="27" name="Shape 22"/>
          <p:cNvSpPr/>
          <p:nvPr/>
        </p:nvSpPr>
        <p:spPr>
          <a:xfrm>
            <a:off x="3965575" y="3336975"/>
            <a:ext cx="3651250" cy="737791"/>
          </a:xfrm>
          <a:prstGeom prst="roundRect">
            <a:avLst>
              <a:gd name="adj" fmla="val 16783"/>
            </a:avLst>
          </a:prstGeom>
          <a:solidFill>
            <a:srgbClr val="FDFCFF"/>
          </a:solidFill>
          <a:ln w="6350">
            <a:solidFill>
              <a:srgbClr val="E2DEF3"/>
            </a:solidFill>
            <a:prstDash val="solid"/>
          </a:ln>
        </p:spPr>
      </p:sp>
      <p:pic>
        <p:nvPicPr>
          <p:cNvPr id="28" name="Image 3" descr="GraduationCap">    </p:cNvPr>
          <p:cNvPicPr>
            <a:picLocks noChangeAspect="1"/>
          </p:cNvPicPr>
          <p:nvPr/>
        </p:nvPicPr>
        <p:blipFill>
          <a:blip r:embed="rId4"/>
          <a:srcRect l="0" r="0" t="0" b="0"/>
          <a:stretch/>
        </p:blipFill>
        <p:spPr>
          <a:xfrm>
            <a:off x="4108450" y="3479850"/>
            <a:ext cx="254000" cy="254000"/>
          </a:xfrm>
          <a:prstGeom prst="rect">
            <a:avLst/>
          </a:prstGeom>
        </p:spPr>
      </p:pic>
      <p:sp>
        <p:nvSpPr>
          <p:cNvPr id="29" name="Text 23"/>
          <p:cNvSpPr/>
          <p:nvPr/>
        </p:nvSpPr>
        <p:spPr>
          <a:xfrm>
            <a:off x="4476750" y="3479850"/>
            <a:ext cx="22442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Cooking masterclasses</a:t>
            </a:r>
            <a:endParaRPr lang="en-US" sz="1400" dirty="0"/>
          </a:p>
        </p:txBody>
      </p:sp>
      <p:sp>
        <p:nvSpPr>
          <p:cNvPr id="30" name="Text 24"/>
          <p:cNvSpPr/>
          <p:nvPr/>
        </p:nvSpPr>
        <p:spPr>
          <a:xfrm>
            <a:off x="4476750" y="3718570"/>
            <a:ext cx="26146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Chefs, nutritionists, local cooks</a:t>
            </a:r>
            <a:endParaRPr lang="en-US" sz="1200" dirty="0"/>
          </a:p>
        </p:txBody>
      </p:sp>
      <p:sp>
        <p:nvSpPr>
          <p:cNvPr id="31" name="Shape 25"/>
          <p:cNvSpPr/>
          <p:nvPr/>
        </p:nvSpPr>
        <p:spPr>
          <a:xfrm>
            <a:off x="7724775" y="3336975"/>
            <a:ext cx="3651250" cy="737791"/>
          </a:xfrm>
          <a:prstGeom prst="roundRect">
            <a:avLst>
              <a:gd name="adj" fmla="val 16783"/>
            </a:avLst>
          </a:prstGeom>
          <a:solidFill>
            <a:srgbClr val="FDFCFF"/>
          </a:solidFill>
          <a:ln w="6350">
            <a:solidFill>
              <a:srgbClr val="E2DEF3"/>
            </a:solidFill>
            <a:prstDash val="solid"/>
          </a:ln>
        </p:spPr>
      </p:sp>
      <p:pic>
        <p:nvPicPr>
          <p:cNvPr id="32" name="Image 4" descr="Star">    </p:cNvPr>
          <p:cNvPicPr>
            <a:picLocks noChangeAspect="1"/>
          </p:cNvPicPr>
          <p:nvPr/>
        </p:nvPicPr>
        <p:blipFill>
          <a:blip r:embed="rId5"/>
          <a:srcRect l="0" r="0" t="0" b="0"/>
          <a:stretch/>
        </p:blipFill>
        <p:spPr>
          <a:xfrm>
            <a:off x="7867650" y="3479850"/>
            <a:ext cx="254000" cy="254000"/>
          </a:xfrm>
          <a:prstGeom prst="rect">
            <a:avLst/>
          </a:prstGeom>
        </p:spPr>
      </p:pic>
      <p:sp>
        <p:nvSpPr>
          <p:cNvPr id="33" name="Text 26"/>
          <p:cNvSpPr/>
          <p:nvPr/>
        </p:nvSpPr>
        <p:spPr>
          <a:xfrm>
            <a:off x="8235950" y="3479850"/>
            <a:ext cx="24892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Community dining</a:t>
            </a:r>
            <a:endParaRPr lang="en-US" sz="1400" dirty="0"/>
          </a:p>
        </p:txBody>
      </p:sp>
      <p:sp>
        <p:nvSpPr>
          <p:cNvPr id="34" name="Text 27"/>
          <p:cNvSpPr/>
          <p:nvPr/>
        </p:nvSpPr>
        <p:spPr>
          <a:xfrm>
            <a:off x="8235950" y="3718570"/>
            <a:ext cx="29001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Shared meals and themed dinners</a:t>
            </a:r>
            <a:endParaRPr lang="en-US" sz="1200" dirty="0"/>
          </a:p>
        </p:txBody>
      </p:sp>
      <p:sp>
        <p:nvSpPr>
          <p:cNvPr id="35" name="Shape 28"/>
          <p:cNvSpPr/>
          <p:nvPr/>
        </p:nvSpPr>
        <p:spPr>
          <a:xfrm>
            <a:off x="3965575" y="4182715"/>
            <a:ext cx="3651250" cy="737791"/>
          </a:xfrm>
          <a:prstGeom prst="roundRect">
            <a:avLst>
              <a:gd name="adj" fmla="val 16783"/>
            </a:avLst>
          </a:prstGeom>
          <a:solidFill>
            <a:srgbClr val="FDFCFF"/>
          </a:solidFill>
          <a:ln w="6350">
            <a:solidFill>
              <a:srgbClr val="E2DEF3"/>
            </a:solidFill>
            <a:prstDash val="solid"/>
          </a:ln>
        </p:spPr>
      </p:sp>
      <p:pic>
        <p:nvPicPr>
          <p:cNvPr id="36" name="Image 5" descr="PaperPlane">    </p:cNvPr>
          <p:cNvPicPr>
            <a:picLocks noChangeAspect="1"/>
          </p:cNvPicPr>
          <p:nvPr/>
        </p:nvPicPr>
        <p:blipFill>
          <a:blip r:embed="rId6"/>
          <a:srcRect l="0" r="0" t="0" b="0"/>
          <a:stretch/>
        </p:blipFill>
        <p:spPr>
          <a:xfrm>
            <a:off x="4108450" y="4325590"/>
            <a:ext cx="254000" cy="254000"/>
          </a:xfrm>
          <a:prstGeom prst="rect">
            <a:avLst/>
          </a:prstGeom>
        </p:spPr>
      </p:pic>
      <p:sp>
        <p:nvSpPr>
          <p:cNvPr id="37" name="Text 29"/>
          <p:cNvSpPr/>
          <p:nvPr/>
        </p:nvSpPr>
        <p:spPr>
          <a:xfrm>
            <a:off x="4476750" y="4325590"/>
            <a:ext cx="21893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Book in the app</a:t>
            </a:r>
            <a:endParaRPr lang="en-US" sz="1400" dirty="0"/>
          </a:p>
        </p:txBody>
      </p:sp>
      <p:sp>
        <p:nvSpPr>
          <p:cNvPr id="38" name="Text 30"/>
          <p:cNvSpPr/>
          <p:nvPr/>
        </p:nvSpPr>
        <p:spPr>
          <a:xfrm>
            <a:off x="4476750" y="4564311"/>
            <a:ext cx="2550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Events, matches and meetups</a:t>
            </a:r>
            <a:endParaRPr lang="en-US" sz="1200" dirty="0"/>
          </a:p>
        </p:txBody>
      </p:sp>
      <p:sp>
        <p:nvSpPr>
          <p:cNvPr id="39" name="Shape 31"/>
          <p:cNvSpPr/>
          <p:nvPr/>
        </p:nvSpPr>
        <p:spPr>
          <a:xfrm>
            <a:off x="7721600" y="4179540"/>
            <a:ext cx="3657600" cy="744141"/>
          </a:xfrm>
          <a:prstGeom prst="roundRect">
            <a:avLst>
              <a:gd name="adj" fmla="val 17067"/>
            </a:avLst>
          </a:prstGeom>
          <a:solidFill>
            <a:srgbClr val="E6F4EC"/>
          </a:solidFill>
          <a:ln/>
        </p:spPr>
      </p:sp>
      <p:pic>
        <p:nvPicPr>
          <p:cNvPr id="40" name="Image 6" descr="Trust">    </p:cNvPr>
          <p:cNvPicPr>
            <a:picLocks noChangeAspect="1"/>
          </p:cNvPicPr>
          <p:nvPr/>
        </p:nvPicPr>
        <p:blipFill>
          <a:blip r:embed="rId7"/>
          <a:srcRect l="0" r="0" t="0" b="0"/>
          <a:stretch/>
        </p:blipFill>
        <p:spPr>
          <a:xfrm>
            <a:off x="7861300" y="4319240"/>
            <a:ext cx="254000" cy="254000"/>
          </a:xfrm>
          <a:prstGeom prst="rect">
            <a:avLst/>
          </a:prstGeom>
        </p:spPr>
      </p:pic>
      <p:sp>
        <p:nvSpPr>
          <p:cNvPr id="41" name="Text 32"/>
          <p:cNvSpPr/>
          <p:nvPr/>
        </p:nvSpPr>
        <p:spPr>
          <a:xfrm>
            <a:off x="8229600" y="4319240"/>
            <a:ext cx="21431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Less loneliness</a:t>
            </a:r>
            <a:endParaRPr lang="en-US" sz="1400" dirty="0"/>
          </a:p>
        </p:txBody>
      </p:sp>
      <p:sp>
        <p:nvSpPr>
          <p:cNvPr id="42" name="Text 33"/>
          <p:cNvSpPr/>
          <p:nvPr/>
        </p:nvSpPr>
        <p:spPr>
          <a:xfrm>
            <a:off x="8229600" y="4557961"/>
            <a:ext cx="2496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3655"/>
                </a:solidFill>
                <a:latin typeface="DM Sans" pitchFamily="34" charset="0"/>
                <a:ea typeface="DM Sans" pitchFamily="34" charset="-122"/>
                <a:cs typeface="DM Sans" pitchFamily="34" charset="-120"/>
              </a:rPr>
              <a:t>Real connections across ages</a:t>
            </a:r>
            <a:endParaRPr lang="en-US" sz="1200" dirty="0"/>
          </a:p>
        </p:txBody>
      </p:sp>
      <p:sp>
        <p:nvSpPr>
          <p:cNvPr id="43" name="Text 34"/>
          <p:cNvSpPr/>
          <p:nvPr/>
        </p:nvSpPr>
        <p:spPr>
          <a:xfrm>
            <a:off x="3962400" y="5167511"/>
            <a:ext cx="4604512" cy="573980"/>
          </a:xfrm>
          <a:prstGeom prst="rect">
            <a:avLst/>
          </a:prstGeom>
          <a:noFill/>
          <a:ln/>
        </p:spPr>
        <p:txBody>
          <a:bodyPr wrap="square" lIns="0" tIns="0" rIns="0" bIns="0" rtlCol="0" anchor="t">
            <a:normAutofit/>
          </a:bodyPr>
          <a:lstStyle/>
          <a:p>
            <a:pPr algn="l" indent="0" marL="0">
              <a:lnSpc>
                <a:spcPts val="2160"/>
              </a:lnSpc>
              <a:buNone/>
            </a:pPr>
            <a:r>
              <a:rPr lang="en-US" sz="1800" b="1" i="1" dirty="0">
                <a:solidFill>
                  <a:srgbClr val="5B4BDB"/>
                </a:solidFill>
                <a:latin typeface="DM Sans" pitchFamily="34" charset="0"/>
                <a:ea typeface="DM Sans" pitchFamily="34" charset="-122"/>
                <a:cs typeface="DM Sans" pitchFamily="34" charset="-120"/>
              </a:rPr>
              <a:t>“More than shopping. A place to connect.”</a:t>
            </a:r>
            <a:endParaRPr lang="en-US" sz="1800" dirty="0"/>
          </a:p>
        </p:txBody>
      </p:sp>
      <p:sp>
        <p:nvSpPr>
          <p:cNvPr id="44" name="Text 35"/>
          <p:cNvSpPr/>
          <p:nvPr/>
        </p:nvSpPr>
        <p:spPr>
          <a:xfrm>
            <a:off x="8585200" y="5126881"/>
            <a:ext cx="2794000" cy="629841"/>
          </a:xfrm>
          <a:prstGeom prst="roundRect">
            <a:avLst>
              <a:gd name="adj" fmla="val 16131"/>
            </a:avLst>
          </a:prstGeom>
          <a:solidFill>
            <a:srgbClr val="EEEBFB"/>
          </a:solidFill>
          <a:ln/>
        </p:spPr>
        <p:txBody>
          <a:bodyPr wrap="square" lIns="97242" tIns="71842" rIns="21042" bIns="46442"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For Schwarz:</a:t>
            </a:r>
            <a:r>
              <a:rPr lang="en-US" sz="1200" dirty="0">
                <a:solidFill>
                  <a:srgbClr val="1C1640"/>
                </a:solidFill>
                <a:latin typeface="DM Sans" pitchFamily="34" charset="0"/>
                <a:ea typeface="DM Sans" pitchFamily="34" charset="-122"/>
                <a:cs typeface="DM Sans" pitchFamily="34" charset="-120"/>
              </a:rPr>
              <a:t> more visits, loyalty and foot traffic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BFF"/>
                </a:solidFill>
                <a:latin typeface="DM Sans" pitchFamily="34" charset="0"/>
                <a:ea typeface="DM Sans" pitchFamily="34" charset="-122"/>
                <a:cs typeface="DM Sans" pitchFamily="34" charset="-120"/>
              </a:rPr>
              <a:t>LONG-TERM VISION · SCHWARZ GESUNDHEIT</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FB"/>
                </a:solidFill>
                <a:latin typeface="DM Sans" pitchFamily="34" charset="0"/>
                <a:ea typeface="DM Sans" pitchFamily="34" charset="-122"/>
                <a:cs typeface="DM Sans" pitchFamily="34" charset="-120"/>
              </a:rPr>
              <a:t>The neighbourhood health hub</a:t>
            </a:r>
            <a:endParaRPr lang="en-US" sz="3200" dirty="0"/>
          </a:p>
        </p:txBody>
      </p:sp>
      <p:sp>
        <p:nvSpPr>
          <p:cNvPr id="4" name="Text 2"/>
          <p:cNvSpPr/>
          <p:nvPr/>
        </p:nvSpPr>
        <p:spPr>
          <a:xfrm>
            <a:off x="812800" y="2392809"/>
            <a:ext cx="3139440"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5F3FB"/>
                </a:solidFill>
                <a:latin typeface="DM Sans" pitchFamily="34" charset="0"/>
                <a:ea typeface="DM Sans" pitchFamily="34" charset="-122"/>
                <a:cs typeface="DM Sans" pitchFamily="34" charset="-120"/>
              </a:rPr>
              <a:t>Every Lidl and Kaufland becomes a place where people eat, move, meet and get checked.</a:t>
            </a:r>
            <a:endParaRPr lang="en-US" sz="1600" dirty="0"/>
          </a:p>
        </p:txBody>
      </p:sp>
      <p:pic>
        <p:nvPicPr>
          <p:cNvPr id="5" name="Image 0" descr="Key">    </p:cNvPr>
          <p:cNvPicPr>
            <a:picLocks noChangeAspect="1"/>
          </p:cNvPicPr>
          <p:nvPr/>
        </p:nvPicPr>
        <p:blipFill>
          <a:blip r:embed="rId1"/>
          <a:srcRect l="0" r="0" t="-780" b="-780"/>
          <a:stretch/>
        </p:blipFill>
        <p:spPr>
          <a:xfrm>
            <a:off x="812800" y="3667770"/>
            <a:ext cx="181322" cy="228600"/>
          </a:xfrm>
          <a:prstGeom prst="rect">
            <a:avLst/>
          </a:prstGeom>
        </p:spPr>
      </p:pic>
      <p:sp>
        <p:nvSpPr>
          <p:cNvPr id="6" name="Text 3"/>
          <p:cNvSpPr/>
          <p:nvPr/>
        </p:nvSpPr>
        <p:spPr>
          <a:xfrm>
            <a:off x="1095722" y="3667770"/>
            <a:ext cx="28480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One membership for food, health and community</a:t>
            </a:r>
            <a:endParaRPr lang="en-US" sz="1200" dirty="0"/>
          </a:p>
        </p:txBody>
      </p:sp>
      <p:pic>
        <p:nvPicPr>
          <p:cNvPr id="7" name="Image 1" descr="Trust">    </p:cNvPr>
          <p:cNvPicPr>
            <a:picLocks noChangeAspect="1"/>
          </p:cNvPicPr>
          <p:nvPr/>
        </p:nvPicPr>
        <p:blipFill>
          <a:blip r:embed="rId2"/>
          <a:srcRect l="-500" r="-500" t="0" b="0"/>
          <a:stretch/>
        </p:blipFill>
        <p:spPr>
          <a:xfrm>
            <a:off x="812800" y="4272211"/>
            <a:ext cx="205234" cy="228600"/>
          </a:xfrm>
          <a:prstGeom prst="rect">
            <a:avLst/>
          </a:prstGeom>
        </p:spPr>
      </p:pic>
      <p:sp>
        <p:nvSpPr>
          <p:cNvPr id="8" name="Text 4"/>
          <p:cNvSpPr/>
          <p:nvPr/>
        </p:nvSpPr>
        <p:spPr>
          <a:xfrm>
            <a:off x="1119634" y="4272211"/>
            <a:ext cx="28234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Co-funded by insurers’ prevention budgets</a:t>
            </a:r>
            <a:endParaRPr lang="en-US" sz="1200" dirty="0"/>
          </a:p>
        </p:txBody>
      </p:sp>
      <p:pic>
        <p:nvPicPr>
          <p:cNvPr id="9" name="Image 2" descr="Home">    </p:cNvPr>
          <p:cNvPicPr>
            <a:picLocks noChangeAspect="1"/>
          </p:cNvPicPr>
          <p:nvPr/>
        </p:nvPicPr>
        <p:blipFill>
          <a:blip r:embed="rId3"/>
          <a:srcRect l="-363" r="-363" t="0" b="0"/>
          <a:stretch/>
        </p:blipFill>
        <p:spPr>
          <a:xfrm>
            <a:off x="812800" y="4876651"/>
            <a:ext cx="179090" cy="228600"/>
          </a:xfrm>
          <a:prstGeom prst="rect">
            <a:avLst/>
          </a:prstGeom>
        </p:spPr>
      </p:pic>
      <p:sp>
        <p:nvSpPr>
          <p:cNvPr id="10" name="Text 5"/>
          <p:cNvSpPr/>
          <p:nvPr/>
        </p:nvSpPr>
        <p:spPr>
          <a:xfrm>
            <a:off x="1093490" y="4876651"/>
            <a:ext cx="28503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3EE"/>
                </a:solidFill>
                <a:latin typeface="DM Sans" pitchFamily="34" charset="0"/>
                <a:ea typeface="DM Sans" pitchFamily="34" charset="-122"/>
                <a:cs typeface="DM Sans" pitchFamily="34" charset="-120"/>
              </a:rPr>
              <a:t>Built on the stores people already visit every week</a:t>
            </a:r>
            <a:endParaRPr lang="en-US" sz="1200" dirty="0"/>
          </a:p>
        </p:txBody>
      </p:sp>
      <p:pic>
        <p:nvPicPr>
          <p:cNvPr id="11" name="Image 3" descr="connector">    </p:cNvPr>
          <p:cNvPicPr>
            <a:picLocks noChangeAspect="1"/>
          </p:cNvPicPr>
          <p:nvPr/>
        </p:nvPicPr>
        <p:blipFill>
          <a:blip r:embed="rId4"/>
          <a:srcRect l="0" r="0" t="0" b="0"/>
          <a:stretch/>
        </p:blipFill>
        <p:spPr>
          <a:xfrm>
            <a:off x="6375400" y="2178000"/>
            <a:ext cx="927100" cy="1212850"/>
          </a:xfrm>
          <a:prstGeom prst="rect">
            <a:avLst/>
          </a:prstGeom>
        </p:spPr>
      </p:pic>
      <p:pic>
        <p:nvPicPr>
          <p:cNvPr id="12" name="Image 4" descr="connector">    </p:cNvPr>
          <p:cNvPicPr>
            <a:picLocks noChangeAspect="1"/>
          </p:cNvPicPr>
          <p:nvPr/>
        </p:nvPicPr>
        <p:blipFill>
          <a:blip r:embed="rId5"/>
          <a:srcRect l="0" r="0" t="0" b="0"/>
          <a:stretch/>
        </p:blipFill>
        <p:spPr>
          <a:xfrm>
            <a:off x="6375400" y="3797250"/>
            <a:ext cx="736600" cy="101600"/>
          </a:xfrm>
          <a:prstGeom prst="rect">
            <a:avLst/>
          </a:prstGeom>
        </p:spPr>
      </p:pic>
      <p:pic>
        <p:nvPicPr>
          <p:cNvPr id="13" name="Image 5" descr="connector">    </p:cNvPr>
          <p:cNvPicPr>
            <a:picLocks noChangeAspect="1"/>
          </p:cNvPicPr>
          <p:nvPr/>
        </p:nvPicPr>
        <p:blipFill>
          <a:blip r:embed="rId6"/>
          <a:srcRect l="0" r="0" t="0" b="0"/>
          <a:stretch/>
        </p:blipFill>
        <p:spPr>
          <a:xfrm>
            <a:off x="6375400" y="4305250"/>
            <a:ext cx="927100" cy="1212850"/>
          </a:xfrm>
          <a:prstGeom prst="rect">
            <a:avLst/>
          </a:prstGeom>
        </p:spPr>
      </p:pic>
      <p:pic>
        <p:nvPicPr>
          <p:cNvPr id="14" name="Image 6" descr="connector">    </p:cNvPr>
          <p:cNvPicPr>
            <a:picLocks noChangeAspect="1"/>
          </p:cNvPicPr>
          <p:nvPr/>
        </p:nvPicPr>
        <p:blipFill>
          <a:blip r:embed="rId7"/>
          <a:srcRect l="0" r="0" t="0" b="0"/>
          <a:stretch/>
        </p:blipFill>
        <p:spPr>
          <a:xfrm>
            <a:off x="8343900" y="2178000"/>
            <a:ext cx="927100" cy="1212850"/>
          </a:xfrm>
          <a:prstGeom prst="rect">
            <a:avLst/>
          </a:prstGeom>
        </p:spPr>
      </p:pic>
      <p:pic>
        <p:nvPicPr>
          <p:cNvPr id="15" name="Image 7" descr="connector">    </p:cNvPr>
          <p:cNvPicPr>
            <a:picLocks noChangeAspect="1"/>
          </p:cNvPicPr>
          <p:nvPr/>
        </p:nvPicPr>
        <p:blipFill>
          <a:blip r:embed="rId8"/>
          <a:srcRect l="0" r="0" t="0" b="0"/>
          <a:stretch/>
        </p:blipFill>
        <p:spPr>
          <a:xfrm>
            <a:off x="8534400" y="3797250"/>
            <a:ext cx="736600" cy="101600"/>
          </a:xfrm>
          <a:prstGeom prst="rect">
            <a:avLst/>
          </a:prstGeom>
        </p:spPr>
      </p:pic>
      <p:pic>
        <p:nvPicPr>
          <p:cNvPr id="16" name="Image 8" descr="connector">    </p:cNvPr>
          <p:cNvPicPr>
            <a:picLocks noChangeAspect="1"/>
          </p:cNvPicPr>
          <p:nvPr/>
        </p:nvPicPr>
        <p:blipFill>
          <a:blip r:embed="rId9"/>
          <a:srcRect l="0" r="0" t="0" b="0"/>
          <a:stretch/>
        </p:blipFill>
        <p:spPr>
          <a:xfrm>
            <a:off x="8343900" y="4305250"/>
            <a:ext cx="927100" cy="1212850"/>
          </a:xfrm>
          <a:prstGeom prst="rect">
            <a:avLst/>
          </a:prstGeom>
        </p:spPr>
      </p:pic>
      <p:sp>
        <p:nvSpPr>
          <p:cNvPr id="17" name="Text 6"/>
          <p:cNvSpPr/>
          <p:nvPr/>
        </p:nvSpPr>
        <p:spPr>
          <a:xfrm>
            <a:off x="7061200" y="3086050"/>
            <a:ext cx="1524000" cy="1524000"/>
          </a:xfrm>
          <a:custGeom>
            <a:avLst/>
            <a:gdLst/>
            <a:ahLst/>
            <a:cxnLst/>
            <a:rect l="l" t="t" r="r" b="b"/>
            <a:pathLst>
              <a:path w="1524000" h="1524000">
                <a:moveTo>
                  <a:pt x="762000" y="0"/>
                </a:moveTo>
                <a:lnTo>
                  <a:pt x="762000" y="0"/>
                </a:lnTo>
                <a:arcTo hR="762000" wR="762000" stAng="16200000" swAng="5400000"/>
                <a:lnTo>
                  <a:pt x="1524000" y="762000"/>
                </a:lnTo>
                <a:arcTo hR="762000" wR="762000" stAng="0" swAng="5400000"/>
                <a:lnTo>
                  <a:pt x="762000" y="1524000"/>
                </a:lnTo>
                <a:arcTo hR="762000" wR="762000" stAng="5400000" swAng="5400000"/>
                <a:lnTo>
                  <a:pt x="0" y="762000"/>
                </a:lnTo>
                <a:arcTo hR="762000" wR="762000" stAng="10800000" swAng="5400000"/>
                <a:close/>
              </a:path>
            </a:pathLst>
          </a:custGeom>
          <a:gradFill rotWithShape="1">
            <a:gsLst>
              <a:gs pos="0">
                <a:srgbClr val="8A7DF5"/>
              </a:gs>
              <a:gs pos="60000">
                <a:srgbClr val="5B4BDB"/>
              </a:gs>
              <a:gs pos="100000">
                <a:srgbClr val="3D2FB0"/>
              </a:gs>
            </a:gsLst>
            <a:path path="circle">
              <a:fillToRect l="35000" t="30000" r="65000" b="70000"/>
            </a:path>
          </a:gradFill>
          <a:ln/>
          <a:effectLst>
            <a:outerShdw sx="100000" sy="100000" kx="0" ky="0" algn="bl" rotWithShape="0" blurRad="381000" dist="0" dir="60000">
              <a:srgbClr val="5B4BDB">
                <a:alpha val="60000"/>
              </a:srgbClr>
            </a:outerShdw>
          </a:effectLst>
        </p:spPr>
        <p:txBody>
          <a:bodyPr wrap="square" lIns="191145" tIns="0" rIns="191145" bIns="0" rtlCol="0" anchor="ctr">
            <a:normAutofit/>
          </a:bodyPr>
          <a:lstStyle/>
          <a:p>
            <a:pPr algn="ctr" indent="0" marL="0">
              <a:lnSpc>
                <a:spcPts val="1725"/>
              </a:lnSpc>
              <a:buNone/>
            </a:pPr>
            <a:r>
              <a:rPr lang="en-US" sz="1500" b="1" dirty="0">
                <a:solidFill>
                  <a:srgbClr val="FDFCFF"/>
                </a:solidFill>
                <a:latin typeface="DM Sans" pitchFamily="34" charset="0"/>
                <a:ea typeface="DM Sans" pitchFamily="34" charset="-122"/>
                <a:cs typeface="DM Sans" pitchFamily="34" charset="-120"/>
              </a:rPr>
              <a:t>Schwarz</a:t>
            </a:r>
            <a:endParaRPr lang="en-US" sz="1500" dirty="0"/>
          </a:p>
          <a:p>
            <a:pPr algn="ctr" indent="0" marL="0">
              <a:lnSpc>
                <a:spcPts val="1725"/>
              </a:lnSpc>
              <a:buNone/>
            </a:pPr>
            <a:r>
              <a:rPr lang="en-US" sz="1500" b="1" dirty="0">
                <a:solidFill>
                  <a:srgbClr val="FDFCFF"/>
                </a:solidFill>
                <a:latin typeface="DM Sans" pitchFamily="34" charset="0"/>
                <a:ea typeface="DM Sans" pitchFamily="34" charset="-122"/>
                <a:cs typeface="DM Sans" pitchFamily="34" charset="-120"/>
              </a:rPr>
              <a:t>Gesundheit</a:t>
            </a:r>
            <a:endParaRPr lang="en-US" sz="1500" dirty="0"/>
          </a:p>
        </p:txBody>
      </p:sp>
      <p:sp>
        <p:nvSpPr>
          <p:cNvPr id="18" name="Shape 7"/>
          <p:cNvSpPr/>
          <p:nvPr/>
        </p:nvSpPr>
        <p:spPr>
          <a:xfrm>
            <a:off x="4270375" y="1755725"/>
            <a:ext cx="2152650" cy="946150"/>
          </a:xfrm>
          <a:prstGeom prst="roundRect">
            <a:avLst>
              <a:gd name="adj" fmla="val 13087"/>
            </a:avLst>
          </a:prstGeom>
          <a:solidFill>
            <a:srgbClr val="2C2460"/>
          </a:solidFill>
          <a:ln w="6350">
            <a:solidFill>
              <a:srgbClr val="4A3F99"/>
            </a:solidFill>
            <a:prstDash val="solid"/>
          </a:ln>
        </p:spPr>
      </p:sp>
      <p:sp>
        <p:nvSpPr>
          <p:cNvPr id="19" name="Text 8"/>
          <p:cNvSpPr/>
          <p:nvPr/>
        </p:nvSpPr>
        <p:spPr>
          <a:xfrm>
            <a:off x="4400550" y="1885900"/>
            <a:ext cx="1949069" cy="2530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FB"/>
                </a:solidFill>
                <a:latin typeface="DM Sans" pitchFamily="34" charset="0"/>
                <a:ea typeface="DM Sans" pitchFamily="34" charset="-122"/>
                <a:cs typeface="DM Sans" pitchFamily="34" charset="-120"/>
              </a:rPr>
              <a:t>Check-ups and care</a:t>
            </a:r>
            <a:endParaRPr lang="en-US" sz="1300" dirty="0"/>
          </a:p>
        </p:txBody>
      </p:sp>
      <p:sp>
        <p:nvSpPr>
          <p:cNvPr id="20" name="Text 9"/>
          <p:cNvSpPr/>
          <p:nvPr/>
        </p:nvSpPr>
        <p:spPr>
          <a:xfrm>
            <a:off x="4400550" y="2151608"/>
            <a:ext cx="1949069" cy="445492"/>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C9C3EE"/>
                </a:solidFill>
                <a:latin typeface="DM Sans" pitchFamily="34" charset="0"/>
                <a:ea typeface="DM Sans" pitchFamily="34" charset="-122"/>
                <a:cs typeface="DM Sans" pitchFamily="34" charset="-120"/>
              </a:rPr>
              <a:t>Health stations, pharmacy, telemedicine</a:t>
            </a:r>
            <a:endParaRPr lang="en-US" sz="1185" dirty="0"/>
          </a:p>
        </p:txBody>
      </p:sp>
      <p:sp>
        <p:nvSpPr>
          <p:cNvPr id="21" name="Shape 10"/>
          <p:cNvSpPr/>
          <p:nvPr/>
        </p:nvSpPr>
        <p:spPr>
          <a:xfrm>
            <a:off x="9223375" y="1755725"/>
            <a:ext cx="2152650" cy="946150"/>
          </a:xfrm>
          <a:prstGeom prst="roundRect">
            <a:avLst>
              <a:gd name="adj" fmla="val 13087"/>
            </a:avLst>
          </a:prstGeom>
          <a:solidFill>
            <a:srgbClr val="2C2460"/>
          </a:solidFill>
          <a:ln w="6350">
            <a:solidFill>
              <a:srgbClr val="4A3F99"/>
            </a:solidFill>
            <a:prstDash val="solid"/>
          </a:ln>
        </p:spPr>
      </p:sp>
      <p:sp>
        <p:nvSpPr>
          <p:cNvPr id="22" name="Text 11"/>
          <p:cNvSpPr/>
          <p:nvPr/>
        </p:nvSpPr>
        <p:spPr>
          <a:xfrm>
            <a:off x="9353550" y="1885900"/>
            <a:ext cx="1949069" cy="2530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FB"/>
                </a:solidFill>
                <a:latin typeface="DM Sans" pitchFamily="34" charset="0"/>
                <a:ea typeface="DM Sans" pitchFamily="34" charset="-122"/>
                <a:cs typeface="DM Sans" pitchFamily="34" charset="-120"/>
              </a:rPr>
              <a:t>Healthy production</a:t>
            </a:r>
            <a:endParaRPr lang="en-US" sz="1300" dirty="0"/>
          </a:p>
        </p:txBody>
      </p:sp>
      <p:sp>
        <p:nvSpPr>
          <p:cNvPr id="23" name="Text 12"/>
          <p:cNvSpPr/>
          <p:nvPr/>
        </p:nvSpPr>
        <p:spPr>
          <a:xfrm>
            <a:off x="9353550" y="2151608"/>
            <a:ext cx="1949069" cy="445492"/>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C9C3EE"/>
                </a:solidFill>
                <a:latin typeface="DM Sans" pitchFamily="34" charset="0"/>
                <a:ea typeface="DM Sans" pitchFamily="34" charset="-122"/>
                <a:cs typeface="DM Sans" pitchFamily="34" charset="-120"/>
              </a:rPr>
              <a:t>Own-brand health range made by Schwarz</a:t>
            </a:r>
            <a:endParaRPr lang="en-US" sz="1185" dirty="0"/>
          </a:p>
        </p:txBody>
      </p:sp>
      <p:sp>
        <p:nvSpPr>
          <p:cNvPr id="24" name="Shape 13"/>
          <p:cNvSpPr/>
          <p:nvPr/>
        </p:nvSpPr>
        <p:spPr>
          <a:xfrm>
            <a:off x="4270375" y="3374975"/>
            <a:ext cx="2152650" cy="946150"/>
          </a:xfrm>
          <a:prstGeom prst="roundRect">
            <a:avLst>
              <a:gd name="adj" fmla="val 13087"/>
            </a:avLst>
          </a:prstGeom>
          <a:solidFill>
            <a:srgbClr val="2C2460"/>
          </a:solidFill>
          <a:ln w="6350">
            <a:solidFill>
              <a:srgbClr val="4A3F99"/>
            </a:solidFill>
            <a:prstDash val="solid"/>
          </a:ln>
        </p:spPr>
      </p:sp>
      <p:sp>
        <p:nvSpPr>
          <p:cNvPr id="25" name="Text 14"/>
          <p:cNvSpPr/>
          <p:nvPr/>
        </p:nvSpPr>
        <p:spPr>
          <a:xfrm>
            <a:off x="4400550" y="3505150"/>
            <a:ext cx="1949069" cy="2530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FB"/>
                </a:solidFill>
                <a:latin typeface="DM Sans" pitchFamily="34" charset="0"/>
                <a:ea typeface="DM Sans" pitchFamily="34" charset="-122"/>
                <a:cs typeface="DM Sans" pitchFamily="34" charset="-120"/>
              </a:rPr>
              <a:t>Cooking school</a:t>
            </a:r>
            <a:endParaRPr lang="en-US" sz="1300" dirty="0"/>
          </a:p>
        </p:txBody>
      </p:sp>
      <p:sp>
        <p:nvSpPr>
          <p:cNvPr id="26" name="Text 15"/>
          <p:cNvSpPr/>
          <p:nvPr/>
        </p:nvSpPr>
        <p:spPr>
          <a:xfrm>
            <a:off x="4400550" y="3770858"/>
            <a:ext cx="1949069" cy="445492"/>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C9C3EE"/>
                </a:solidFill>
                <a:latin typeface="DM Sans" pitchFamily="34" charset="0"/>
                <a:ea typeface="DM Sans" pitchFamily="34" charset="-122"/>
                <a:cs typeface="DM Sans" pitchFamily="34" charset="-120"/>
              </a:rPr>
              <a:t>Masterclasses and community kitchen</a:t>
            </a:r>
            <a:endParaRPr lang="en-US" sz="1185" dirty="0"/>
          </a:p>
        </p:txBody>
      </p:sp>
      <p:sp>
        <p:nvSpPr>
          <p:cNvPr id="27" name="Shape 16"/>
          <p:cNvSpPr/>
          <p:nvPr/>
        </p:nvSpPr>
        <p:spPr>
          <a:xfrm>
            <a:off x="9223375" y="3374975"/>
            <a:ext cx="2152650" cy="946150"/>
          </a:xfrm>
          <a:prstGeom prst="roundRect">
            <a:avLst>
              <a:gd name="adj" fmla="val 13087"/>
            </a:avLst>
          </a:prstGeom>
          <a:solidFill>
            <a:srgbClr val="2C2460"/>
          </a:solidFill>
          <a:ln w="6350">
            <a:solidFill>
              <a:srgbClr val="4A3F99"/>
            </a:solidFill>
            <a:prstDash val="solid"/>
          </a:ln>
        </p:spPr>
      </p:sp>
      <p:sp>
        <p:nvSpPr>
          <p:cNvPr id="28" name="Text 17"/>
          <p:cNvSpPr/>
          <p:nvPr/>
        </p:nvSpPr>
        <p:spPr>
          <a:xfrm>
            <a:off x="9353550" y="3505150"/>
            <a:ext cx="1949069" cy="2530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FB"/>
                </a:solidFill>
                <a:latin typeface="DM Sans" pitchFamily="34" charset="0"/>
                <a:ea typeface="DM Sans" pitchFamily="34" charset="-122"/>
                <a:cs typeface="DM Sans" pitchFamily="34" charset="-120"/>
              </a:rPr>
              <a:t>Social dining</a:t>
            </a:r>
            <a:endParaRPr lang="en-US" sz="1300" dirty="0"/>
          </a:p>
        </p:txBody>
      </p:sp>
      <p:sp>
        <p:nvSpPr>
          <p:cNvPr id="29" name="Text 18"/>
          <p:cNvSpPr/>
          <p:nvPr/>
        </p:nvSpPr>
        <p:spPr>
          <a:xfrm>
            <a:off x="9353550" y="3770858"/>
            <a:ext cx="1949069" cy="445492"/>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C9C3EE"/>
                </a:solidFill>
                <a:latin typeface="DM Sans" pitchFamily="34" charset="0"/>
                <a:ea typeface="DM Sans" pitchFamily="34" charset="-122"/>
                <a:cs typeface="DM Sans" pitchFamily="34" charset="-120"/>
              </a:rPr>
              <a:t>FoodMatch tables and shared meals</a:t>
            </a:r>
            <a:endParaRPr lang="en-US" sz="1185" dirty="0"/>
          </a:p>
        </p:txBody>
      </p:sp>
      <p:sp>
        <p:nvSpPr>
          <p:cNvPr id="30" name="Shape 19"/>
          <p:cNvSpPr/>
          <p:nvPr/>
        </p:nvSpPr>
        <p:spPr>
          <a:xfrm>
            <a:off x="4270375" y="4994225"/>
            <a:ext cx="2152650" cy="946150"/>
          </a:xfrm>
          <a:prstGeom prst="roundRect">
            <a:avLst>
              <a:gd name="adj" fmla="val 13087"/>
            </a:avLst>
          </a:prstGeom>
          <a:solidFill>
            <a:srgbClr val="2C2460"/>
          </a:solidFill>
          <a:ln w="6350">
            <a:solidFill>
              <a:srgbClr val="4A3F99"/>
            </a:solidFill>
            <a:prstDash val="solid"/>
          </a:ln>
        </p:spPr>
      </p:sp>
      <p:sp>
        <p:nvSpPr>
          <p:cNvPr id="31" name="Text 20"/>
          <p:cNvSpPr/>
          <p:nvPr/>
        </p:nvSpPr>
        <p:spPr>
          <a:xfrm>
            <a:off x="4400550" y="5124400"/>
            <a:ext cx="1949069" cy="2530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FB"/>
                </a:solidFill>
                <a:latin typeface="DM Sans" pitchFamily="34" charset="0"/>
                <a:ea typeface="DM Sans" pitchFamily="34" charset="-122"/>
                <a:cs typeface="DM Sans" pitchFamily="34" charset="-120"/>
              </a:rPr>
              <a:t>Move and recover</a:t>
            </a:r>
            <a:endParaRPr lang="en-US" sz="1300" dirty="0"/>
          </a:p>
        </p:txBody>
      </p:sp>
      <p:sp>
        <p:nvSpPr>
          <p:cNvPr id="32" name="Text 21"/>
          <p:cNvSpPr/>
          <p:nvPr/>
        </p:nvSpPr>
        <p:spPr>
          <a:xfrm>
            <a:off x="4400550" y="5390108"/>
            <a:ext cx="1949069" cy="445492"/>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C9C3EE"/>
                </a:solidFill>
                <a:latin typeface="DM Sans" pitchFamily="34" charset="0"/>
                <a:ea typeface="DM Sans" pitchFamily="34" charset="-122"/>
                <a:cs typeface="DM Sans" pitchFamily="34" charset="-120"/>
              </a:rPr>
              <a:t>Fitness classes, walks, recovery rooms</a:t>
            </a:r>
            <a:endParaRPr lang="en-US" sz="1185" dirty="0"/>
          </a:p>
        </p:txBody>
      </p:sp>
      <p:sp>
        <p:nvSpPr>
          <p:cNvPr id="33" name="Shape 22"/>
          <p:cNvSpPr/>
          <p:nvPr/>
        </p:nvSpPr>
        <p:spPr>
          <a:xfrm>
            <a:off x="9223375" y="4994225"/>
            <a:ext cx="2152650" cy="946150"/>
          </a:xfrm>
          <a:prstGeom prst="roundRect">
            <a:avLst>
              <a:gd name="adj" fmla="val 13087"/>
            </a:avLst>
          </a:prstGeom>
          <a:solidFill>
            <a:srgbClr val="2C2460"/>
          </a:solidFill>
          <a:ln w="6350">
            <a:solidFill>
              <a:srgbClr val="4A3F99"/>
            </a:solidFill>
            <a:prstDash val="solid"/>
          </a:ln>
        </p:spPr>
      </p:sp>
      <p:sp>
        <p:nvSpPr>
          <p:cNvPr id="34" name="Text 23"/>
          <p:cNvSpPr/>
          <p:nvPr/>
        </p:nvSpPr>
        <p:spPr>
          <a:xfrm>
            <a:off x="9353550" y="5124400"/>
            <a:ext cx="1949069" cy="25300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FB"/>
                </a:solidFill>
                <a:latin typeface="DM Sans" pitchFamily="34" charset="0"/>
                <a:ea typeface="DM Sans" pitchFamily="34" charset="-122"/>
                <a:cs typeface="DM Sans" pitchFamily="34" charset="-120"/>
              </a:rPr>
              <a:t>Digital companion</a:t>
            </a:r>
            <a:endParaRPr lang="en-US" sz="1300" dirty="0"/>
          </a:p>
        </p:txBody>
      </p:sp>
      <p:sp>
        <p:nvSpPr>
          <p:cNvPr id="35" name="Text 24"/>
          <p:cNvSpPr/>
          <p:nvPr/>
        </p:nvSpPr>
        <p:spPr>
          <a:xfrm>
            <a:off x="9353550" y="5390108"/>
            <a:ext cx="1949069" cy="445492"/>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C9C3EE"/>
                </a:solidFill>
                <a:latin typeface="DM Sans" pitchFamily="34" charset="0"/>
                <a:ea typeface="DM Sans" pitchFamily="34" charset="-122"/>
                <a:cs typeface="DM Sans" pitchFamily="34" charset="-120"/>
              </a:rPr>
              <a:t>LidlHealth app and Health Line</a:t>
            </a:r>
            <a:endParaRPr lang="en-US" sz="1185" dirty="0"/>
          </a:p>
        </p:txBody>
      </p:sp>
      <p:pic>
        <p:nvPicPr>
          <p:cNvPr id="36" name="Image 9" descr="image (1).png">    </p:cNvPr>
          <p:cNvPicPr>
            <a:picLocks noChangeAspect="1"/>
          </p:cNvPicPr>
          <p:nvPr/>
        </p:nvPicPr>
        <p:blipFill>
          <a:blip r:embed="rId10"/>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164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FB"/>
                </a:solidFill>
                <a:latin typeface="DM Sans" pitchFamily="34" charset="0"/>
                <a:ea typeface="DM Sans" pitchFamily="34" charset="-122"/>
                <a:cs typeface="DM Sans" pitchFamily="34" charset="-120"/>
              </a:rPr>
              <a:t>Schwarz Gesundheit</a:t>
            </a:r>
            <a:endParaRPr lang="en-US" sz="3200" dirty="0"/>
          </a:p>
        </p:txBody>
      </p:sp>
      <p:pic>
        <p:nvPicPr>
          <p:cNvPr id="3" name="Image 0" descr="image.png">    </p:cNvPr>
          <p:cNvPicPr>
            <a:picLocks noChangeAspect="1"/>
          </p:cNvPicPr>
          <p:nvPr/>
        </p:nvPicPr>
        <p:blipFill>
          <a:blip r:embed="rId1"/>
          <a:srcRect l="0" r="0" t="7742" b="7742"/>
          <a:stretch/>
        </p:blipFill>
        <p:spPr>
          <a:xfrm>
            <a:off x="1821731" y="1475234"/>
            <a:ext cx="8548539" cy="4569966"/>
          </a:xfrm>
          <a:prstGeom prst="rect">
            <a:avLst/>
          </a:prstGeom>
        </p:spPr>
      </p:pic>
      <p:pic>
        <p:nvPicPr>
          <p:cNvPr id="4" name="Image 1" descr="image.png">    </p:cNvPr>
          <p:cNvPicPr>
            <a:picLocks noChangeAspect="1"/>
          </p:cNvPicPr>
          <p:nvPr/>
        </p:nvPicPr>
        <p:blipFill>
          <a:blip r:embed="rId2"/>
          <a:srcRect l="8514" r="8514" t="0" b="0"/>
          <a:stretch/>
        </p:blipFill>
        <p:spPr>
          <a:xfrm>
            <a:off x="1821731" y="1475259"/>
            <a:ext cx="8548539" cy="4569966"/>
          </a:xfrm>
          <a:prstGeom prst="rect">
            <a:avLst/>
          </a:prstGeom>
        </p:spPr>
      </p:pic>
      <p:pic>
        <p:nvPicPr>
          <p:cNvPr id="5" name="Image 2" descr="image (1).png">    </p:cNvPr>
          <p:cNvPicPr>
            <a:picLocks noChangeAspect="1"/>
          </p:cNvPicPr>
          <p:nvPr/>
        </p:nvPicPr>
        <p:blipFill>
          <a:blip r:embed="rId3"/>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64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FB"/>
                </a:solidFill>
                <a:latin typeface="DM Sans" pitchFamily="34" charset="0"/>
                <a:ea typeface="DM Sans" pitchFamily="34" charset="-122"/>
                <a:cs typeface="DM Sans" pitchFamily="34" charset="-120"/>
              </a:rPr>
              <a:t>Schwarz Gesundheit</a:t>
            </a:r>
            <a:endParaRPr lang="en-US" sz="3200" dirty="0"/>
          </a:p>
        </p:txBody>
      </p:sp>
      <p:pic>
        <p:nvPicPr>
          <p:cNvPr id="3" name="Image 0" descr="image.png">    </p:cNvPr>
          <p:cNvPicPr>
            <a:picLocks noChangeAspect="1"/>
          </p:cNvPicPr>
          <p:nvPr/>
        </p:nvPicPr>
        <p:blipFill>
          <a:blip r:embed="rId1"/>
          <a:srcRect l="0" r="0" t="7742" b="7742"/>
          <a:stretch/>
        </p:blipFill>
        <p:spPr>
          <a:xfrm>
            <a:off x="1821731" y="1475234"/>
            <a:ext cx="8548539" cy="4569966"/>
          </a:xfrm>
          <a:prstGeom prst="rect">
            <a:avLst/>
          </a:prstGeom>
        </p:spPr>
      </p:pic>
      <p:pic>
        <p:nvPicPr>
          <p:cNvPr id="4" name="Image 1" descr="image (1).png">    </p:cNvPr>
          <p:cNvPicPr>
            <a:picLocks noChangeAspect="1"/>
          </p:cNvPicPr>
          <p:nvPr/>
        </p:nvPicPr>
        <p:blipFill>
          <a:blip r:embed="rId2"/>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64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FB"/>
                </a:solidFill>
                <a:latin typeface="DM Sans" pitchFamily="34" charset="0"/>
                <a:ea typeface="DM Sans" pitchFamily="34" charset="-122"/>
                <a:cs typeface="DM Sans" pitchFamily="34" charset="-120"/>
              </a:rPr>
              <a:t>Schwarz Gesundheit</a:t>
            </a:r>
            <a:endParaRPr lang="en-US" sz="3200" dirty="0"/>
          </a:p>
        </p:txBody>
      </p:sp>
      <p:pic>
        <p:nvPicPr>
          <p:cNvPr id="3" name="Image 0" descr="image.png">    </p:cNvPr>
          <p:cNvPicPr>
            <a:picLocks noChangeAspect="1"/>
          </p:cNvPicPr>
          <p:nvPr/>
        </p:nvPicPr>
        <p:blipFill>
          <a:blip r:embed="rId1"/>
          <a:srcRect l="0" r="0" t="7496" b="7496"/>
          <a:stretch/>
        </p:blipFill>
        <p:spPr>
          <a:xfrm>
            <a:off x="1716708" y="1562770"/>
            <a:ext cx="8691711" cy="4450705"/>
          </a:xfrm>
          <a:prstGeom prst="rect">
            <a:avLst/>
          </a:prstGeom>
        </p:spPr>
      </p:pic>
      <p:pic>
        <p:nvPicPr>
          <p:cNvPr id="4" name="Image 1" descr="image (1).png">    </p:cNvPr>
          <p:cNvPicPr>
            <a:picLocks noChangeAspect="1"/>
          </p:cNvPicPr>
          <p:nvPr/>
        </p:nvPicPr>
        <p:blipFill>
          <a:blip r:embed="rId2"/>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164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FB"/>
                </a:solidFill>
                <a:latin typeface="DM Sans" pitchFamily="34" charset="0"/>
                <a:ea typeface="DM Sans" pitchFamily="34" charset="-122"/>
                <a:cs typeface="DM Sans" pitchFamily="34" charset="-120"/>
              </a:rPr>
              <a:t>Schwarz Gesundheit</a:t>
            </a:r>
            <a:endParaRPr lang="en-US" sz="3200" dirty="0"/>
          </a:p>
        </p:txBody>
      </p:sp>
      <p:pic>
        <p:nvPicPr>
          <p:cNvPr id="3" name="Image 0" descr="image.png">    </p:cNvPr>
          <p:cNvPicPr>
            <a:picLocks noChangeAspect="1"/>
          </p:cNvPicPr>
          <p:nvPr/>
        </p:nvPicPr>
        <p:blipFill>
          <a:blip r:embed="rId1"/>
          <a:srcRect l="0" r="0" t="7496" b="7496"/>
          <a:stretch/>
        </p:blipFill>
        <p:spPr>
          <a:xfrm>
            <a:off x="1716708" y="1562770"/>
            <a:ext cx="8691711" cy="4450705"/>
          </a:xfrm>
          <a:prstGeom prst="rect">
            <a:avLst/>
          </a:prstGeom>
        </p:spPr>
      </p:pic>
      <p:pic>
        <p:nvPicPr>
          <p:cNvPr id="4" name="Image 1" descr="image.png">    </p:cNvPr>
          <p:cNvPicPr>
            <a:picLocks noChangeAspect="1"/>
          </p:cNvPicPr>
          <p:nvPr/>
        </p:nvPicPr>
        <p:blipFill>
          <a:blip r:embed="rId2"/>
          <a:srcRect l="0" r="0" t="7318" b="7318"/>
          <a:stretch/>
        </p:blipFill>
        <p:spPr>
          <a:xfrm>
            <a:off x="1716732" y="1562695"/>
            <a:ext cx="8691662" cy="4450755"/>
          </a:xfrm>
          <a:prstGeom prst="rect">
            <a:avLst/>
          </a:prstGeom>
        </p:spPr>
      </p:pic>
      <p:pic>
        <p:nvPicPr>
          <p:cNvPr id="5" name="Image 2" descr="image (1).png">    </p:cNvPr>
          <p:cNvPicPr>
            <a:picLocks noChangeAspect="1"/>
          </p:cNvPicPr>
          <p:nvPr/>
        </p:nvPicPr>
        <p:blipFill>
          <a:blip r:embed="rId3"/>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VALUE PROPOSITION</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Healthy living: affordable, simple, social</a:t>
            </a:r>
            <a:endParaRPr lang="en-US" sz="3200" dirty="0"/>
          </a:p>
        </p:txBody>
      </p:sp>
      <p:sp>
        <p:nvSpPr>
          <p:cNvPr id="4" name="Text 2"/>
          <p:cNvSpPr/>
          <p:nvPr/>
        </p:nvSpPr>
        <p:spPr>
          <a:xfrm>
            <a:off x="965200" y="1803350"/>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A5675"/>
                </a:solidFill>
                <a:latin typeface="DM Sans" pitchFamily="34" charset="0"/>
                <a:ea typeface="DM Sans" pitchFamily="34" charset="-122"/>
                <a:cs typeface="DM Sans" pitchFamily="34" charset="-120"/>
              </a:rPr>
              <a:t>CUSTOMER PAIN</a:t>
            </a:r>
            <a:endParaRPr lang="en-US" sz="1200" dirty="0"/>
          </a:p>
        </p:txBody>
      </p:sp>
      <p:sp>
        <p:nvSpPr>
          <p:cNvPr id="5" name="Text 3"/>
          <p:cNvSpPr/>
          <p:nvPr/>
        </p:nvSpPr>
        <p:spPr>
          <a:xfrm>
            <a:off x="2768600" y="1803350"/>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A5675"/>
                </a:solidFill>
                <a:latin typeface="DM Sans" pitchFamily="34" charset="0"/>
                <a:ea typeface="DM Sans" pitchFamily="34" charset="-122"/>
                <a:cs typeface="DM Sans" pitchFamily="34" charset="-120"/>
              </a:rPr>
              <a:t>OUR ANSWER</a:t>
            </a:r>
            <a:endParaRPr lang="en-US" sz="1200" dirty="0"/>
          </a:p>
        </p:txBody>
      </p:sp>
      <p:sp>
        <p:nvSpPr>
          <p:cNvPr id="6" name="Shape 4"/>
          <p:cNvSpPr/>
          <p:nvPr/>
        </p:nvSpPr>
        <p:spPr>
          <a:xfrm>
            <a:off x="815975" y="2121446"/>
            <a:ext cx="6953250" cy="643880"/>
          </a:xfrm>
          <a:prstGeom prst="roundRect">
            <a:avLst>
              <a:gd name="adj" fmla="val 19231"/>
            </a:avLst>
          </a:prstGeom>
          <a:solidFill>
            <a:srgbClr val="FDFCFF"/>
          </a:solidFill>
          <a:ln w="6350">
            <a:solidFill>
              <a:srgbClr val="E2DEF3"/>
            </a:solidFill>
            <a:prstDash val="solid"/>
          </a:ln>
        </p:spPr>
      </p:sp>
      <p:sp>
        <p:nvSpPr>
          <p:cNvPr id="7" name="Text 5"/>
          <p:cNvSpPr/>
          <p:nvPr/>
        </p:nvSpPr>
        <p:spPr>
          <a:xfrm>
            <a:off x="971550" y="2251621"/>
            <a:ext cx="1498600" cy="383530"/>
          </a:xfrm>
          <a:prstGeom prst="roundRect">
            <a:avLst>
              <a:gd name="adj" fmla="val 23179"/>
            </a:avLst>
          </a:prstGeom>
          <a:solidFill>
            <a:srgbClr val="FBEDE4"/>
          </a:solidFill>
          <a:ln/>
        </p:spPr>
        <p:txBody>
          <a:bodyPr wrap="square" lIns="75562" tIns="50162" rIns="24762" bIns="24762" rtlCol="0" anchor="t">
            <a:normAutofit/>
          </a:bodyPr>
          <a:lstStyle/>
          <a:p>
            <a:pPr algn="l" indent="0" marL="0">
              <a:lnSpc>
                <a:spcPts val="1820"/>
              </a:lnSpc>
              <a:buNone/>
            </a:pPr>
            <a:r>
              <a:rPr lang="en-US" sz="1300" b="1" dirty="0">
                <a:solidFill>
                  <a:srgbClr val="B5541C"/>
                </a:solidFill>
                <a:latin typeface="DM Sans" pitchFamily="34" charset="0"/>
                <a:ea typeface="DM Sans" pitchFamily="34" charset="-122"/>
                <a:cs typeface="DM Sans" pitchFamily="34" charset="-120"/>
              </a:rPr>
              <a:t>Too expensive</a:t>
            </a:r>
            <a:endParaRPr lang="en-US" sz="1300" dirty="0"/>
          </a:p>
        </p:txBody>
      </p:sp>
      <p:pic>
        <p:nvPicPr>
          <p:cNvPr id="8" name="Image 0" descr="arrow-right">    </p:cNvPr>
          <p:cNvPicPr>
            <a:picLocks noChangeAspect="1"/>
          </p:cNvPicPr>
          <p:nvPr/>
        </p:nvPicPr>
        <p:blipFill>
          <a:blip r:embed="rId1"/>
          <a:srcRect l="0" r="0" t="0" b="0"/>
          <a:stretch/>
        </p:blipFill>
        <p:spPr>
          <a:xfrm>
            <a:off x="2622550" y="2367161"/>
            <a:ext cx="304800" cy="152400"/>
          </a:xfrm>
          <a:prstGeom prst="rect">
            <a:avLst/>
          </a:prstGeom>
        </p:spPr>
      </p:pic>
      <p:sp>
        <p:nvSpPr>
          <p:cNvPr id="9" name="Text 6"/>
          <p:cNvSpPr/>
          <p:nvPr/>
        </p:nvSpPr>
        <p:spPr>
          <a:xfrm>
            <a:off x="3079750" y="2336701"/>
            <a:ext cx="4669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Healthy Deals, price-neutral swaps, Life Exchange credits</a:t>
            </a:r>
            <a:endParaRPr lang="en-US" sz="1200" dirty="0"/>
          </a:p>
        </p:txBody>
      </p:sp>
      <p:sp>
        <p:nvSpPr>
          <p:cNvPr id="10" name="Shape 7"/>
          <p:cNvSpPr/>
          <p:nvPr/>
        </p:nvSpPr>
        <p:spPr>
          <a:xfrm>
            <a:off x="815975" y="2873276"/>
            <a:ext cx="6953250" cy="643880"/>
          </a:xfrm>
          <a:prstGeom prst="roundRect">
            <a:avLst>
              <a:gd name="adj" fmla="val 19231"/>
            </a:avLst>
          </a:prstGeom>
          <a:solidFill>
            <a:srgbClr val="FDFCFF"/>
          </a:solidFill>
          <a:ln w="6350">
            <a:solidFill>
              <a:srgbClr val="E2DEF3"/>
            </a:solidFill>
            <a:prstDash val="solid"/>
          </a:ln>
        </p:spPr>
      </p:sp>
      <p:sp>
        <p:nvSpPr>
          <p:cNvPr id="11" name="Text 8"/>
          <p:cNvSpPr/>
          <p:nvPr/>
        </p:nvSpPr>
        <p:spPr>
          <a:xfrm>
            <a:off x="971550" y="3003451"/>
            <a:ext cx="1498600" cy="383530"/>
          </a:xfrm>
          <a:prstGeom prst="roundRect">
            <a:avLst>
              <a:gd name="adj" fmla="val 23179"/>
            </a:avLst>
          </a:prstGeom>
          <a:solidFill>
            <a:srgbClr val="FBEDE4"/>
          </a:solidFill>
          <a:ln/>
        </p:spPr>
        <p:txBody>
          <a:bodyPr wrap="square" lIns="75562" tIns="50162" rIns="24762" bIns="24762" rtlCol="0" anchor="t">
            <a:normAutofit/>
          </a:bodyPr>
          <a:lstStyle/>
          <a:p>
            <a:pPr algn="l" indent="0" marL="0">
              <a:lnSpc>
                <a:spcPts val="1820"/>
              </a:lnSpc>
              <a:buNone/>
            </a:pPr>
            <a:r>
              <a:rPr lang="en-US" sz="1300" b="1" dirty="0">
                <a:solidFill>
                  <a:srgbClr val="B5541C"/>
                </a:solidFill>
                <a:latin typeface="DM Sans" pitchFamily="34" charset="0"/>
                <a:ea typeface="DM Sans" pitchFamily="34" charset="-122"/>
                <a:cs typeface="DM Sans" pitchFamily="34" charset="-120"/>
              </a:rPr>
              <a:t>Too complex</a:t>
            </a:r>
            <a:endParaRPr lang="en-US" sz="1300" dirty="0"/>
          </a:p>
        </p:txBody>
      </p:sp>
      <p:pic>
        <p:nvPicPr>
          <p:cNvPr id="12" name="Image 1" descr="arrow-right">    </p:cNvPr>
          <p:cNvPicPr>
            <a:picLocks noChangeAspect="1"/>
          </p:cNvPicPr>
          <p:nvPr/>
        </p:nvPicPr>
        <p:blipFill>
          <a:blip r:embed="rId2"/>
          <a:srcRect l="0" r="0" t="0" b="0"/>
          <a:stretch/>
        </p:blipFill>
        <p:spPr>
          <a:xfrm>
            <a:off x="2622550" y="3118991"/>
            <a:ext cx="304800" cy="152400"/>
          </a:xfrm>
          <a:prstGeom prst="rect">
            <a:avLst/>
          </a:prstGeom>
        </p:spPr>
      </p:pic>
      <p:sp>
        <p:nvSpPr>
          <p:cNvPr id="13" name="Text 9"/>
          <p:cNvSpPr/>
          <p:nvPr/>
        </p:nvSpPr>
        <p:spPr>
          <a:xfrm>
            <a:off x="3079750" y="3088531"/>
            <a:ext cx="4669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AI meal plans, smart lists, goal-based shopping, Health Line</a:t>
            </a:r>
            <a:endParaRPr lang="en-US" sz="1200" dirty="0"/>
          </a:p>
        </p:txBody>
      </p:sp>
      <p:sp>
        <p:nvSpPr>
          <p:cNvPr id="14" name="Shape 10"/>
          <p:cNvSpPr/>
          <p:nvPr/>
        </p:nvSpPr>
        <p:spPr>
          <a:xfrm>
            <a:off x="815975" y="3625106"/>
            <a:ext cx="6953250" cy="643880"/>
          </a:xfrm>
          <a:prstGeom prst="roundRect">
            <a:avLst>
              <a:gd name="adj" fmla="val 19231"/>
            </a:avLst>
          </a:prstGeom>
          <a:solidFill>
            <a:srgbClr val="FDFCFF"/>
          </a:solidFill>
          <a:ln w="6350">
            <a:solidFill>
              <a:srgbClr val="E2DEF3"/>
            </a:solidFill>
            <a:prstDash val="solid"/>
          </a:ln>
        </p:spPr>
      </p:sp>
      <p:sp>
        <p:nvSpPr>
          <p:cNvPr id="15" name="Text 11"/>
          <p:cNvSpPr/>
          <p:nvPr/>
        </p:nvSpPr>
        <p:spPr>
          <a:xfrm>
            <a:off x="971550" y="3755281"/>
            <a:ext cx="1498600" cy="383530"/>
          </a:xfrm>
          <a:prstGeom prst="roundRect">
            <a:avLst>
              <a:gd name="adj" fmla="val 23179"/>
            </a:avLst>
          </a:prstGeom>
          <a:solidFill>
            <a:srgbClr val="FBEDE4"/>
          </a:solidFill>
          <a:ln/>
        </p:spPr>
        <p:txBody>
          <a:bodyPr wrap="square" lIns="75562" tIns="50162" rIns="24762" bIns="24762" rtlCol="0" anchor="t">
            <a:normAutofit/>
          </a:bodyPr>
          <a:lstStyle/>
          <a:p>
            <a:pPr algn="l" indent="0" marL="0">
              <a:lnSpc>
                <a:spcPts val="1820"/>
              </a:lnSpc>
              <a:buNone/>
            </a:pPr>
            <a:r>
              <a:rPr lang="en-US" sz="1300" b="1" dirty="0">
                <a:solidFill>
                  <a:srgbClr val="B5541C"/>
                </a:solidFill>
                <a:latin typeface="DM Sans" pitchFamily="34" charset="0"/>
                <a:ea typeface="DM Sans" pitchFamily="34" charset="-122"/>
                <a:cs typeface="DM Sans" pitchFamily="34" charset="-120"/>
              </a:rPr>
              <a:t>Too lonely</a:t>
            </a:r>
            <a:endParaRPr lang="en-US" sz="1300" dirty="0"/>
          </a:p>
        </p:txBody>
      </p:sp>
      <p:pic>
        <p:nvPicPr>
          <p:cNvPr id="16" name="Image 2" descr="arrow-right">    </p:cNvPr>
          <p:cNvPicPr>
            <a:picLocks noChangeAspect="1"/>
          </p:cNvPicPr>
          <p:nvPr/>
        </p:nvPicPr>
        <p:blipFill>
          <a:blip r:embed="rId3"/>
          <a:srcRect l="0" r="0" t="0" b="0"/>
          <a:stretch/>
        </p:blipFill>
        <p:spPr>
          <a:xfrm>
            <a:off x="2622550" y="3870821"/>
            <a:ext cx="304800" cy="152400"/>
          </a:xfrm>
          <a:prstGeom prst="rect">
            <a:avLst/>
          </a:prstGeom>
        </p:spPr>
      </p:pic>
      <p:sp>
        <p:nvSpPr>
          <p:cNvPr id="17" name="Text 12"/>
          <p:cNvSpPr/>
          <p:nvPr/>
        </p:nvSpPr>
        <p:spPr>
          <a:xfrm>
            <a:off x="3079750" y="3840361"/>
            <a:ext cx="4669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FoodMatch, Healthy Hour, Move with Lidl</a:t>
            </a:r>
            <a:endParaRPr lang="en-US" sz="1200" dirty="0"/>
          </a:p>
        </p:txBody>
      </p:sp>
      <p:sp>
        <p:nvSpPr>
          <p:cNvPr id="18" name="Shape 13"/>
          <p:cNvSpPr/>
          <p:nvPr/>
        </p:nvSpPr>
        <p:spPr>
          <a:xfrm>
            <a:off x="815975" y="4376936"/>
            <a:ext cx="6953250" cy="643880"/>
          </a:xfrm>
          <a:prstGeom prst="roundRect">
            <a:avLst>
              <a:gd name="adj" fmla="val 19231"/>
            </a:avLst>
          </a:prstGeom>
          <a:solidFill>
            <a:srgbClr val="FDFCFF"/>
          </a:solidFill>
          <a:ln w="6350">
            <a:solidFill>
              <a:srgbClr val="E2DEF3"/>
            </a:solidFill>
            <a:prstDash val="solid"/>
          </a:ln>
        </p:spPr>
      </p:sp>
      <p:sp>
        <p:nvSpPr>
          <p:cNvPr id="19" name="Text 14"/>
          <p:cNvSpPr/>
          <p:nvPr/>
        </p:nvSpPr>
        <p:spPr>
          <a:xfrm>
            <a:off x="971550" y="4507111"/>
            <a:ext cx="1498600" cy="383530"/>
          </a:xfrm>
          <a:prstGeom prst="roundRect">
            <a:avLst>
              <a:gd name="adj" fmla="val 23179"/>
            </a:avLst>
          </a:prstGeom>
          <a:solidFill>
            <a:srgbClr val="FBEDE4"/>
          </a:solidFill>
          <a:ln/>
        </p:spPr>
        <p:txBody>
          <a:bodyPr wrap="square" lIns="75562" tIns="50162" rIns="24762" bIns="24762" rtlCol="0" anchor="t">
            <a:normAutofit/>
          </a:bodyPr>
          <a:lstStyle/>
          <a:p>
            <a:pPr algn="l" indent="0" marL="0">
              <a:lnSpc>
                <a:spcPts val="1820"/>
              </a:lnSpc>
              <a:buNone/>
            </a:pPr>
            <a:r>
              <a:rPr lang="en-US" sz="1300" b="1" dirty="0">
                <a:solidFill>
                  <a:srgbClr val="B5541C"/>
                </a:solidFill>
                <a:latin typeface="DM Sans" pitchFamily="34" charset="0"/>
                <a:ea typeface="DM Sans" pitchFamily="34" charset="-122"/>
                <a:cs typeface="DM Sans" pitchFamily="34" charset="-120"/>
              </a:rPr>
              <a:t>No motivation</a:t>
            </a:r>
            <a:endParaRPr lang="en-US" sz="1300" dirty="0"/>
          </a:p>
        </p:txBody>
      </p:sp>
      <p:pic>
        <p:nvPicPr>
          <p:cNvPr id="20" name="Image 3" descr="arrow-right">    </p:cNvPr>
          <p:cNvPicPr>
            <a:picLocks noChangeAspect="1"/>
          </p:cNvPicPr>
          <p:nvPr/>
        </p:nvPicPr>
        <p:blipFill>
          <a:blip r:embed="rId4"/>
          <a:srcRect l="0" r="0" t="0" b="0"/>
          <a:stretch/>
        </p:blipFill>
        <p:spPr>
          <a:xfrm>
            <a:off x="2622550" y="4622651"/>
            <a:ext cx="304800" cy="152400"/>
          </a:xfrm>
          <a:prstGeom prst="rect">
            <a:avLst/>
          </a:prstGeom>
        </p:spPr>
      </p:pic>
      <p:sp>
        <p:nvSpPr>
          <p:cNvPr id="21" name="Text 15"/>
          <p:cNvSpPr/>
          <p:nvPr/>
        </p:nvSpPr>
        <p:spPr>
          <a:xfrm>
            <a:off x="3079750" y="4592191"/>
            <a:ext cx="4669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Future You, Bet on yourself, health stations</a:t>
            </a:r>
            <a:endParaRPr lang="en-US" sz="1200" dirty="0"/>
          </a:p>
        </p:txBody>
      </p:sp>
      <p:sp>
        <p:nvSpPr>
          <p:cNvPr id="22" name="Shape 16"/>
          <p:cNvSpPr/>
          <p:nvPr/>
        </p:nvSpPr>
        <p:spPr>
          <a:xfrm>
            <a:off x="8077200" y="1803350"/>
            <a:ext cx="3302000" cy="1592461"/>
          </a:xfrm>
          <a:prstGeom prst="roundRect">
            <a:avLst>
              <a:gd name="adj" fmla="val 9570"/>
            </a:avLst>
          </a:prstGeom>
          <a:solidFill>
            <a:srgbClr val="1C1640"/>
          </a:solidFill>
          <a:ln/>
        </p:spPr>
      </p:sp>
      <p:sp>
        <p:nvSpPr>
          <p:cNvPr id="23" name="Text 17"/>
          <p:cNvSpPr/>
          <p:nvPr/>
        </p:nvSpPr>
        <p:spPr>
          <a:xfrm>
            <a:off x="8280400" y="2006550"/>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A99BFF"/>
                </a:solidFill>
                <a:latin typeface="DM Sans" pitchFamily="34" charset="0"/>
                <a:ea typeface="DM Sans" pitchFamily="34" charset="-122"/>
                <a:cs typeface="DM Sans" pitchFamily="34" charset="-120"/>
              </a:rPr>
              <a:t>FOR SCHWARZ</a:t>
            </a:r>
            <a:endParaRPr lang="en-US" sz="1200" dirty="0"/>
          </a:p>
        </p:txBody>
      </p:sp>
      <p:sp>
        <p:nvSpPr>
          <p:cNvPr id="24" name="Text 18"/>
          <p:cNvSpPr/>
          <p:nvPr/>
        </p:nvSpPr>
        <p:spPr>
          <a:xfrm>
            <a:off x="8379206" y="2308771"/>
            <a:ext cx="2876042" cy="90924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F5F3FB"/>
                </a:solidFill>
                <a:latin typeface="DM Sans" pitchFamily="34" charset="0"/>
                <a:ea typeface="DM Sans" pitchFamily="34" charset="-122"/>
                <a:cs typeface="DM Sans" pitchFamily="34" charset="-120"/>
              </a:rPr>
              <a:t>More visits and bigger baskets</a:t>
            </a:r>
            <a:endParaRPr lang="en-US" sz="1200" dirty="0"/>
          </a:p>
          <a:p>
            <a:pPr algn="l" marL="155194" indent="-155194">
              <a:lnSpc>
                <a:spcPts val="1740"/>
              </a:lnSpc>
              <a:buSzPct val="100000"/>
              <a:buChar char="•"/>
            </a:pPr>
            <a:r>
              <a:rPr lang="en-US" sz="1200" dirty="0">
                <a:solidFill>
                  <a:srgbClr val="F5F3FB"/>
                </a:solidFill>
                <a:latin typeface="DM Sans" pitchFamily="34" charset="0"/>
                <a:ea typeface="DM Sans" pitchFamily="34" charset="-122"/>
                <a:cs typeface="DM Sans" pitchFamily="34" charset="-120"/>
              </a:rPr>
              <a:t>Shift to fresh and own-brand</a:t>
            </a:r>
            <a:endParaRPr lang="en-US" sz="1200" dirty="0"/>
          </a:p>
          <a:p>
            <a:pPr algn="l" marL="155194" indent="-155194">
              <a:lnSpc>
                <a:spcPts val="1740"/>
              </a:lnSpc>
              <a:buSzPct val="100000"/>
              <a:buChar char="•"/>
            </a:pPr>
            <a:r>
              <a:rPr lang="en-US" sz="1200" dirty="0">
                <a:solidFill>
                  <a:srgbClr val="F5F3FB"/>
                </a:solidFill>
                <a:latin typeface="DM Sans" pitchFamily="34" charset="0"/>
                <a:ea typeface="DM Sans" pitchFamily="34" charset="-122"/>
                <a:cs typeface="DM Sans" pitchFamily="34" charset="-120"/>
              </a:rPr>
              <a:t>New partner revenue</a:t>
            </a:r>
            <a:endParaRPr lang="en-US" sz="1200" dirty="0"/>
          </a:p>
          <a:p>
            <a:pPr algn="l" marL="155194" indent="-155194">
              <a:lnSpc>
                <a:spcPts val="1740"/>
              </a:lnSpc>
              <a:buSzPct val="100000"/>
              <a:buChar char="•"/>
            </a:pPr>
            <a:r>
              <a:rPr lang="en-US" sz="1200" dirty="0">
                <a:solidFill>
                  <a:srgbClr val="F5F3FB"/>
                </a:solidFill>
                <a:latin typeface="DM Sans" pitchFamily="34" charset="0"/>
                <a:ea typeface="DM Sans" pitchFamily="34" charset="-122"/>
                <a:cs typeface="DM Sans" pitchFamily="34" charset="-120"/>
              </a:rPr>
              <a:t>A brand people trust with health</a:t>
            </a:r>
            <a:endParaRPr lang="en-US" sz="1200" dirty="0"/>
          </a:p>
        </p:txBody>
      </p:sp>
      <p:sp>
        <p:nvSpPr>
          <p:cNvPr id="25" name="Shape 19"/>
          <p:cNvSpPr/>
          <p:nvPr/>
        </p:nvSpPr>
        <p:spPr>
          <a:xfrm>
            <a:off x="8077200" y="3522811"/>
            <a:ext cx="3302000" cy="1371501"/>
          </a:xfrm>
          <a:prstGeom prst="roundRect">
            <a:avLst>
              <a:gd name="adj" fmla="val 11112"/>
            </a:avLst>
          </a:prstGeom>
          <a:solidFill>
            <a:srgbClr val="E6F4EC"/>
          </a:solidFill>
          <a:ln/>
        </p:spPr>
      </p:sp>
      <p:sp>
        <p:nvSpPr>
          <p:cNvPr id="26" name="Text 20"/>
          <p:cNvSpPr/>
          <p:nvPr/>
        </p:nvSpPr>
        <p:spPr>
          <a:xfrm>
            <a:off x="8280400" y="3726011"/>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7A52"/>
                </a:solidFill>
                <a:latin typeface="DM Sans" pitchFamily="34" charset="0"/>
                <a:ea typeface="DM Sans" pitchFamily="34" charset="-122"/>
                <a:cs typeface="DM Sans" pitchFamily="34" charset="-120"/>
              </a:rPr>
              <a:t>FOR SOCIETY</a:t>
            </a:r>
            <a:endParaRPr lang="en-US" sz="1200" dirty="0"/>
          </a:p>
        </p:txBody>
      </p:sp>
      <p:sp>
        <p:nvSpPr>
          <p:cNvPr id="27" name="Text 21"/>
          <p:cNvSpPr/>
          <p:nvPr/>
        </p:nvSpPr>
        <p:spPr>
          <a:xfrm>
            <a:off x="8379206" y="4028232"/>
            <a:ext cx="2876042" cy="68828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1C1640"/>
                </a:solidFill>
                <a:latin typeface="DM Sans" pitchFamily="34" charset="0"/>
                <a:ea typeface="DM Sans" pitchFamily="34" charset="-122"/>
                <a:cs typeface="DM Sans" pitchFamily="34" charset="-120"/>
              </a:rPr>
              <a:t>Prevention instead of treatment</a:t>
            </a:r>
            <a:endParaRPr lang="en-US" sz="1200" dirty="0"/>
          </a:p>
          <a:p>
            <a:pPr algn="l" marL="155194" indent="-155194">
              <a:lnSpc>
                <a:spcPts val="1740"/>
              </a:lnSpc>
              <a:buSzPct val="100000"/>
              <a:buChar char="•"/>
            </a:pPr>
            <a:r>
              <a:rPr lang="en-US" sz="1200" dirty="0">
                <a:solidFill>
                  <a:srgbClr val="1C1640"/>
                </a:solidFill>
                <a:latin typeface="DM Sans" pitchFamily="34" charset="0"/>
                <a:ea typeface="DM Sans" pitchFamily="34" charset="-122"/>
                <a:cs typeface="DM Sans" pitchFamily="34" charset="-120"/>
              </a:rPr>
              <a:t>Less food waste</a:t>
            </a:r>
            <a:endParaRPr lang="en-US" sz="1200" dirty="0"/>
          </a:p>
          <a:p>
            <a:pPr algn="l" marL="155194" indent="-155194">
              <a:lnSpc>
                <a:spcPts val="1740"/>
              </a:lnSpc>
              <a:buSzPct val="100000"/>
              <a:buChar char="•"/>
            </a:pPr>
            <a:r>
              <a:rPr lang="en-US" sz="1200" dirty="0">
                <a:solidFill>
                  <a:srgbClr val="1C1640"/>
                </a:solidFill>
                <a:latin typeface="DM Sans" pitchFamily="34" charset="0"/>
                <a:ea typeface="DM Sans" pitchFamily="34" charset="-122"/>
                <a:cs typeface="DM Sans" pitchFamily="34" charset="-120"/>
              </a:rPr>
              <a:t>Less loneliness, across all ages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STRATEGIC FIT</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Built on what Schwarz already owns</a:t>
            </a:r>
            <a:endParaRPr lang="en-US" sz="3200" dirty="0"/>
          </a:p>
        </p:txBody>
      </p:sp>
      <p:sp>
        <p:nvSpPr>
          <p:cNvPr id="4" name="Text 2"/>
          <p:cNvSpPr/>
          <p:nvPr/>
        </p:nvSpPr>
        <p:spPr>
          <a:xfrm>
            <a:off x="812800" y="1854150"/>
            <a:ext cx="274701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A5675"/>
                </a:solidFill>
                <a:latin typeface="DM Sans" pitchFamily="34" charset="0"/>
                <a:ea typeface="DM Sans" pitchFamily="34" charset="-122"/>
                <a:cs typeface="DM Sans" pitchFamily="34" charset="-120"/>
              </a:rPr>
              <a:t>SCHWARZ ASSET</a:t>
            </a:r>
            <a:endParaRPr lang="en-US" sz="1200" dirty="0"/>
          </a:p>
        </p:txBody>
      </p:sp>
      <p:sp>
        <p:nvSpPr>
          <p:cNvPr id="5" name="Text 3"/>
          <p:cNvSpPr/>
          <p:nvPr/>
        </p:nvSpPr>
        <p:spPr>
          <a:xfrm>
            <a:off x="3556000" y="1854150"/>
            <a:ext cx="1478260"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Lidl Plus/Kaufland app</a:t>
            </a:r>
            <a:endParaRPr lang="en-US" sz="1200" dirty="0"/>
          </a:p>
        </p:txBody>
      </p:sp>
      <p:sp>
        <p:nvSpPr>
          <p:cNvPr id="6" name="Text 4"/>
          <p:cNvSpPr/>
          <p:nvPr/>
        </p:nvSpPr>
        <p:spPr>
          <a:xfrm>
            <a:off x="5135860" y="1854150"/>
            <a:ext cx="1478260"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Health Line</a:t>
            </a:r>
            <a:endParaRPr lang="en-US" sz="1200" dirty="0"/>
          </a:p>
        </p:txBody>
      </p:sp>
      <p:sp>
        <p:nvSpPr>
          <p:cNvPr id="7" name="Text 5"/>
          <p:cNvSpPr/>
          <p:nvPr/>
        </p:nvSpPr>
        <p:spPr>
          <a:xfrm>
            <a:off x="6715720" y="1854150"/>
            <a:ext cx="1478310"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In-store stations</a:t>
            </a:r>
            <a:endParaRPr lang="en-US" sz="1200" dirty="0"/>
          </a:p>
        </p:txBody>
      </p:sp>
      <p:sp>
        <p:nvSpPr>
          <p:cNvPr id="8" name="Text 6"/>
          <p:cNvSpPr/>
          <p:nvPr/>
        </p:nvSpPr>
        <p:spPr>
          <a:xfrm>
            <a:off x="8295630" y="1854150"/>
            <a:ext cx="1478260"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1640"/>
                </a:solidFill>
                <a:latin typeface="DM Sans" pitchFamily="34" charset="0"/>
                <a:ea typeface="DM Sans" pitchFamily="34" charset="-122"/>
                <a:cs typeface="DM Sans" pitchFamily="34" charset="-120"/>
              </a:rPr>
              <a:t>Hubs and FoodMatch</a:t>
            </a:r>
            <a:endParaRPr lang="en-US" sz="1200" dirty="0"/>
          </a:p>
        </p:txBody>
      </p:sp>
      <p:sp>
        <p:nvSpPr>
          <p:cNvPr id="9" name="Text 7"/>
          <p:cNvSpPr/>
          <p:nvPr/>
        </p:nvSpPr>
        <p:spPr>
          <a:xfrm>
            <a:off x="9875490" y="1854150"/>
            <a:ext cx="1478310"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B4BDB"/>
                </a:solidFill>
                <a:latin typeface="DM Sans" pitchFamily="34" charset="0"/>
                <a:ea typeface="DM Sans" pitchFamily="34" charset="-122"/>
                <a:cs typeface="DM Sans" pitchFamily="34" charset="-120"/>
              </a:rPr>
              <a:t>Schwarz Gesundheit</a:t>
            </a:r>
            <a:endParaRPr lang="en-US" sz="1200" dirty="0"/>
          </a:p>
        </p:txBody>
      </p:sp>
      <p:sp>
        <p:nvSpPr>
          <p:cNvPr id="10" name="Text 8"/>
          <p:cNvSpPr/>
          <p:nvPr/>
        </p:nvSpPr>
        <p:spPr>
          <a:xfrm>
            <a:off x="812800" y="2407791"/>
            <a:ext cx="2667000" cy="391120"/>
          </a:xfrm>
          <a:prstGeom prst="roundRect">
            <a:avLst>
              <a:gd name="adj" fmla="val 19483"/>
            </a:avLst>
          </a:prstGeom>
          <a:solidFill>
            <a:srgbClr val="FDFCFF"/>
          </a:solidFill>
          <a:ln/>
        </p:spPr>
        <p:txBody>
          <a:bodyPr wrap="square" lIns="79282" tIns="66582" rIns="5368" bIns="41182"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Store network</a:t>
            </a:r>
            <a:endParaRPr lang="en-US" sz="1200" dirty="0"/>
          </a:p>
        </p:txBody>
      </p:sp>
      <p:sp>
        <p:nvSpPr>
          <p:cNvPr id="11" name="Shape 9"/>
          <p:cNvSpPr/>
          <p:nvPr/>
        </p:nvSpPr>
        <p:spPr>
          <a:xfrm>
            <a:off x="3530600" y="2407791"/>
            <a:ext cx="1529060" cy="391120"/>
          </a:xfrm>
          <a:prstGeom prst="roundRect">
            <a:avLst>
              <a:gd name="adj" fmla="val 19483"/>
            </a:avLst>
          </a:prstGeom>
          <a:solidFill>
            <a:srgbClr val="F1EFF6"/>
          </a:solidFill>
          <a:ln/>
        </p:spPr>
      </p:sp>
      <p:sp>
        <p:nvSpPr>
          <p:cNvPr id="12" name="Shape 10"/>
          <p:cNvSpPr/>
          <p:nvPr/>
        </p:nvSpPr>
        <p:spPr>
          <a:xfrm>
            <a:off x="5110460" y="2407791"/>
            <a:ext cx="1529060" cy="391120"/>
          </a:xfrm>
          <a:prstGeom prst="roundRect">
            <a:avLst>
              <a:gd name="adj" fmla="val 19483"/>
            </a:avLst>
          </a:prstGeom>
          <a:solidFill>
            <a:srgbClr val="E6F4EC"/>
          </a:solidFill>
          <a:ln/>
        </p:spPr>
      </p:sp>
      <p:pic>
        <p:nvPicPr>
          <p:cNvPr id="13" name="Image 0" descr="Check">    </p:cNvPr>
          <p:cNvPicPr>
            <a:picLocks noChangeAspect="1"/>
          </p:cNvPicPr>
          <p:nvPr/>
        </p:nvPicPr>
        <p:blipFill>
          <a:blip r:embed="rId1"/>
          <a:srcRect l="0" r="0" t="0" b="0"/>
          <a:stretch/>
        </p:blipFill>
        <p:spPr>
          <a:xfrm>
            <a:off x="5760690" y="2489051"/>
            <a:ext cx="228600" cy="228600"/>
          </a:xfrm>
          <a:prstGeom prst="rect">
            <a:avLst/>
          </a:prstGeom>
        </p:spPr>
      </p:pic>
      <p:sp>
        <p:nvSpPr>
          <p:cNvPr id="14" name="Shape 11"/>
          <p:cNvSpPr/>
          <p:nvPr/>
        </p:nvSpPr>
        <p:spPr>
          <a:xfrm>
            <a:off x="6690320" y="2407791"/>
            <a:ext cx="1529110" cy="391120"/>
          </a:xfrm>
          <a:prstGeom prst="roundRect">
            <a:avLst>
              <a:gd name="adj" fmla="val 19483"/>
            </a:avLst>
          </a:prstGeom>
          <a:solidFill>
            <a:srgbClr val="E6F4EC"/>
          </a:solidFill>
          <a:ln/>
        </p:spPr>
      </p:sp>
      <p:pic>
        <p:nvPicPr>
          <p:cNvPr id="15" name="Image 1" descr="Check">    </p:cNvPr>
          <p:cNvPicPr>
            <a:picLocks noChangeAspect="1"/>
          </p:cNvPicPr>
          <p:nvPr/>
        </p:nvPicPr>
        <p:blipFill>
          <a:blip r:embed="rId2"/>
          <a:srcRect l="0" r="0" t="0" b="0"/>
          <a:stretch/>
        </p:blipFill>
        <p:spPr>
          <a:xfrm>
            <a:off x="7340550" y="2489051"/>
            <a:ext cx="228600" cy="228600"/>
          </a:xfrm>
          <a:prstGeom prst="rect">
            <a:avLst/>
          </a:prstGeom>
        </p:spPr>
      </p:pic>
      <p:sp>
        <p:nvSpPr>
          <p:cNvPr id="16" name="Shape 12"/>
          <p:cNvSpPr/>
          <p:nvPr/>
        </p:nvSpPr>
        <p:spPr>
          <a:xfrm>
            <a:off x="8270230" y="2407791"/>
            <a:ext cx="1529060" cy="391120"/>
          </a:xfrm>
          <a:prstGeom prst="roundRect">
            <a:avLst>
              <a:gd name="adj" fmla="val 19483"/>
            </a:avLst>
          </a:prstGeom>
          <a:solidFill>
            <a:srgbClr val="E6F4EC"/>
          </a:solidFill>
          <a:ln/>
        </p:spPr>
      </p:sp>
      <p:pic>
        <p:nvPicPr>
          <p:cNvPr id="17" name="Image 2" descr="Check">    </p:cNvPr>
          <p:cNvPicPr>
            <a:picLocks noChangeAspect="1"/>
          </p:cNvPicPr>
          <p:nvPr/>
        </p:nvPicPr>
        <p:blipFill>
          <a:blip r:embed="rId3"/>
          <a:srcRect l="0" r="0" t="0" b="0"/>
          <a:stretch/>
        </p:blipFill>
        <p:spPr>
          <a:xfrm>
            <a:off x="8920460" y="2489051"/>
            <a:ext cx="228600" cy="228600"/>
          </a:xfrm>
          <a:prstGeom prst="rect">
            <a:avLst/>
          </a:prstGeom>
        </p:spPr>
      </p:pic>
      <p:sp>
        <p:nvSpPr>
          <p:cNvPr id="18" name="Shape 13"/>
          <p:cNvSpPr/>
          <p:nvPr/>
        </p:nvSpPr>
        <p:spPr>
          <a:xfrm>
            <a:off x="9850090" y="2407791"/>
            <a:ext cx="1529110" cy="391120"/>
          </a:xfrm>
          <a:prstGeom prst="roundRect">
            <a:avLst>
              <a:gd name="adj" fmla="val 19483"/>
            </a:avLst>
          </a:prstGeom>
          <a:solidFill>
            <a:srgbClr val="E6F4EC"/>
          </a:solidFill>
          <a:ln/>
        </p:spPr>
      </p:sp>
      <p:pic>
        <p:nvPicPr>
          <p:cNvPr id="19" name="Image 3" descr="Check">    </p:cNvPr>
          <p:cNvPicPr>
            <a:picLocks noChangeAspect="1"/>
          </p:cNvPicPr>
          <p:nvPr/>
        </p:nvPicPr>
        <p:blipFill>
          <a:blip r:embed="rId4"/>
          <a:srcRect l="0" r="0" t="0" b="0"/>
          <a:stretch/>
        </p:blipFill>
        <p:spPr>
          <a:xfrm>
            <a:off x="10500320" y="2489051"/>
            <a:ext cx="228600" cy="228600"/>
          </a:xfrm>
          <a:prstGeom prst="rect">
            <a:avLst/>
          </a:prstGeom>
        </p:spPr>
      </p:pic>
      <p:sp>
        <p:nvSpPr>
          <p:cNvPr id="20" name="Text 14"/>
          <p:cNvSpPr/>
          <p:nvPr/>
        </p:nvSpPr>
        <p:spPr>
          <a:xfrm>
            <a:off x="812800" y="2849711"/>
            <a:ext cx="2667000" cy="391120"/>
          </a:xfrm>
          <a:prstGeom prst="roundRect">
            <a:avLst>
              <a:gd name="adj" fmla="val 19483"/>
            </a:avLst>
          </a:prstGeom>
          <a:solidFill>
            <a:srgbClr val="FDFCFF"/>
          </a:solidFill>
          <a:ln/>
        </p:spPr>
        <p:txBody>
          <a:bodyPr wrap="square" lIns="79282" tIns="66582" rIns="5368" bIns="41182"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Lidl Plus / Kaufland Card</a:t>
            </a:r>
            <a:endParaRPr lang="en-US" sz="1200" dirty="0"/>
          </a:p>
        </p:txBody>
      </p:sp>
      <p:sp>
        <p:nvSpPr>
          <p:cNvPr id="21" name="Shape 15"/>
          <p:cNvSpPr/>
          <p:nvPr/>
        </p:nvSpPr>
        <p:spPr>
          <a:xfrm>
            <a:off x="3530600" y="2849711"/>
            <a:ext cx="1529060" cy="391120"/>
          </a:xfrm>
          <a:prstGeom prst="roundRect">
            <a:avLst>
              <a:gd name="adj" fmla="val 19483"/>
            </a:avLst>
          </a:prstGeom>
          <a:solidFill>
            <a:srgbClr val="E6F4EC"/>
          </a:solidFill>
          <a:ln/>
        </p:spPr>
      </p:sp>
      <p:pic>
        <p:nvPicPr>
          <p:cNvPr id="22" name="Image 4" descr="Check">    </p:cNvPr>
          <p:cNvPicPr>
            <a:picLocks noChangeAspect="1"/>
          </p:cNvPicPr>
          <p:nvPr/>
        </p:nvPicPr>
        <p:blipFill>
          <a:blip r:embed="rId5"/>
          <a:srcRect l="0" r="0" t="0" b="0"/>
          <a:stretch/>
        </p:blipFill>
        <p:spPr>
          <a:xfrm>
            <a:off x="4180830" y="2930971"/>
            <a:ext cx="228600" cy="228600"/>
          </a:xfrm>
          <a:prstGeom prst="rect">
            <a:avLst/>
          </a:prstGeom>
        </p:spPr>
      </p:pic>
      <p:sp>
        <p:nvSpPr>
          <p:cNvPr id="23" name="Shape 16"/>
          <p:cNvSpPr/>
          <p:nvPr/>
        </p:nvSpPr>
        <p:spPr>
          <a:xfrm>
            <a:off x="5110460" y="2849711"/>
            <a:ext cx="1529060" cy="391120"/>
          </a:xfrm>
          <a:prstGeom prst="roundRect">
            <a:avLst>
              <a:gd name="adj" fmla="val 19483"/>
            </a:avLst>
          </a:prstGeom>
          <a:solidFill>
            <a:srgbClr val="E6F4EC"/>
          </a:solidFill>
          <a:ln/>
        </p:spPr>
      </p:sp>
      <p:pic>
        <p:nvPicPr>
          <p:cNvPr id="24" name="Image 5" descr="Check">    </p:cNvPr>
          <p:cNvPicPr>
            <a:picLocks noChangeAspect="1"/>
          </p:cNvPicPr>
          <p:nvPr/>
        </p:nvPicPr>
        <p:blipFill>
          <a:blip r:embed="rId6"/>
          <a:srcRect l="0" r="0" t="0" b="0"/>
          <a:stretch/>
        </p:blipFill>
        <p:spPr>
          <a:xfrm>
            <a:off x="5760690" y="2930971"/>
            <a:ext cx="228600" cy="228600"/>
          </a:xfrm>
          <a:prstGeom prst="rect">
            <a:avLst/>
          </a:prstGeom>
        </p:spPr>
      </p:pic>
      <p:sp>
        <p:nvSpPr>
          <p:cNvPr id="25" name="Shape 17"/>
          <p:cNvSpPr/>
          <p:nvPr/>
        </p:nvSpPr>
        <p:spPr>
          <a:xfrm>
            <a:off x="6690320" y="2849711"/>
            <a:ext cx="1529110" cy="391120"/>
          </a:xfrm>
          <a:prstGeom prst="roundRect">
            <a:avLst>
              <a:gd name="adj" fmla="val 19483"/>
            </a:avLst>
          </a:prstGeom>
          <a:solidFill>
            <a:srgbClr val="E6F4EC"/>
          </a:solidFill>
          <a:ln/>
        </p:spPr>
      </p:sp>
      <p:pic>
        <p:nvPicPr>
          <p:cNvPr id="26" name="Image 6" descr="Check">    </p:cNvPr>
          <p:cNvPicPr>
            <a:picLocks noChangeAspect="1"/>
          </p:cNvPicPr>
          <p:nvPr/>
        </p:nvPicPr>
        <p:blipFill>
          <a:blip r:embed="rId7"/>
          <a:srcRect l="0" r="0" t="0" b="0"/>
          <a:stretch/>
        </p:blipFill>
        <p:spPr>
          <a:xfrm>
            <a:off x="7340550" y="2930971"/>
            <a:ext cx="228600" cy="228600"/>
          </a:xfrm>
          <a:prstGeom prst="rect">
            <a:avLst/>
          </a:prstGeom>
        </p:spPr>
      </p:pic>
      <p:sp>
        <p:nvSpPr>
          <p:cNvPr id="27" name="Shape 18"/>
          <p:cNvSpPr/>
          <p:nvPr/>
        </p:nvSpPr>
        <p:spPr>
          <a:xfrm>
            <a:off x="8270230" y="2849711"/>
            <a:ext cx="1529060" cy="391120"/>
          </a:xfrm>
          <a:prstGeom prst="roundRect">
            <a:avLst>
              <a:gd name="adj" fmla="val 19483"/>
            </a:avLst>
          </a:prstGeom>
          <a:solidFill>
            <a:srgbClr val="E6F4EC"/>
          </a:solidFill>
          <a:ln/>
        </p:spPr>
      </p:sp>
      <p:pic>
        <p:nvPicPr>
          <p:cNvPr id="28" name="Image 7" descr="Check">    </p:cNvPr>
          <p:cNvPicPr>
            <a:picLocks noChangeAspect="1"/>
          </p:cNvPicPr>
          <p:nvPr/>
        </p:nvPicPr>
        <p:blipFill>
          <a:blip r:embed="rId8"/>
          <a:srcRect l="0" r="0" t="0" b="0"/>
          <a:stretch/>
        </p:blipFill>
        <p:spPr>
          <a:xfrm>
            <a:off x="8920460" y="2930971"/>
            <a:ext cx="228600" cy="228600"/>
          </a:xfrm>
          <a:prstGeom prst="rect">
            <a:avLst/>
          </a:prstGeom>
        </p:spPr>
      </p:pic>
      <p:sp>
        <p:nvSpPr>
          <p:cNvPr id="29" name="Shape 19"/>
          <p:cNvSpPr/>
          <p:nvPr/>
        </p:nvSpPr>
        <p:spPr>
          <a:xfrm>
            <a:off x="9850090" y="2849711"/>
            <a:ext cx="1529110" cy="391120"/>
          </a:xfrm>
          <a:prstGeom prst="roundRect">
            <a:avLst>
              <a:gd name="adj" fmla="val 19483"/>
            </a:avLst>
          </a:prstGeom>
          <a:solidFill>
            <a:srgbClr val="E6F4EC"/>
          </a:solidFill>
          <a:ln/>
        </p:spPr>
      </p:sp>
      <p:pic>
        <p:nvPicPr>
          <p:cNvPr id="30" name="Image 8" descr="Check">    </p:cNvPr>
          <p:cNvPicPr>
            <a:picLocks noChangeAspect="1"/>
          </p:cNvPicPr>
          <p:nvPr/>
        </p:nvPicPr>
        <p:blipFill>
          <a:blip r:embed="rId9"/>
          <a:srcRect l="0" r="0" t="0" b="0"/>
          <a:stretch/>
        </p:blipFill>
        <p:spPr>
          <a:xfrm>
            <a:off x="10500320" y="2930971"/>
            <a:ext cx="228600" cy="228600"/>
          </a:xfrm>
          <a:prstGeom prst="rect">
            <a:avLst/>
          </a:prstGeom>
        </p:spPr>
      </p:pic>
      <p:sp>
        <p:nvSpPr>
          <p:cNvPr id="31" name="Text 20"/>
          <p:cNvSpPr/>
          <p:nvPr/>
        </p:nvSpPr>
        <p:spPr>
          <a:xfrm>
            <a:off x="812800" y="3291632"/>
            <a:ext cx="2667000" cy="391120"/>
          </a:xfrm>
          <a:prstGeom prst="roundRect">
            <a:avLst>
              <a:gd name="adj" fmla="val 19483"/>
            </a:avLst>
          </a:prstGeom>
          <a:solidFill>
            <a:srgbClr val="FDFCFF"/>
          </a:solidFill>
          <a:ln/>
        </p:spPr>
        <p:txBody>
          <a:bodyPr wrap="square" lIns="79282" tIns="66582" rIns="5368" bIns="41182"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Own brands and production</a:t>
            </a:r>
            <a:endParaRPr lang="en-US" sz="1200" dirty="0"/>
          </a:p>
        </p:txBody>
      </p:sp>
      <p:sp>
        <p:nvSpPr>
          <p:cNvPr id="32" name="Shape 21"/>
          <p:cNvSpPr/>
          <p:nvPr/>
        </p:nvSpPr>
        <p:spPr>
          <a:xfrm>
            <a:off x="3530600" y="3291632"/>
            <a:ext cx="1529060" cy="391120"/>
          </a:xfrm>
          <a:prstGeom prst="roundRect">
            <a:avLst>
              <a:gd name="adj" fmla="val 19483"/>
            </a:avLst>
          </a:prstGeom>
          <a:solidFill>
            <a:srgbClr val="E6F4EC"/>
          </a:solidFill>
          <a:ln/>
        </p:spPr>
      </p:sp>
      <p:pic>
        <p:nvPicPr>
          <p:cNvPr id="33" name="Image 9" descr="Check">    </p:cNvPr>
          <p:cNvPicPr>
            <a:picLocks noChangeAspect="1"/>
          </p:cNvPicPr>
          <p:nvPr/>
        </p:nvPicPr>
        <p:blipFill>
          <a:blip r:embed="rId10"/>
          <a:srcRect l="0" r="0" t="0" b="0"/>
          <a:stretch/>
        </p:blipFill>
        <p:spPr>
          <a:xfrm>
            <a:off x="4180830" y="3372892"/>
            <a:ext cx="228600" cy="228600"/>
          </a:xfrm>
          <a:prstGeom prst="rect">
            <a:avLst/>
          </a:prstGeom>
        </p:spPr>
      </p:pic>
      <p:sp>
        <p:nvSpPr>
          <p:cNvPr id="34" name="Shape 22"/>
          <p:cNvSpPr/>
          <p:nvPr/>
        </p:nvSpPr>
        <p:spPr>
          <a:xfrm>
            <a:off x="5110460" y="3291632"/>
            <a:ext cx="1529060" cy="391120"/>
          </a:xfrm>
          <a:prstGeom prst="roundRect">
            <a:avLst>
              <a:gd name="adj" fmla="val 19483"/>
            </a:avLst>
          </a:prstGeom>
          <a:solidFill>
            <a:srgbClr val="E6F4EC"/>
          </a:solidFill>
          <a:ln/>
        </p:spPr>
      </p:sp>
      <p:pic>
        <p:nvPicPr>
          <p:cNvPr id="35" name="Image 10" descr="Check">    </p:cNvPr>
          <p:cNvPicPr>
            <a:picLocks noChangeAspect="1"/>
          </p:cNvPicPr>
          <p:nvPr/>
        </p:nvPicPr>
        <p:blipFill>
          <a:blip r:embed="rId11"/>
          <a:srcRect l="0" r="0" t="0" b="0"/>
          <a:stretch/>
        </p:blipFill>
        <p:spPr>
          <a:xfrm>
            <a:off x="5760690" y="3372892"/>
            <a:ext cx="228600" cy="228600"/>
          </a:xfrm>
          <a:prstGeom prst="rect">
            <a:avLst/>
          </a:prstGeom>
        </p:spPr>
      </p:pic>
      <p:sp>
        <p:nvSpPr>
          <p:cNvPr id="36" name="Shape 23"/>
          <p:cNvSpPr/>
          <p:nvPr/>
        </p:nvSpPr>
        <p:spPr>
          <a:xfrm>
            <a:off x="6690320" y="3291632"/>
            <a:ext cx="1529110" cy="391120"/>
          </a:xfrm>
          <a:prstGeom prst="roundRect">
            <a:avLst>
              <a:gd name="adj" fmla="val 19483"/>
            </a:avLst>
          </a:prstGeom>
          <a:solidFill>
            <a:srgbClr val="F1EFF6"/>
          </a:solidFill>
          <a:ln/>
        </p:spPr>
      </p:sp>
      <p:sp>
        <p:nvSpPr>
          <p:cNvPr id="37" name="Shape 24"/>
          <p:cNvSpPr/>
          <p:nvPr/>
        </p:nvSpPr>
        <p:spPr>
          <a:xfrm>
            <a:off x="8270230" y="3291632"/>
            <a:ext cx="1529060" cy="391120"/>
          </a:xfrm>
          <a:prstGeom prst="roundRect">
            <a:avLst>
              <a:gd name="adj" fmla="val 19483"/>
            </a:avLst>
          </a:prstGeom>
          <a:solidFill>
            <a:srgbClr val="E6F4EC"/>
          </a:solidFill>
          <a:ln/>
        </p:spPr>
      </p:sp>
      <p:pic>
        <p:nvPicPr>
          <p:cNvPr id="38" name="Image 11" descr="Check">    </p:cNvPr>
          <p:cNvPicPr>
            <a:picLocks noChangeAspect="1"/>
          </p:cNvPicPr>
          <p:nvPr/>
        </p:nvPicPr>
        <p:blipFill>
          <a:blip r:embed="rId12"/>
          <a:srcRect l="0" r="0" t="0" b="0"/>
          <a:stretch/>
        </p:blipFill>
        <p:spPr>
          <a:xfrm>
            <a:off x="8920460" y="3372892"/>
            <a:ext cx="228600" cy="228600"/>
          </a:xfrm>
          <a:prstGeom prst="rect">
            <a:avLst/>
          </a:prstGeom>
        </p:spPr>
      </p:pic>
      <p:sp>
        <p:nvSpPr>
          <p:cNvPr id="39" name="Shape 25"/>
          <p:cNvSpPr/>
          <p:nvPr/>
        </p:nvSpPr>
        <p:spPr>
          <a:xfrm>
            <a:off x="9850090" y="3291632"/>
            <a:ext cx="1529110" cy="391120"/>
          </a:xfrm>
          <a:prstGeom prst="roundRect">
            <a:avLst>
              <a:gd name="adj" fmla="val 19483"/>
            </a:avLst>
          </a:prstGeom>
          <a:solidFill>
            <a:srgbClr val="E6F4EC"/>
          </a:solidFill>
          <a:ln/>
        </p:spPr>
      </p:sp>
      <p:pic>
        <p:nvPicPr>
          <p:cNvPr id="40" name="Image 12" descr="Check">    </p:cNvPr>
          <p:cNvPicPr>
            <a:picLocks noChangeAspect="1"/>
          </p:cNvPicPr>
          <p:nvPr/>
        </p:nvPicPr>
        <p:blipFill>
          <a:blip r:embed="rId13"/>
          <a:srcRect l="0" r="0" t="0" b="0"/>
          <a:stretch/>
        </p:blipFill>
        <p:spPr>
          <a:xfrm>
            <a:off x="10500320" y="3372892"/>
            <a:ext cx="228600" cy="228600"/>
          </a:xfrm>
          <a:prstGeom prst="rect">
            <a:avLst/>
          </a:prstGeom>
        </p:spPr>
      </p:pic>
      <p:sp>
        <p:nvSpPr>
          <p:cNvPr id="41" name="Text 26"/>
          <p:cNvSpPr/>
          <p:nvPr/>
        </p:nvSpPr>
        <p:spPr>
          <a:xfrm>
            <a:off x="812800" y="3733552"/>
            <a:ext cx="2667000" cy="391120"/>
          </a:xfrm>
          <a:prstGeom prst="roundRect">
            <a:avLst>
              <a:gd name="adj" fmla="val 19483"/>
            </a:avLst>
          </a:prstGeom>
          <a:solidFill>
            <a:srgbClr val="FDFCFF"/>
          </a:solidFill>
          <a:ln/>
        </p:spPr>
        <p:txBody>
          <a:bodyPr wrap="square" lIns="79282" tIns="66582" rIns="5368" bIns="41182"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Schwarz Digits IT and cloud</a:t>
            </a:r>
            <a:endParaRPr lang="en-US" sz="1200" dirty="0"/>
          </a:p>
        </p:txBody>
      </p:sp>
      <p:sp>
        <p:nvSpPr>
          <p:cNvPr id="42" name="Shape 27"/>
          <p:cNvSpPr/>
          <p:nvPr/>
        </p:nvSpPr>
        <p:spPr>
          <a:xfrm>
            <a:off x="3530600" y="3733552"/>
            <a:ext cx="1529060" cy="391120"/>
          </a:xfrm>
          <a:prstGeom prst="roundRect">
            <a:avLst>
              <a:gd name="adj" fmla="val 19483"/>
            </a:avLst>
          </a:prstGeom>
          <a:solidFill>
            <a:srgbClr val="E6F4EC"/>
          </a:solidFill>
          <a:ln/>
        </p:spPr>
      </p:sp>
      <p:pic>
        <p:nvPicPr>
          <p:cNvPr id="43" name="Image 13" descr="Check">    </p:cNvPr>
          <p:cNvPicPr>
            <a:picLocks noChangeAspect="1"/>
          </p:cNvPicPr>
          <p:nvPr/>
        </p:nvPicPr>
        <p:blipFill>
          <a:blip r:embed="rId14"/>
          <a:srcRect l="0" r="0" t="0" b="0"/>
          <a:stretch/>
        </p:blipFill>
        <p:spPr>
          <a:xfrm>
            <a:off x="4180830" y="3814812"/>
            <a:ext cx="228600" cy="228600"/>
          </a:xfrm>
          <a:prstGeom prst="rect">
            <a:avLst/>
          </a:prstGeom>
        </p:spPr>
      </p:pic>
      <p:sp>
        <p:nvSpPr>
          <p:cNvPr id="44" name="Shape 28"/>
          <p:cNvSpPr/>
          <p:nvPr/>
        </p:nvSpPr>
        <p:spPr>
          <a:xfrm>
            <a:off x="5110460" y="3733552"/>
            <a:ext cx="1529060" cy="391120"/>
          </a:xfrm>
          <a:prstGeom prst="roundRect">
            <a:avLst>
              <a:gd name="adj" fmla="val 19483"/>
            </a:avLst>
          </a:prstGeom>
          <a:solidFill>
            <a:srgbClr val="E6F4EC"/>
          </a:solidFill>
          <a:ln/>
        </p:spPr>
      </p:sp>
      <p:pic>
        <p:nvPicPr>
          <p:cNvPr id="45" name="Image 14" descr="Check">    </p:cNvPr>
          <p:cNvPicPr>
            <a:picLocks noChangeAspect="1"/>
          </p:cNvPicPr>
          <p:nvPr/>
        </p:nvPicPr>
        <p:blipFill>
          <a:blip r:embed="rId15"/>
          <a:srcRect l="0" r="0" t="0" b="0"/>
          <a:stretch/>
        </p:blipFill>
        <p:spPr>
          <a:xfrm>
            <a:off x="5760690" y="3814812"/>
            <a:ext cx="228600" cy="228600"/>
          </a:xfrm>
          <a:prstGeom prst="rect">
            <a:avLst/>
          </a:prstGeom>
        </p:spPr>
      </p:pic>
      <p:sp>
        <p:nvSpPr>
          <p:cNvPr id="46" name="Shape 29"/>
          <p:cNvSpPr/>
          <p:nvPr/>
        </p:nvSpPr>
        <p:spPr>
          <a:xfrm>
            <a:off x="6690320" y="3733552"/>
            <a:ext cx="1529110" cy="391120"/>
          </a:xfrm>
          <a:prstGeom prst="roundRect">
            <a:avLst>
              <a:gd name="adj" fmla="val 19483"/>
            </a:avLst>
          </a:prstGeom>
          <a:solidFill>
            <a:srgbClr val="E6F4EC"/>
          </a:solidFill>
          <a:ln/>
        </p:spPr>
      </p:sp>
      <p:pic>
        <p:nvPicPr>
          <p:cNvPr id="47" name="Image 15" descr="Check">    </p:cNvPr>
          <p:cNvPicPr>
            <a:picLocks noChangeAspect="1"/>
          </p:cNvPicPr>
          <p:nvPr/>
        </p:nvPicPr>
        <p:blipFill>
          <a:blip r:embed="rId16"/>
          <a:srcRect l="0" r="0" t="0" b="0"/>
          <a:stretch/>
        </p:blipFill>
        <p:spPr>
          <a:xfrm>
            <a:off x="7340550" y="3814812"/>
            <a:ext cx="228600" cy="228600"/>
          </a:xfrm>
          <a:prstGeom prst="rect">
            <a:avLst/>
          </a:prstGeom>
        </p:spPr>
      </p:pic>
      <p:sp>
        <p:nvSpPr>
          <p:cNvPr id="48" name="Shape 30"/>
          <p:cNvSpPr/>
          <p:nvPr/>
        </p:nvSpPr>
        <p:spPr>
          <a:xfrm>
            <a:off x="8270230" y="3733552"/>
            <a:ext cx="1529060" cy="391120"/>
          </a:xfrm>
          <a:prstGeom prst="roundRect">
            <a:avLst>
              <a:gd name="adj" fmla="val 19483"/>
            </a:avLst>
          </a:prstGeom>
          <a:solidFill>
            <a:srgbClr val="F1EFF6"/>
          </a:solidFill>
          <a:ln/>
        </p:spPr>
      </p:sp>
      <p:sp>
        <p:nvSpPr>
          <p:cNvPr id="49" name="Shape 31"/>
          <p:cNvSpPr/>
          <p:nvPr/>
        </p:nvSpPr>
        <p:spPr>
          <a:xfrm>
            <a:off x="9850090" y="3733552"/>
            <a:ext cx="1529110" cy="391120"/>
          </a:xfrm>
          <a:prstGeom prst="roundRect">
            <a:avLst>
              <a:gd name="adj" fmla="val 19483"/>
            </a:avLst>
          </a:prstGeom>
          <a:solidFill>
            <a:srgbClr val="E6F4EC"/>
          </a:solidFill>
          <a:ln/>
        </p:spPr>
      </p:sp>
      <p:pic>
        <p:nvPicPr>
          <p:cNvPr id="50" name="Image 16" descr="Check">    </p:cNvPr>
          <p:cNvPicPr>
            <a:picLocks noChangeAspect="1"/>
          </p:cNvPicPr>
          <p:nvPr/>
        </p:nvPicPr>
        <p:blipFill>
          <a:blip r:embed="rId17"/>
          <a:srcRect l="0" r="0" t="0" b="0"/>
          <a:stretch/>
        </p:blipFill>
        <p:spPr>
          <a:xfrm>
            <a:off x="10500320" y="3814812"/>
            <a:ext cx="228600" cy="228600"/>
          </a:xfrm>
          <a:prstGeom prst="rect">
            <a:avLst/>
          </a:prstGeom>
        </p:spPr>
      </p:pic>
      <p:sp>
        <p:nvSpPr>
          <p:cNvPr id="51" name="Text 32"/>
          <p:cNvSpPr/>
          <p:nvPr/>
        </p:nvSpPr>
        <p:spPr>
          <a:xfrm>
            <a:off x="812800" y="4175472"/>
            <a:ext cx="2667000" cy="391120"/>
          </a:xfrm>
          <a:prstGeom prst="roundRect">
            <a:avLst>
              <a:gd name="adj" fmla="val 19483"/>
            </a:avLst>
          </a:prstGeom>
          <a:solidFill>
            <a:srgbClr val="FDFCFF"/>
          </a:solidFill>
          <a:ln/>
        </p:spPr>
        <p:txBody>
          <a:bodyPr wrap="square" lIns="79282" tIns="66582" rIns="5368" bIns="41182"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Weekly customer contact</a:t>
            </a:r>
            <a:endParaRPr lang="en-US" sz="1200" dirty="0"/>
          </a:p>
        </p:txBody>
      </p:sp>
      <p:sp>
        <p:nvSpPr>
          <p:cNvPr id="52" name="Shape 33"/>
          <p:cNvSpPr/>
          <p:nvPr/>
        </p:nvSpPr>
        <p:spPr>
          <a:xfrm>
            <a:off x="3530600" y="4175472"/>
            <a:ext cx="1529060" cy="391120"/>
          </a:xfrm>
          <a:prstGeom prst="roundRect">
            <a:avLst>
              <a:gd name="adj" fmla="val 19483"/>
            </a:avLst>
          </a:prstGeom>
          <a:solidFill>
            <a:srgbClr val="E6F4EC"/>
          </a:solidFill>
          <a:ln/>
        </p:spPr>
      </p:sp>
      <p:pic>
        <p:nvPicPr>
          <p:cNvPr id="53" name="Image 17" descr="Check">    </p:cNvPr>
          <p:cNvPicPr>
            <a:picLocks noChangeAspect="1"/>
          </p:cNvPicPr>
          <p:nvPr/>
        </p:nvPicPr>
        <p:blipFill>
          <a:blip r:embed="rId18"/>
          <a:srcRect l="0" r="0" t="0" b="0"/>
          <a:stretch/>
        </p:blipFill>
        <p:spPr>
          <a:xfrm>
            <a:off x="4180830" y="4256732"/>
            <a:ext cx="228600" cy="228600"/>
          </a:xfrm>
          <a:prstGeom prst="rect">
            <a:avLst/>
          </a:prstGeom>
        </p:spPr>
      </p:pic>
      <p:sp>
        <p:nvSpPr>
          <p:cNvPr id="54" name="Shape 34"/>
          <p:cNvSpPr/>
          <p:nvPr/>
        </p:nvSpPr>
        <p:spPr>
          <a:xfrm>
            <a:off x="5110460" y="4175472"/>
            <a:ext cx="1529060" cy="391120"/>
          </a:xfrm>
          <a:prstGeom prst="roundRect">
            <a:avLst>
              <a:gd name="adj" fmla="val 19483"/>
            </a:avLst>
          </a:prstGeom>
          <a:solidFill>
            <a:srgbClr val="E6F4EC"/>
          </a:solidFill>
          <a:ln/>
        </p:spPr>
      </p:sp>
      <p:pic>
        <p:nvPicPr>
          <p:cNvPr id="55" name="Image 18" descr="Check">    </p:cNvPr>
          <p:cNvPicPr>
            <a:picLocks noChangeAspect="1"/>
          </p:cNvPicPr>
          <p:nvPr/>
        </p:nvPicPr>
        <p:blipFill>
          <a:blip r:embed="rId19"/>
          <a:srcRect l="0" r="0" t="0" b="0"/>
          <a:stretch/>
        </p:blipFill>
        <p:spPr>
          <a:xfrm>
            <a:off x="5760690" y="4256732"/>
            <a:ext cx="228600" cy="228600"/>
          </a:xfrm>
          <a:prstGeom prst="rect">
            <a:avLst/>
          </a:prstGeom>
        </p:spPr>
      </p:pic>
      <p:sp>
        <p:nvSpPr>
          <p:cNvPr id="56" name="Shape 35"/>
          <p:cNvSpPr/>
          <p:nvPr/>
        </p:nvSpPr>
        <p:spPr>
          <a:xfrm>
            <a:off x="6690320" y="4175472"/>
            <a:ext cx="1529110" cy="391120"/>
          </a:xfrm>
          <a:prstGeom prst="roundRect">
            <a:avLst>
              <a:gd name="adj" fmla="val 19483"/>
            </a:avLst>
          </a:prstGeom>
          <a:solidFill>
            <a:srgbClr val="E6F4EC"/>
          </a:solidFill>
          <a:ln/>
        </p:spPr>
      </p:sp>
      <p:pic>
        <p:nvPicPr>
          <p:cNvPr id="57" name="Image 19" descr="Check">    </p:cNvPr>
          <p:cNvPicPr>
            <a:picLocks noChangeAspect="1"/>
          </p:cNvPicPr>
          <p:nvPr/>
        </p:nvPicPr>
        <p:blipFill>
          <a:blip r:embed="rId20"/>
          <a:srcRect l="0" r="0" t="0" b="0"/>
          <a:stretch/>
        </p:blipFill>
        <p:spPr>
          <a:xfrm>
            <a:off x="7340550" y="4256732"/>
            <a:ext cx="228600" cy="228600"/>
          </a:xfrm>
          <a:prstGeom prst="rect">
            <a:avLst/>
          </a:prstGeom>
        </p:spPr>
      </p:pic>
      <p:sp>
        <p:nvSpPr>
          <p:cNvPr id="58" name="Shape 36"/>
          <p:cNvSpPr/>
          <p:nvPr/>
        </p:nvSpPr>
        <p:spPr>
          <a:xfrm>
            <a:off x="8270230" y="4175472"/>
            <a:ext cx="1529060" cy="391120"/>
          </a:xfrm>
          <a:prstGeom prst="roundRect">
            <a:avLst>
              <a:gd name="adj" fmla="val 19483"/>
            </a:avLst>
          </a:prstGeom>
          <a:solidFill>
            <a:srgbClr val="E6F4EC"/>
          </a:solidFill>
          <a:ln/>
        </p:spPr>
      </p:sp>
      <p:pic>
        <p:nvPicPr>
          <p:cNvPr id="59" name="Image 20" descr="Check">    </p:cNvPr>
          <p:cNvPicPr>
            <a:picLocks noChangeAspect="1"/>
          </p:cNvPicPr>
          <p:nvPr/>
        </p:nvPicPr>
        <p:blipFill>
          <a:blip r:embed="rId21"/>
          <a:srcRect l="0" r="0" t="0" b="0"/>
          <a:stretch/>
        </p:blipFill>
        <p:spPr>
          <a:xfrm>
            <a:off x="8920460" y="4256732"/>
            <a:ext cx="228600" cy="228600"/>
          </a:xfrm>
          <a:prstGeom prst="rect">
            <a:avLst/>
          </a:prstGeom>
        </p:spPr>
      </p:pic>
      <p:sp>
        <p:nvSpPr>
          <p:cNvPr id="60" name="Shape 37"/>
          <p:cNvSpPr/>
          <p:nvPr/>
        </p:nvSpPr>
        <p:spPr>
          <a:xfrm>
            <a:off x="9850090" y="4175472"/>
            <a:ext cx="1529110" cy="391120"/>
          </a:xfrm>
          <a:prstGeom prst="roundRect">
            <a:avLst>
              <a:gd name="adj" fmla="val 19483"/>
            </a:avLst>
          </a:prstGeom>
          <a:solidFill>
            <a:srgbClr val="E6F4EC"/>
          </a:solidFill>
          <a:ln/>
        </p:spPr>
      </p:sp>
      <p:pic>
        <p:nvPicPr>
          <p:cNvPr id="61" name="Image 21" descr="Check">    </p:cNvPr>
          <p:cNvPicPr>
            <a:picLocks noChangeAspect="1"/>
          </p:cNvPicPr>
          <p:nvPr/>
        </p:nvPicPr>
        <p:blipFill>
          <a:blip r:embed="rId22"/>
          <a:srcRect l="0" r="0" t="0" b="0"/>
          <a:stretch/>
        </p:blipFill>
        <p:spPr>
          <a:xfrm>
            <a:off x="10500320" y="4256732"/>
            <a:ext cx="228600" cy="228600"/>
          </a:xfrm>
          <a:prstGeom prst="rect">
            <a:avLst/>
          </a:prstGeom>
        </p:spPr>
      </p:pic>
      <p:sp>
        <p:nvSpPr>
          <p:cNvPr id="62" name="Text 38"/>
          <p:cNvSpPr/>
          <p:nvPr/>
        </p:nvSpPr>
        <p:spPr>
          <a:xfrm>
            <a:off x="812800" y="4795193"/>
            <a:ext cx="10566400" cy="477490"/>
          </a:xfrm>
          <a:prstGeom prst="roundRect">
            <a:avLst>
              <a:gd name="adj" fmla="val 21278"/>
            </a:avLst>
          </a:prstGeom>
          <a:solidFill>
            <a:srgbClr val="EEEBFB"/>
          </a:solidFill>
          <a:ln/>
        </p:spPr>
        <p:txBody>
          <a:bodyPr wrap="square" lIns="148042" tIns="84542" rIns="0" bIns="59142" rtlCol="0" anchor="t">
            <a:normAutofit/>
          </a:bodyPr>
          <a:lstStyle/>
          <a:p>
            <a:pPr algn="l" indent="0" marL="0">
              <a:lnSpc>
                <a:spcPts val="1960"/>
              </a:lnSpc>
              <a:buNone/>
            </a:pPr>
            <a:r>
              <a:rPr lang="en-US" sz="1400" b="1" dirty="0">
                <a:solidFill>
                  <a:srgbClr val="1C1640"/>
                </a:solidFill>
                <a:latin typeface="DM Sans" pitchFamily="34" charset="0"/>
                <a:ea typeface="DM Sans" pitchFamily="34" charset="-122"/>
                <a:cs typeface="DM Sans" pitchFamily="34" charset="-120"/>
              </a:rPr>
              <a:t>Reach, data and weekly contact no competitor has: health becomes a loyalty moat</a:t>
            </a:r>
            <a:endParaRPr lang="en-US" sz="1400" dirty="0"/>
          </a:p>
        </p:txBody>
      </p:sp>
      <p:sp>
        <p:nvSpPr>
          <p:cNvPr id="63" name="Text 3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675"/>
                </a:solidFill>
                <a:latin typeface="DM Sans" pitchFamily="34" charset="0"/>
                <a:ea typeface="DM Sans" pitchFamily="34" charset="-122"/>
                <a:cs typeface="DM Sans" pitchFamily="34" charset="-120"/>
              </a:rPr>
              <a:t>Check mark = the concept builds directly on this asset.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1666726"/>
            <a:ext cx="784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1640"/>
                </a:solidFill>
                <a:latin typeface="DM Sans" pitchFamily="34" charset="0"/>
                <a:ea typeface="DM Sans" pitchFamily="34" charset="-122"/>
                <a:cs typeface="DM Sans" pitchFamily="34" charset="-120"/>
              </a:rPr>
              <a:t>Where does Schwarz Gesundheit fit?</a:t>
            </a:r>
            <a:endParaRPr lang="en-US" sz="1400" dirty="0"/>
          </a:p>
        </p:txBody>
      </p:sp>
      <p:pic>
        <p:nvPicPr>
          <p:cNvPr id="3" name="Image 0" descr="image.png">    </p:cNvPr>
          <p:cNvPicPr>
            <a:picLocks noChangeAspect="1"/>
          </p:cNvPicPr>
          <p:nvPr/>
        </p:nvPicPr>
        <p:blipFill>
          <a:blip r:embed="rId1"/>
          <a:srcRect l="0" r="0" t="0" b="0"/>
          <a:stretch/>
        </p:blipFill>
        <p:spPr>
          <a:xfrm>
            <a:off x="4064000" y="2159000"/>
            <a:ext cx="4064000" cy="4064000"/>
          </a:xfrm>
          <a:prstGeom prst="rect">
            <a:avLst/>
          </a:prstGeom>
        </p:spPr>
      </p:pic>
      <p:sp>
        <p:nvSpPr>
          <p:cNvPr id="4"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STRATEGIC FIT</a:t>
            </a:r>
            <a:endParaRPr lang="en-US" sz="1200" dirty="0"/>
          </a:p>
        </p:txBody>
      </p:sp>
      <p:sp>
        <p:nvSpPr>
          <p:cNvPr id="5" name="Text 2"/>
          <p:cNvSpPr/>
          <p:nvPr>
            <p:ph type="title"/>
          </p:nvPr>
        </p:nvSpPr>
        <p:spPr>
          <a:xfrm>
            <a:off x="812800" y="11049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Schwarz Eco-system</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1666726"/>
            <a:ext cx="784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1640"/>
                </a:solidFill>
                <a:latin typeface="DM Sans" pitchFamily="34" charset="0"/>
                <a:ea typeface="DM Sans" pitchFamily="34" charset="-122"/>
                <a:cs typeface="DM Sans" pitchFamily="34" charset="-120"/>
              </a:rPr>
              <a:t>Where does Schwarz Gesundheit fit?</a:t>
            </a:r>
            <a:endParaRPr lang="en-US" sz="1400" dirty="0"/>
          </a:p>
        </p:txBody>
      </p:sp>
      <p:pic>
        <p:nvPicPr>
          <p:cNvPr id="3" name="Image 0" descr="image.png">    </p:cNvPr>
          <p:cNvPicPr>
            <a:picLocks noChangeAspect="1"/>
          </p:cNvPicPr>
          <p:nvPr/>
        </p:nvPicPr>
        <p:blipFill>
          <a:blip r:embed="rId1"/>
          <a:srcRect l="0" r="0" t="0" b="0"/>
          <a:stretch/>
        </p:blipFill>
        <p:spPr>
          <a:xfrm>
            <a:off x="4064000" y="2159000"/>
            <a:ext cx="4064000" cy="4064000"/>
          </a:xfrm>
          <a:prstGeom prst="rect">
            <a:avLst/>
          </a:prstGeom>
        </p:spPr>
      </p:pic>
      <p:sp>
        <p:nvSpPr>
          <p:cNvPr id="4"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STRATEGIC FIT</a:t>
            </a:r>
            <a:endParaRPr lang="en-US" sz="1200" dirty="0"/>
          </a:p>
        </p:txBody>
      </p:sp>
      <p:sp>
        <p:nvSpPr>
          <p:cNvPr id="5" name="Text 2"/>
          <p:cNvSpPr/>
          <p:nvPr>
            <p:ph type="title"/>
          </p:nvPr>
        </p:nvSpPr>
        <p:spPr>
          <a:xfrm>
            <a:off x="812800" y="11049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Schwarz Eco-system</a:t>
            </a:r>
            <a:endParaRPr lang="en-US" sz="3200" dirty="0"/>
          </a:p>
        </p:txBody>
      </p:sp>
      <p:pic>
        <p:nvPicPr>
          <p:cNvPr id="6" name="Image 1" descr="image (1).png">    </p:cNvPr>
          <p:cNvPicPr>
            <a:picLocks noChangeAspect="1"/>
          </p:cNvPicPr>
          <p:nvPr/>
        </p:nvPicPr>
        <p:blipFill>
          <a:blip r:embed="rId2"/>
          <a:srcRect l="3682" r="3682" t="0" b="0"/>
          <a:stretch/>
        </p:blipFill>
        <p:spPr>
          <a:xfrm>
            <a:off x="5542930" y="3850704"/>
            <a:ext cx="1070322" cy="644872"/>
          </a:xfrm>
          <a:prstGeom prst="rect">
            <a:avLst/>
          </a:prstGeom>
        </p:spPr>
      </p:pic>
      <p:pic>
        <p:nvPicPr>
          <p:cNvPr id="7" name="Image 2" descr="image (1).png">    </p:cNvPr>
          <p:cNvPicPr>
            <a:picLocks noChangeAspect="1"/>
          </p:cNvPicPr>
          <p:nvPr/>
        </p:nvPicPr>
        <p:blipFill>
          <a:blip r:embed="rId3"/>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PRIORITISATION</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Where to start: impact vs. feasibility</a:t>
            </a:r>
            <a:endParaRPr lang="en-US" sz="3200" dirty="0"/>
          </a:p>
        </p:txBody>
      </p:sp>
      <p:sp>
        <p:nvSpPr>
          <p:cNvPr id="4" name="Text 2"/>
          <p:cNvSpPr/>
          <p:nvPr/>
        </p:nvSpPr>
        <p:spPr>
          <a:xfrm>
            <a:off x="812800" y="1701750"/>
            <a:ext cx="64096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5675"/>
                </a:solidFill>
                <a:latin typeface="DM Sans" pitchFamily="34" charset="0"/>
                <a:ea typeface="DM Sans" pitchFamily="34" charset="-122"/>
                <a:cs typeface="DM Sans" pitchFamily="34" charset="-120"/>
              </a:rPr>
              <a:t>↑ Impact on customers and Schwarz</a:t>
            </a:r>
            <a:endParaRPr lang="en-US" sz="1200" dirty="0"/>
          </a:p>
        </p:txBody>
      </p:sp>
      <p:sp>
        <p:nvSpPr>
          <p:cNvPr id="5" name="Shape 3"/>
          <p:cNvSpPr/>
          <p:nvPr/>
        </p:nvSpPr>
        <p:spPr>
          <a:xfrm>
            <a:off x="812800" y="5766346"/>
            <a:ext cx="6223000" cy="0"/>
          </a:xfrm>
          <a:prstGeom prst="line">
            <a:avLst/>
          </a:prstGeom>
          <a:noFill/>
          <a:ln w="19050">
            <a:solidFill>
              <a:srgbClr val="1C1640"/>
            </a:solidFill>
            <a:prstDash val="solid"/>
          </a:ln>
        </p:spPr>
      </p:sp>
      <p:sp>
        <p:nvSpPr>
          <p:cNvPr id="6" name="Shape 4"/>
          <p:cNvSpPr/>
          <p:nvPr/>
        </p:nvSpPr>
        <p:spPr>
          <a:xfrm>
            <a:off x="822325" y="1965871"/>
            <a:ext cx="0" cy="3810000"/>
          </a:xfrm>
          <a:prstGeom prst="line">
            <a:avLst/>
          </a:prstGeom>
          <a:noFill/>
          <a:ln w="19050">
            <a:solidFill>
              <a:srgbClr val="1C1640"/>
            </a:solidFill>
            <a:prstDash val="solid"/>
          </a:ln>
        </p:spPr>
      </p:sp>
      <p:sp>
        <p:nvSpPr>
          <p:cNvPr id="7" name="Shape 5"/>
          <p:cNvSpPr/>
          <p:nvPr/>
        </p:nvSpPr>
        <p:spPr>
          <a:xfrm>
            <a:off x="812800" y="1965871"/>
            <a:ext cx="3111500" cy="1905000"/>
          </a:xfrm>
          <a:prstGeom prst="rect">
            <a:avLst/>
          </a:prstGeom>
          <a:solidFill>
            <a:srgbClr val="EEEBFB"/>
          </a:solidFill>
          <a:ln/>
        </p:spPr>
      </p:sp>
      <p:sp>
        <p:nvSpPr>
          <p:cNvPr id="8" name="Shape 6"/>
          <p:cNvSpPr/>
          <p:nvPr/>
        </p:nvSpPr>
        <p:spPr>
          <a:xfrm>
            <a:off x="3924300" y="1965871"/>
            <a:ext cx="3111500" cy="1905000"/>
          </a:xfrm>
          <a:prstGeom prst="rect">
            <a:avLst/>
          </a:prstGeom>
          <a:solidFill>
            <a:srgbClr val="E6F4EC"/>
          </a:solidFill>
          <a:ln/>
        </p:spPr>
      </p:sp>
      <p:sp>
        <p:nvSpPr>
          <p:cNvPr id="9" name="Shape 7"/>
          <p:cNvSpPr/>
          <p:nvPr/>
        </p:nvSpPr>
        <p:spPr>
          <a:xfrm>
            <a:off x="812800" y="3870871"/>
            <a:ext cx="3111500" cy="1905000"/>
          </a:xfrm>
          <a:prstGeom prst="rect">
            <a:avLst/>
          </a:prstGeom>
          <a:solidFill>
            <a:srgbClr val="EFEDF4"/>
          </a:solidFill>
          <a:ln/>
        </p:spPr>
      </p:sp>
      <p:sp>
        <p:nvSpPr>
          <p:cNvPr id="10" name="Shape 8"/>
          <p:cNvSpPr/>
          <p:nvPr/>
        </p:nvSpPr>
        <p:spPr>
          <a:xfrm>
            <a:off x="3924300" y="3870871"/>
            <a:ext cx="3111500" cy="1905000"/>
          </a:xfrm>
          <a:prstGeom prst="rect">
            <a:avLst/>
          </a:prstGeom>
          <a:solidFill>
            <a:srgbClr val="F8F7FC"/>
          </a:solidFill>
          <a:ln/>
        </p:spPr>
      </p:sp>
      <p:sp>
        <p:nvSpPr>
          <p:cNvPr id="11" name="Text 9"/>
          <p:cNvSpPr/>
          <p:nvPr/>
        </p:nvSpPr>
        <p:spPr>
          <a:xfrm>
            <a:off x="965200" y="3566071"/>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4BDB"/>
                </a:solidFill>
                <a:latin typeface="DM Sans" pitchFamily="34" charset="0"/>
                <a:ea typeface="DM Sans" pitchFamily="34" charset="-122"/>
                <a:cs typeface="DM Sans" pitchFamily="34" charset="-120"/>
              </a:rPr>
              <a:t>BIG BETS</a:t>
            </a:r>
            <a:endParaRPr lang="en-US" sz="1200" dirty="0"/>
          </a:p>
        </p:txBody>
      </p:sp>
      <p:sp>
        <p:nvSpPr>
          <p:cNvPr id="12" name="Text 10"/>
          <p:cNvSpPr/>
          <p:nvPr/>
        </p:nvSpPr>
        <p:spPr>
          <a:xfrm>
            <a:off x="5435600" y="2092871"/>
            <a:ext cx="1447800" cy="238720"/>
          </a:xfrm>
          <a:prstGeom prst="rect">
            <a:avLst/>
          </a:prstGeom>
          <a:noFill/>
          <a:ln/>
        </p:spPr>
        <p:txBody>
          <a:bodyPr wrap="square" lIns="0" tIns="0" rIns="0" bIns="0" rtlCol="0" anchor="t">
            <a:normAutofit/>
          </a:bodyPr>
          <a:lstStyle/>
          <a:p>
            <a:pPr algn="r" indent="0" marL="0">
              <a:lnSpc>
                <a:spcPts val="1680"/>
              </a:lnSpc>
              <a:buNone/>
            </a:pPr>
            <a:r>
              <a:rPr lang="en-US" sz="1200" b="1" spc="50" kern="0" dirty="0">
                <a:solidFill>
                  <a:srgbClr val="1F7A52"/>
                </a:solidFill>
                <a:latin typeface="DM Sans" pitchFamily="34" charset="0"/>
                <a:ea typeface="DM Sans" pitchFamily="34" charset="-122"/>
                <a:cs typeface="DM Sans" pitchFamily="34" charset="-120"/>
              </a:rPr>
              <a:t>QUICK WINS</a:t>
            </a:r>
            <a:endParaRPr lang="en-US" sz="1200" dirty="0"/>
          </a:p>
        </p:txBody>
      </p:sp>
      <p:sp>
        <p:nvSpPr>
          <p:cNvPr id="13" name="Text 11"/>
          <p:cNvSpPr/>
          <p:nvPr/>
        </p:nvSpPr>
        <p:spPr>
          <a:xfrm>
            <a:off x="965200" y="5471071"/>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A5675"/>
                </a:solidFill>
                <a:latin typeface="DM Sans" pitchFamily="34" charset="0"/>
                <a:ea typeface="DM Sans" pitchFamily="34" charset="-122"/>
                <a:cs typeface="DM Sans" pitchFamily="34" charset="-120"/>
              </a:rPr>
              <a:t>LATER</a:t>
            </a:r>
            <a:endParaRPr lang="en-US" sz="1200" dirty="0"/>
          </a:p>
        </p:txBody>
      </p:sp>
      <p:sp>
        <p:nvSpPr>
          <p:cNvPr id="14" name="Text 12"/>
          <p:cNvSpPr/>
          <p:nvPr/>
        </p:nvSpPr>
        <p:spPr>
          <a:xfrm>
            <a:off x="5308600" y="5471071"/>
            <a:ext cx="1574800" cy="238720"/>
          </a:xfrm>
          <a:prstGeom prst="rect">
            <a:avLst/>
          </a:prstGeom>
          <a:noFill/>
          <a:ln/>
        </p:spPr>
        <p:txBody>
          <a:bodyPr wrap="square" lIns="0" tIns="0" rIns="0" bIns="0" rtlCol="0" anchor="t">
            <a:normAutofit/>
          </a:bodyPr>
          <a:lstStyle/>
          <a:p>
            <a:pPr algn="r" indent="0" marL="0">
              <a:lnSpc>
                <a:spcPts val="1680"/>
              </a:lnSpc>
              <a:buNone/>
            </a:pPr>
            <a:r>
              <a:rPr lang="en-US" sz="1200" b="1" spc="50" kern="0" dirty="0">
                <a:solidFill>
                  <a:srgbClr val="5A5675"/>
                </a:solidFill>
                <a:latin typeface="DM Sans" pitchFamily="34" charset="0"/>
                <a:ea typeface="DM Sans" pitchFamily="34" charset="-122"/>
                <a:cs typeface="DM Sans" pitchFamily="34" charset="-120"/>
              </a:rPr>
              <a:t>EASY ADD-ONS</a:t>
            </a:r>
            <a:endParaRPr lang="en-US" sz="1200" dirty="0"/>
          </a:p>
        </p:txBody>
      </p:sp>
      <p:sp>
        <p:nvSpPr>
          <p:cNvPr id="15" name="Text 13"/>
          <p:cNvSpPr/>
          <p:nvPr/>
        </p:nvSpPr>
        <p:spPr>
          <a:xfrm>
            <a:off x="5962650" y="26643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1F7A52"/>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1</a:t>
            </a:r>
            <a:endParaRPr lang="en-US" sz="1200" dirty="0"/>
          </a:p>
        </p:txBody>
      </p:sp>
      <p:sp>
        <p:nvSpPr>
          <p:cNvPr id="16" name="Text 14"/>
          <p:cNvSpPr/>
          <p:nvPr/>
        </p:nvSpPr>
        <p:spPr>
          <a:xfrm>
            <a:off x="6273800" y="35406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1F7A52"/>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2</a:t>
            </a:r>
            <a:endParaRPr lang="en-US" sz="1200" dirty="0"/>
          </a:p>
        </p:txBody>
      </p:sp>
      <p:sp>
        <p:nvSpPr>
          <p:cNvPr id="17" name="Text 15"/>
          <p:cNvSpPr/>
          <p:nvPr/>
        </p:nvSpPr>
        <p:spPr>
          <a:xfrm>
            <a:off x="5156200" y="29691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1F7A52"/>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3</a:t>
            </a:r>
            <a:endParaRPr lang="en-US" sz="1200" dirty="0"/>
          </a:p>
        </p:txBody>
      </p:sp>
      <p:sp>
        <p:nvSpPr>
          <p:cNvPr id="18" name="Text 16"/>
          <p:cNvSpPr/>
          <p:nvPr/>
        </p:nvSpPr>
        <p:spPr>
          <a:xfrm>
            <a:off x="4533900" y="32739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1F7A52"/>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4</a:t>
            </a:r>
            <a:endParaRPr lang="en-US" sz="1200" dirty="0"/>
          </a:p>
        </p:txBody>
      </p:sp>
      <p:sp>
        <p:nvSpPr>
          <p:cNvPr id="19" name="Text 17"/>
          <p:cNvSpPr/>
          <p:nvPr/>
        </p:nvSpPr>
        <p:spPr>
          <a:xfrm>
            <a:off x="4279900" y="39216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5B4BDB"/>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5</a:t>
            </a:r>
            <a:endParaRPr lang="en-US" sz="1200" dirty="0"/>
          </a:p>
        </p:txBody>
      </p:sp>
      <p:sp>
        <p:nvSpPr>
          <p:cNvPr id="20" name="Text 18"/>
          <p:cNvSpPr/>
          <p:nvPr/>
        </p:nvSpPr>
        <p:spPr>
          <a:xfrm>
            <a:off x="3473450" y="31215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5B4BDB"/>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6</a:t>
            </a:r>
            <a:endParaRPr lang="en-US" sz="1200" dirty="0"/>
          </a:p>
        </p:txBody>
      </p:sp>
      <p:sp>
        <p:nvSpPr>
          <p:cNvPr id="21" name="Text 19"/>
          <p:cNvSpPr/>
          <p:nvPr/>
        </p:nvSpPr>
        <p:spPr>
          <a:xfrm>
            <a:off x="4902200" y="41121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5B4BDB"/>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7</a:t>
            </a:r>
            <a:endParaRPr lang="en-US" sz="1200" dirty="0"/>
          </a:p>
        </p:txBody>
      </p:sp>
      <p:sp>
        <p:nvSpPr>
          <p:cNvPr id="22" name="Text 20"/>
          <p:cNvSpPr/>
          <p:nvPr/>
        </p:nvSpPr>
        <p:spPr>
          <a:xfrm>
            <a:off x="5651500" y="43026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1F7A52"/>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8</a:t>
            </a:r>
            <a:endParaRPr lang="en-US" sz="1200" dirty="0"/>
          </a:p>
        </p:txBody>
      </p:sp>
      <p:sp>
        <p:nvSpPr>
          <p:cNvPr id="23" name="Text 21"/>
          <p:cNvSpPr/>
          <p:nvPr/>
        </p:nvSpPr>
        <p:spPr>
          <a:xfrm>
            <a:off x="3035300" y="34263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5B4BDB"/>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9</a:t>
            </a:r>
            <a:endParaRPr lang="en-US" sz="1200" dirty="0"/>
          </a:p>
        </p:txBody>
      </p:sp>
      <p:sp>
        <p:nvSpPr>
          <p:cNvPr id="24" name="Text 22"/>
          <p:cNvSpPr/>
          <p:nvPr/>
        </p:nvSpPr>
        <p:spPr>
          <a:xfrm>
            <a:off x="2540000" y="25881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B5541C"/>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10</a:t>
            </a:r>
            <a:endParaRPr lang="en-US" sz="1200" dirty="0"/>
          </a:p>
        </p:txBody>
      </p:sp>
      <p:sp>
        <p:nvSpPr>
          <p:cNvPr id="25" name="Text 23"/>
          <p:cNvSpPr/>
          <p:nvPr/>
        </p:nvSpPr>
        <p:spPr>
          <a:xfrm>
            <a:off x="1479550" y="2207171"/>
            <a:ext cx="279400" cy="278854"/>
          </a:xfrm>
          <a:custGeom>
            <a:avLst/>
            <a:gdLst/>
            <a:ahLst/>
            <a:cxnLst/>
            <a:rect l="l" t="t" r="r" b="b"/>
            <a:pathLst>
              <a:path w="279400" h="278854">
                <a:moveTo>
                  <a:pt x="139427" y="0"/>
                </a:moveTo>
                <a:lnTo>
                  <a:pt x="139973" y="0"/>
                </a:lnTo>
                <a:arcTo hR="139427" wR="139427" stAng="16200000" swAng="5400000"/>
                <a:lnTo>
                  <a:pt x="279400" y="139427"/>
                </a:lnTo>
                <a:arcTo hR="139427" wR="139427" stAng="0" swAng="5400000"/>
                <a:lnTo>
                  <a:pt x="139427" y="278854"/>
                </a:lnTo>
                <a:arcTo hR="139427" wR="139427" stAng="5400000" swAng="5400000"/>
                <a:lnTo>
                  <a:pt x="0" y="139427"/>
                </a:lnTo>
                <a:arcTo hR="139427" wR="139427" stAng="10800000" swAng="5400000"/>
                <a:close/>
              </a:path>
            </a:pathLst>
          </a:custGeom>
          <a:solidFill>
            <a:srgbClr val="B5541C"/>
          </a:solidFill>
          <a:ln/>
        </p:spPr>
        <p:txBody>
          <a:bodyPr wrap="square" lIns="0" tIns="0" rIns="0" bIns="0" rtlCol="0" anchor="t">
            <a:normAutofit/>
          </a:bodyPr>
          <a:lstStyle/>
          <a:p>
            <a:pPr algn="ctr" indent="0" marL="0">
              <a:lnSpc>
                <a:spcPts val="2196"/>
              </a:lnSpc>
              <a:buNone/>
            </a:pPr>
            <a:r>
              <a:rPr lang="en-US" sz="1200" b="1" dirty="0">
                <a:solidFill>
                  <a:srgbClr val="FDFCFF"/>
                </a:solidFill>
                <a:latin typeface="DM Sans" pitchFamily="34" charset="0"/>
                <a:ea typeface="DM Sans" pitchFamily="34" charset="-122"/>
                <a:cs typeface="DM Sans" pitchFamily="34" charset="-120"/>
              </a:rPr>
              <a:t>11</a:t>
            </a:r>
            <a:endParaRPr lang="en-US" sz="1200" dirty="0"/>
          </a:p>
        </p:txBody>
      </p:sp>
      <p:sp>
        <p:nvSpPr>
          <p:cNvPr id="26" name="Text 24"/>
          <p:cNvSpPr/>
          <p:nvPr/>
        </p:nvSpPr>
        <p:spPr>
          <a:xfrm>
            <a:off x="626110" y="5826671"/>
            <a:ext cx="640969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A5675"/>
                </a:solidFill>
                <a:latin typeface="DM Sans" pitchFamily="34" charset="0"/>
                <a:ea typeface="DM Sans" pitchFamily="34" charset="-122"/>
                <a:cs typeface="DM Sans" pitchFamily="34" charset="-120"/>
              </a:rPr>
              <a:t>Feasibility with existing Schwarz assets →</a:t>
            </a:r>
            <a:endParaRPr lang="en-US" sz="1200" dirty="0"/>
          </a:p>
        </p:txBody>
      </p:sp>
      <p:sp>
        <p:nvSpPr>
          <p:cNvPr id="27" name="Shape 25"/>
          <p:cNvSpPr/>
          <p:nvPr/>
        </p:nvSpPr>
        <p:spPr>
          <a:xfrm>
            <a:off x="7340600" y="1950889"/>
            <a:ext cx="152400" cy="152400"/>
          </a:xfrm>
          <a:prstGeom prst="roundRect">
            <a:avLst>
              <a:gd name="adj" fmla="val 50000"/>
            </a:avLst>
          </a:prstGeom>
          <a:solidFill>
            <a:srgbClr val="1F7A52"/>
          </a:solidFill>
          <a:ln/>
        </p:spPr>
      </p:sp>
      <p:sp>
        <p:nvSpPr>
          <p:cNvPr id="28" name="Text 26"/>
          <p:cNvSpPr/>
          <p:nvPr/>
        </p:nvSpPr>
        <p:spPr>
          <a:xfrm>
            <a:off x="7569200" y="1920429"/>
            <a:ext cx="226177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Phase 1 · 0–12 months</a:t>
            </a:r>
            <a:endParaRPr lang="en-US" sz="1400" dirty="0"/>
          </a:p>
        </p:txBody>
      </p:sp>
      <p:sp>
        <p:nvSpPr>
          <p:cNvPr id="29" name="Text 27"/>
          <p:cNvSpPr/>
          <p:nvPr/>
        </p:nvSpPr>
        <p:spPr>
          <a:xfrm>
            <a:off x="7340600" y="2184549"/>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1 Meal planner and smart list</a:t>
            </a:r>
            <a:endParaRPr lang="en-US" sz="1200" dirty="0"/>
          </a:p>
        </p:txBody>
      </p:sp>
      <p:sp>
        <p:nvSpPr>
          <p:cNvPr id="30" name="Text 28"/>
          <p:cNvSpPr/>
          <p:nvPr/>
        </p:nvSpPr>
        <p:spPr>
          <a:xfrm>
            <a:off x="7340600" y="2448669"/>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2 Healthy Deals and nudges</a:t>
            </a:r>
            <a:endParaRPr lang="en-US" sz="1200" dirty="0"/>
          </a:p>
        </p:txBody>
      </p:sp>
      <p:sp>
        <p:nvSpPr>
          <p:cNvPr id="31" name="Text 29"/>
          <p:cNvSpPr/>
          <p:nvPr/>
        </p:nvSpPr>
        <p:spPr>
          <a:xfrm>
            <a:off x="7340600" y="2712789"/>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3 Bet on yourself</a:t>
            </a:r>
            <a:endParaRPr lang="en-US" sz="1200" dirty="0"/>
          </a:p>
        </p:txBody>
      </p:sp>
      <p:sp>
        <p:nvSpPr>
          <p:cNvPr id="32" name="Text 30"/>
          <p:cNvSpPr/>
          <p:nvPr/>
        </p:nvSpPr>
        <p:spPr>
          <a:xfrm>
            <a:off x="7340600" y="2976910"/>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4 Self-service health stations</a:t>
            </a:r>
            <a:endParaRPr lang="en-US" sz="1200" dirty="0"/>
          </a:p>
        </p:txBody>
      </p:sp>
      <p:sp>
        <p:nvSpPr>
          <p:cNvPr id="33" name="Text 31"/>
          <p:cNvSpPr/>
          <p:nvPr/>
        </p:nvSpPr>
        <p:spPr>
          <a:xfrm>
            <a:off x="7340600" y="3241030"/>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8 Move with Lidl</a:t>
            </a:r>
            <a:endParaRPr lang="en-US" sz="1200" dirty="0"/>
          </a:p>
        </p:txBody>
      </p:sp>
      <p:sp>
        <p:nvSpPr>
          <p:cNvPr id="34" name="Shape 32"/>
          <p:cNvSpPr/>
          <p:nvPr/>
        </p:nvSpPr>
        <p:spPr>
          <a:xfrm>
            <a:off x="7340600" y="3662611"/>
            <a:ext cx="152400" cy="152400"/>
          </a:xfrm>
          <a:prstGeom prst="roundRect">
            <a:avLst>
              <a:gd name="adj" fmla="val 50000"/>
            </a:avLst>
          </a:prstGeom>
          <a:solidFill>
            <a:srgbClr val="5B4BDB"/>
          </a:solidFill>
          <a:ln/>
        </p:spPr>
      </p:sp>
      <p:sp>
        <p:nvSpPr>
          <p:cNvPr id="35" name="Text 33"/>
          <p:cNvSpPr/>
          <p:nvPr/>
        </p:nvSpPr>
        <p:spPr>
          <a:xfrm>
            <a:off x="7569200" y="3632150"/>
            <a:ext cx="19361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Phase 2 · 1–3 years</a:t>
            </a:r>
            <a:endParaRPr lang="en-US" sz="1400" dirty="0"/>
          </a:p>
        </p:txBody>
      </p:sp>
      <p:sp>
        <p:nvSpPr>
          <p:cNvPr id="36" name="Text 34"/>
          <p:cNvSpPr/>
          <p:nvPr/>
        </p:nvSpPr>
        <p:spPr>
          <a:xfrm>
            <a:off x="7340600" y="3896271"/>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5 Future You avatar</a:t>
            </a:r>
            <a:endParaRPr lang="en-US" sz="1200" dirty="0"/>
          </a:p>
        </p:txBody>
      </p:sp>
      <p:sp>
        <p:nvSpPr>
          <p:cNvPr id="37" name="Text 35"/>
          <p:cNvSpPr/>
          <p:nvPr/>
        </p:nvSpPr>
        <p:spPr>
          <a:xfrm>
            <a:off x="7340600" y="4160391"/>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6 Health Line</a:t>
            </a:r>
            <a:endParaRPr lang="en-US" sz="1200" dirty="0"/>
          </a:p>
        </p:txBody>
      </p:sp>
      <p:sp>
        <p:nvSpPr>
          <p:cNvPr id="38" name="Text 36"/>
          <p:cNvSpPr/>
          <p:nvPr/>
        </p:nvSpPr>
        <p:spPr>
          <a:xfrm>
            <a:off x="7340600" y="4424511"/>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7 Healthy Hour</a:t>
            </a:r>
            <a:endParaRPr lang="en-US" sz="1200" dirty="0"/>
          </a:p>
        </p:txBody>
      </p:sp>
      <p:sp>
        <p:nvSpPr>
          <p:cNvPr id="39" name="Text 37"/>
          <p:cNvSpPr/>
          <p:nvPr/>
        </p:nvSpPr>
        <p:spPr>
          <a:xfrm>
            <a:off x="7340600" y="4688632"/>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9 FoodMatch</a:t>
            </a:r>
            <a:endParaRPr lang="en-US" sz="1200" dirty="0"/>
          </a:p>
        </p:txBody>
      </p:sp>
      <p:sp>
        <p:nvSpPr>
          <p:cNvPr id="40" name="Shape 38"/>
          <p:cNvSpPr/>
          <p:nvPr/>
        </p:nvSpPr>
        <p:spPr>
          <a:xfrm>
            <a:off x="7340600" y="5110212"/>
            <a:ext cx="152400" cy="152400"/>
          </a:xfrm>
          <a:prstGeom prst="roundRect">
            <a:avLst>
              <a:gd name="adj" fmla="val 50000"/>
            </a:avLst>
          </a:prstGeom>
          <a:solidFill>
            <a:srgbClr val="B5541C"/>
          </a:solidFill>
          <a:ln/>
        </p:spPr>
      </p:sp>
      <p:sp>
        <p:nvSpPr>
          <p:cNvPr id="41" name="Text 39"/>
          <p:cNvSpPr/>
          <p:nvPr/>
        </p:nvSpPr>
        <p:spPr>
          <a:xfrm>
            <a:off x="7569200" y="5079752"/>
            <a:ext cx="21203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640"/>
                </a:solidFill>
                <a:latin typeface="DM Sans" pitchFamily="34" charset="0"/>
                <a:ea typeface="DM Sans" pitchFamily="34" charset="-122"/>
                <a:cs typeface="DM Sans" pitchFamily="34" charset="-120"/>
              </a:rPr>
              <a:t>Phase 3 · 3–5+ years</a:t>
            </a:r>
            <a:endParaRPr lang="en-US" sz="1400" dirty="0"/>
          </a:p>
        </p:txBody>
      </p:sp>
      <p:sp>
        <p:nvSpPr>
          <p:cNvPr id="42" name="Text 40"/>
          <p:cNvSpPr/>
          <p:nvPr/>
        </p:nvSpPr>
        <p:spPr>
          <a:xfrm>
            <a:off x="7340600" y="5343872"/>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10 Lidl Life Exchange</a:t>
            </a:r>
            <a:endParaRPr lang="en-US" sz="1200" dirty="0"/>
          </a:p>
        </p:txBody>
      </p:sp>
      <p:sp>
        <p:nvSpPr>
          <p:cNvPr id="43" name="Text 41"/>
          <p:cNvSpPr/>
          <p:nvPr/>
        </p:nvSpPr>
        <p:spPr>
          <a:xfrm>
            <a:off x="7340600" y="5607993"/>
            <a:ext cx="4159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640"/>
                </a:solidFill>
                <a:latin typeface="DM Sans" pitchFamily="34" charset="0"/>
                <a:ea typeface="DM Sans" pitchFamily="34" charset="-122"/>
                <a:cs typeface="DM Sans" pitchFamily="34" charset="-120"/>
              </a:rPr>
              <a:t>11 Schwarz Gesundheit hub</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DB"/>
                </a:solidFill>
                <a:latin typeface="DM Sans" pitchFamily="34" charset="0"/>
                <a:ea typeface="DM Sans" pitchFamily="34" charset="-122"/>
                <a:cs typeface="DM Sans" pitchFamily="34" charset="-120"/>
              </a:rPr>
              <a:t>BUSINESS LOGIC</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640"/>
                </a:solidFill>
                <a:latin typeface="DM Sans" pitchFamily="34" charset="0"/>
                <a:ea typeface="DM Sans" pitchFamily="34" charset="-122"/>
                <a:cs typeface="DM Sans" pitchFamily="34" charset="-120"/>
              </a:rPr>
              <a:t>From loyalty driver to new revenue</a:t>
            </a:r>
            <a:endParaRPr lang="en-US" sz="3200" dirty="0"/>
          </a:p>
        </p:txBody>
      </p:sp>
      <p:sp>
        <p:nvSpPr>
          <p:cNvPr id="4" name="Shape 2"/>
          <p:cNvSpPr/>
          <p:nvPr/>
        </p:nvSpPr>
        <p:spPr>
          <a:xfrm>
            <a:off x="815975" y="2517725"/>
            <a:ext cx="3418384" cy="2787650"/>
          </a:xfrm>
          <a:prstGeom prst="roundRect">
            <a:avLst>
              <a:gd name="adj" fmla="val 5353"/>
            </a:avLst>
          </a:prstGeom>
          <a:solidFill>
            <a:srgbClr val="FDFCFF"/>
          </a:solidFill>
          <a:ln w="6350">
            <a:solidFill>
              <a:srgbClr val="E2DEF3"/>
            </a:solidFill>
            <a:prstDash val="solid"/>
          </a:ln>
        </p:spPr>
      </p:sp>
      <p:sp>
        <p:nvSpPr>
          <p:cNvPr id="5" name="Text 3"/>
          <p:cNvSpPr/>
          <p:nvPr/>
        </p:nvSpPr>
        <p:spPr>
          <a:xfrm>
            <a:off x="1022350" y="2724100"/>
            <a:ext cx="3095803"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7A52"/>
                </a:solidFill>
                <a:latin typeface="DM Sans" pitchFamily="34" charset="0"/>
                <a:ea typeface="DM Sans" pitchFamily="34" charset="-122"/>
                <a:cs typeface="DM Sans" pitchFamily="34" charset="-120"/>
              </a:rPr>
              <a:t>HORIZON 1 · 0–12 MONTHS</a:t>
            </a:r>
            <a:endParaRPr lang="en-US" sz="1200" dirty="0"/>
          </a:p>
        </p:txBody>
      </p:sp>
      <p:sp>
        <p:nvSpPr>
          <p:cNvPr id="6" name="Text 4"/>
          <p:cNvSpPr/>
          <p:nvPr/>
        </p:nvSpPr>
        <p:spPr>
          <a:xfrm>
            <a:off x="1022350" y="3039021"/>
            <a:ext cx="309580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640"/>
                </a:solidFill>
                <a:latin typeface="DM Sans" pitchFamily="34" charset="0"/>
                <a:ea typeface="DM Sans" pitchFamily="34" charset="-122"/>
                <a:cs typeface="DM Sans" pitchFamily="34" charset="-120"/>
              </a:rPr>
              <a:t>Loyalty driver</a:t>
            </a:r>
            <a:endParaRPr lang="en-US" sz="1800" dirty="0"/>
          </a:p>
        </p:txBody>
      </p:sp>
      <p:sp>
        <p:nvSpPr>
          <p:cNvPr id="7" name="Text 5"/>
          <p:cNvSpPr/>
          <p:nvPr/>
        </p:nvSpPr>
        <p:spPr>
          <a:xfrm>
            <a:off x="1121156" y="3414911"/>
            <a:ext cx="2989377" cy="68828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5A5675"/>
                </a:solidFill>
                <a:latin typeface="DM Sans" pitchFamily="34" charset="0"/>
                <a:ea typeface="DM Sans" pitchFamily="34" charset="-122"/>
                <a:cs typeface="DM Sans" pitchFamily="34" charset="-120"/>
              </a:rPr>
              <a:t>More visits and bigger baskets</a:t>
            </a:r>
            <a:endParaRPr lang="en-US" sz="1200" dirty="0"/>
          </a:p>
          <a:p>
            <a:pPr algn="l" marL="155194" indent="-155194">
              <a:lnSpc>
                <a:spcPts val="1740"/>
              </a:lnSpc>
              <a:buSzPct val="100000"/>
              <a:buChar char="•"/>
            </a:pPr>
            <a:r>
              <a:rPr lang="en-US" sz="1200" dirty="0">
                <a:solidFill>
                  <a:srgbClr val="5A5675"/>
                </a:solidFill>
                <a:latin typeface="DM Sans" pitchFamily="34" charset="0"/>
                <a:ea typeface="DM Sans" pitchFamily="34" charset="-122"/>
                <a:cs typeface="DM Sans" pitchFamily="34" charset="-120"/>
              </a:rPr>
              <a:t>Shift to fresh and own-brand products</a:t>
            </a:r>
            <a:endParaRPr lang="en-US" sz="1200" dirty="0"/>
          </a:p>
          <a:p>
            <a:pPr algn="l" marL="155194" indent="-155194">
              <a:lnSpc>
                <a:spcPts val="1740"/>
              </a:lnSpc>
              <a:buSzPct val="100000"/>
              <a:buChar char="•"/>
            </a:pPr>
            <a:r>
              <a:rPr lang="en-US" sz="1200" dirty="0">
                <a:solidFill>
                  <a:srgbClr val="5A5675"/>
                </a:solidFill>
                <a:latin typeface="DM Sans" pitchFamily="34" charset="0"/>
                <a:ea typeface="DM Sans" pitchFamily="34" charset="-122"/>
                <a:cs typeface="DM Sans" pitchFamily="34" charset="-120"/>
              </a:rPr>
              <a:t>Retail media from healthy brands</a:t>
            </a:r>
            <a:endParaRPr lang="en-US" sz="1200" dirty="0"/>
          </a:p>
        </p:txBody>
      </p:sp>
      <p:sp>
        <p:nvSpPr>
          <p:cNvPr id="8" name="Shape 6"/>
          <p:cNvSpPr/>
          <p:nvPr/>
        </p:nvSpPr>
        <p:spPr>
          <a:xfrm>
            <a:off x="4393109" y="2136725"/>
            <a:ext cx="3418433" cy="3168650"/>
          </a:xfrm>
          <a:prstGeom prst="roundRect">
            <a:avLst>
              <a:gd name="adj" fmla="val 4709"/>
            </a:avLst>
          </a:prstGeom>
          <a:solidFill>
            <a:srgbClr val="FDFCFF"/>
          </a:solidFill>
          <a:ln w="6350">
            <a:solidFill>
              <a:srgbClr val="E2DEF3"/>
            </a:solidFill>
            <a:prstDash val="solid"/>
          </a:ln>
        </p:spPr>
      </p:sp>
      <p:sp>
        <p:nvSpPr>
          <p:cNvPr id="9" name="Text 7"/>
          <p:cNvSpPr/>
          <p:nvPr/>
        </p:nvSpPr>
        <p:spPr>
          <a:xfrm>
            <a:off x="4599484" y="2343100"/>
            <a:ext cx="309585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4BDB"/>
                </a:solidFill>
                <a:latin typeface="DM Sans" pitchFamily="34" charset="0"/>
                <a:ea typeface="DM Sans" pitchFamily="34" charset="-122"/>
                <a:cs typeface="DM Sans" pitchFamily="34" charset="-120"/>
              </a:rPr>
              <a:t>HORIZON 2 · 1–3 YEARS</a:t>
            </a:r>
            <a:endParaRPr lang="en-US" sz="1200" dirty="0"/>
          </a:p>
        </p:txBody>
      </p:sp>
      <p:sp>
        <p:nvSpPr>
          <p:cNvPr id="10" name="Text 8"/>
          <p:cNvSpPr/>
          <p:nvPr/>
        </p:nvSpPr>
        <p:spPr>
          <a:xfrm>
            <a:off x="4599484" y="2658021"/>
            <a:ext cx="309585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640"/>
                </a:solidFill>
                <a:latin typeface="DM Sans" pitchFamily="34" charset="0"/>
                <a:ea typeface="DM Sans" pitchFamily="34" charset="-122"/>
                <a:cs typeface="DM Sans" pitchFamily="34" charset="-120"/>
              </a:rPr>
              <a:t>Partner revenue</a:t>
            </a:r>
            <a:endParaRPr lang="en-US" sz="1800" dirty="0"/>
          </a:p>
        </p:txBody>
      </p:sp>
      <p:sp>
        <p:nvSpPr>
          <p:cNvPr id="11" name="Text 9"/>
          <p:cNvSpPr/>
          <p:nvPr/>
        </p:nvSpPr>
        <p:spPr>
          <a:xfrm>
            <a:off x="4698290" y="3033911"/>
            <a:ext cx="2989428" cy="68828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5A5675"/>
                </a:solidFill>
                <a:latin typeface="DM Sans" pitchFamily="34" charset="0"/>
                <a:ea typeface="DM Sans" pitchFamily="34" charset="-122"/>
                <a:cs typeface="DM Sans" pitchFamily="34" charset="-120"/>
              </a:rPr>
              <a:t>Insurers co-fund rewards and credits</a:t>
            </a:r>
            <a:endParaRPr lang="en-US" sz="1200" dirty="0"/>
          </a:p>
          <a:p>
            <a:pPr algn="l" marL="155194" indent="-155194">
              <a:lnSpc>
                <a:spcPts val="1740"/>
              </a:lnSpc>
              <a:buSzPct val="100000"/>
              <a:buChar char="•"/>
            </a:pPr>
            <a:r>
              <a:rPr lang="en-US" sz="1200" dirty="0">
                <a:solidFill>
                  <a:srgbClr val="5A5675"/>
                </a:solidFill>
                <a:latin typeface="DM Sans" pitchFamily="34" charset="0"/>
                <a:ea typeface="DM Sans" pitchFamily="34" charset="-122"/>
                <a:cs typeface="DM Sans" pitchFamily="34" charset="-120"/>
              </a:rPr>
              <a:t>Paid check-ups at health stations</a:t>
            </a:r>
            <a:endParaRPr lang="en-US" sz="1200" dirty="0"/>
          </a:p>
          <a:p>
            <a:pPr algn="l" marL="155194" indent="-155194">
              <a:lnSpc>
                <a:spcPts val="1740"/>
              </a:lnSpc>
              <a:buSzPct val="100000"/>
              <a:buChar char="•"/>
            </a:pPr>
            <a:r>
              <a:rPr lang="en-US" sz="1200" dirty="0">
                <a:solidFill>
                  <a:srgbClr val="5A5675"/>
                </a:solidFill>
                <a:latin typeface="DM Sans" pitchFamily="34" charset="0"/>
                <a:ea typeface="DM Sans" pitchFamily="34" charset="-122"/>
                <a:cs typeface="DM Sans" pitchFamily="34" charset="-120"/>
              </a:rPr>
              <a:t>Municipal and employer partnerships</a:t>
            </a:r>
            <a:endParaRPr lang="en-US" sz="1200" dirty="0"/>
          </a:p>
        </p:txBody>
      </p:sp>
      <p:sp>
        <p:nvSpPr>
          <p:cNvPr id="12" name="Shape 10"/>
          <p:cNvSpPr/>
          <p:nvPr/>
        </p:nvSpPr>
        <p:spPr>
          <a:xfrm>
            <a:off x="7967117" y="1752550"/>
            <a:ext cx="3412083" cy="3556000"/>
          </a:xfrm>
          <a:prstGeom prst="roundRect">
            <a:avLst>
              <a:gd name="adj" fmla="val 4466"/>
            </a:avLst>
          </a:prstGeom>
          <a:solidFill>
            <a:srgbClr val="1C1640"/>
          </a:solidFill>
          <a:ln/>
        </p:spPr>
      </p:sp>
      <p:sp>
        <p:nvSpPr>
          <p:cNvPr id="13" name="Shape 11"/>
          <p:cNvSpPr/>
          <p:nvPr/>
        </p:nvSpPr>
        <p:spPr>
          <a:xfrm>
            <a:off x="7967117" y="1752550"/>
            <a:ext cx="3412083" cy="3556000"/>
          </a:xfrm>
          <a:custGeom>
            <a:avLst/>
            <a:gdLst/>
            <a:ahLst/>
            <a:cxnLst/>
            <a:rect l="l" t="t" r="r" b="b"/>
            <a:pathLst>
              <a:path w="3412083" h="3556000">
                <a:moveTo>
                  <a:pt x="0" y="152400"/>
                </a:moveTo>
                <a:lnTo>
                  <a:pt x="0" y="152400"/>
                </a:lnTo>
                <a:arcTo hR="152400" wR="152400" stAng="10800000" swAng="5400000"/>
                <a:lnTo>
                  <a:pt x="3259683" y="0"/>
                </a:lnTo>
                <a:arcTo hR="152400" wR="152400" stAng="16200000" swAng="5400000"/>
                <a:lnTo>
                  <a:pt x="3412083" y="152400"/>
                </a:lnTo>
                <a:arcTo hR="101600" wR="152400" stAng="0" swAng="-5400000"/>
                <a:lnTo>
                  <a:pt x="152400" y="50800"/>
                </a:lnTo>
                <a:arcTo hR="101600" wR="152400" stAng="16200000" swAng="-5400000"/>
                <a:close/>
              </a:path>
            </a:pathLst>
          </a:custGeom>
          <a:solidFill>
            <a:srgbClr val="B5541C"/>
          </a:solidFill>
          <a:ln/>
        </p:spPr>
      </p:sp>
      <p:sp>
        <p:nvSpPr>
          <p:cNvPr id="14" name="Text 12"/>
          <p:cNvSpPr/>
          <p:nvPr/>
        </p:nvSpPr>
        <p:spPr>
          <a:xfrm>
            <a:off x="8170317" y="2006550"/>
            <a:ext cx="309585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FB27A"/>
                </a:solidFill>
                <a:latin typeface="DM Sans" pitchFamily="34" charset="0"/>
                <a:ea typeface="DM Sans" pitchFamily="34" charset="-122"/>
                <a:cs typeface="DM Sans" pitchFamily="34" charset="-120"/>
              </a:rPr>
              <a:t>HORIZON 3 · 3–5+ YEARS</a:t>
            </a:r>
            <a:endParaRPr lang="en-US" sz="1200" dirty="0"/>
          </a:p>
        </p:txBody>
      </p:sp>
      <p:sp>
        <p:nvSpPr>
          <p:cNvPr id="15" name="Text 13"/>
          <p:cNvSpPr/>
          <p:nvPr/>
        </p:nvSpPr>
        <p:spPr>
          <a:xfrm>
            <a:off x="8170317" y="2321471"/>
            <a:ext cx="309585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FB"/>
                </a:solidFill>
                <a:latin typeface="DM Sans" pitchFamily="34" charset="0"/>
                <a:ea typeface="DM Sans" pitchFamily="34" charset="-122"/>
                <a:cs typeface="DM Sans" pitchFamily="34" charset="-120"/>
              </a:rPr>
              <a:t>Health business</a:t>
            </a:r>
            <a:endParaRPr lang="en-US" sz="1800" dirty="0"/>
          </a:p>
        </p:txBody>
      </p:sp>
      <p:sp>
        <p:nvSpPr>
          <p:cNvPr id="16" name="Text 14"/>
          <p:cNvSpPr/>
          <p:nvPr/>
        </p:nvSpPr>
        <p:spPr>
          <a:xfrm>
            <a:off x="8269123" y="2697361"/>
            <a:ext cx="2989428" cy="90924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C9C3EE"/>
                </a:solidFill>
                <a:latin typeface="DM Sans" pitchFamily="34" charset="0"/>
                <a:ea typeface="DM Sans" pitchFamily="34" charset="-122"/>
                <a:cs typeface="DM Sans" pitchFamily="34" charset="-120"/>
              </a:rPr>
              <a:t>Outcome-based contracts with insurers</a:t>
            </a:r>
            <a:endParaRPr lang="en-US" sz="1200" dirty="0"/>
          </a:p>
          <a:p>
            <a:pPr algn="l" marL="155194" indent="-155194">
              <a:lnSpc>
                <a:spcPts val="1740"/>
              </a:lnSpc>
              <a:buSzPct val="100000"/>
              <a:buChar char="•"/>
            </a:pPr>
            <a:r>
              <a:rPr lang="en-US" sz="1200" dirty="0">
                <a:solidFill>
                  <a:srgbClr val="C9C3EE"/>
                </a:solidFill>
                <a:latin typeface="DM Sans" pitchFamily="34" charset="0"/>
                <a:ea typeface="DM Sans" pitchFamily="34" charset="-122"/>
                <a:cs typeface="DM Sans" pitchFamily="34" charset="-120"/>
              </a:rPr>
              <a:t>Schwarz Gesundheit membership</a:t>
            </a:r>
            <a:endParaRPr lang="en-US" sz="1200" dirty="0"/>
          </a:p>
          <a:p>
            <a:pPr algn="l" marL="155194" indent="-155194">
              <a:lnSpc>
                <a:spcPts val="1740"/>
              </a:lnSpc>
              <a:buSzPct val="100000"/>
              <a:buChar char="•"/>
            </a:pPr>
            <a:r>
              <a:rPr lang="en-US" sz="1200" dirty="0">
                <a:solidFill>
                  <a:srgbClr val="C9C3EE"/>
                </a:solidFill>
                <a:latin typeface="DM Sans" pitchFamily="34" charset="0"/>
                <a:ea typeface="DM Sans" pitchFamily="34" charset="-122"/>
                <a:cs typeface="DM Sans" pitchFamily="34" charset="-120"/>
              </a:rPr>
              <a:t>Health services in every hub</a:t>
            </a:r>
            <a:endParaRPr lang="en-US" sz="1200" dirty="0"/>
          </a:p>
        </p:txBody>
      </p:sp>
      <p:sp>
        <p:nvSpPr>
          <p:cNvPr id="17" name="Shape 15"/>
          <p:cNvSpPr/>
          <p:nvPr/>
        </p:nvSpPr>
        <p:spPr>
          <a:xfrm>
            <a:off x="812800" y="5511750"/>
            <a:ext cx="10566400" cy="508000"/>
          </a:xfrm>
          <a:prstGeom prst="roundRect">
            <a:avLst>
              <a:gd name="adj" fmla="val 25000"/>
            </a:avLst>
          </a:prstGeom>
          <a:solidFill>
            <a:srgbClr val="EEEBFB"/>
          </a:solidFill>
          <a:ln/>
        </p:spPr>
      </p:sp>
      <p:pic>
        <p:nvPicPr>
          <p:cNvPr id="18" name="Image 0" descr="Chart">    </p:cNvPr>
          <p:cNvPicPr>
            <a:picLocks noChangeAspect="1"/>
          </p:cNvPicPr>
          <p:nvPr/>
        </p:nvPicPr>
        <p:blipFill>
          <a:blip r:embed="rId1"/>
          <a:srcRect l="0" r="0" t="0" b="0"/>
          <a:stretch/>
        </p:blipFill>
        <p:spPr>
          <a:xfrm>
            <a:off x="990600" y="5638750"/>
            <a:ext cx="254000" cy="254000"/>
          </a:xfrm>
          <a:prstGeom prst="rect">
            <a:avLst/>
          </a:prstGeom>
        </p:spPr>
      </p:pic>
      <p:sp>
        <p:nvSpPr>
          <p:cNvPr id="19" name="Text 16"/>
          <p:cNvSpPr/>
          <p:nvPr/>
        </p:nvSpPr>
        <p:spPr>
          <a:xfrm>
            <a:off x="1371600" y="5659090"/>
            <a:ext cx="9267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640"/>
                </a:solidFill>
                <a:latin typeface="DM Sans" pitchFamily="34" charset="0"/>
                <a:ea typeface="DM Sans" pitchFamily="34" charset="-122"/>
                <a:cs typeface="DM Sans" pitchFamily="34" charset="-120"/>
              </a:rPr>
              <a:t>KPIs:</a:t>
            </a:r>
            <a:r>
              <a:rPr lang="en-US" sz="1200" dirty="0">
                <a:solidFill>
                  <a:srgbClr val="1C1640"/>
                </a:solidFill>
                <a:latin typeface="DM Sans" pitchFamily="34" charset="0"/>
                <a:ea typeface="DM Sans" pitchFamily="34" charset="-122"/>
                <a:cs typeface="DM Sans" pitchFamily="34" charset="-120"/>
              </a:rPr>
              <a:t> visit frequency · fresh and own-brand share · active LidlHealth users · insurer partners · health outcomes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12800" y="152915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9C3EE"/>
                </a:solidFill>
                <a:latin typeface="DM Sans" pitchFamily="34" charset="0"/>
                <a:ea typeface="DM Sans" pitchFamily="34" charset="-122"/>
                <a:cs typeface="DM Sans" pitchFamily="34" charset="-120"/>
              </a:rPr>
              <a:t>SCHWARZ GESUNDHEIT</a:t>
            </a:r>
            <a:endParaRPr lang="en-US" sz="1400" dirty="0"/>
          </a:p>
        </p:txBody>
      </p:sp>
      <p:sp>
        <p:nvSpPr>
          <p:cNvPr id="3" name="Text 1"/>
          <p:cNvSpPr/>
          <p:nvPr>
            <p:ph type="title"/>
          </p:nvPr>
        </p:nvSpPr>
        <p:spPr>
          <a:xfrm>
            <a:off x="812800" y="2032050"/>
            <a:ext cx="10883392" cy="210557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3FB"/>
                </a:solidFill>
                <a:latin typeface="DM Sans" pitchFamily="34" charset="0"/>
                <a:ea typeface="DM Sans" pitchFamily="34" charset="-122"/>
                <a:cs typeface="DM Sans" pitchFamily="34" charset="-120"/>
              </a:rPr>
              <a:t>Today a supermarket sells you food.</a:t>
            </a:r>
            <a:endParaRPr lang="en-US" sz="5200" dirty="0"/>
          </a:p>
          <a:p>
            <a:pPr algn="l" indent="0" marL="0">
              <a:lnSpc>
                <a:spcPts val="5460"/>
              </a:lnSpc>
              <a:buNone/>
            </a:pPr>
            <a:r>
              <a:rPr lang="en-US" sz="5200" b="1" i="0" dirty="0">
                <a:solidFill>
                  <a:srgbClr val="F5F3FB"/>
                </a:solidFill>
                <a:latin typeface="DM Sans" pitchFamily="34" charset="0"/>
                <a:ea typeface="DM Sans" pitchFamily="34" charset="-122"/>
                <a:cs typeface="DM Sans" pitchFamily="34" charset="-120"/>
              </a:rPr>
              <a:t>Tomorrow it helps you live well.</a:t>
            </a:r>
            <a:endParaRPr lang="en-US" sz="5200" dirty="0"/>
          </a:p>
        </p:txBody>
      </p:sp>
      <p:sp>
        <p:nvSpPr>
          <p:cNvPr id="4" name="Text 2"/>
          <p:cNvSpPr/>
          <p:nvPr/>
        </p:nvSpPr>
        <p:spPr>
          <a:xfrm>
            <a:off x="815975" y="4369395"/>
            <a:ext cx="1374080" cy="346670"/>
          </a:xfrm>
          <a:prstGeom prst="roundRect">
            <a:avLst>
              <a:gd name="adj" fmla="val 50000"/>
            </a:avLst>
          </a:prstGeom>
          <a:noFill/>
          <a:ln w="6350">
            <a:solidFill>
              <a:srgbClr val="6E62C9"/>
            </a:solidFill>
            <a:prstDash val="solid"/>
          </a:ln>
        </p:spPr>
        <p:txBody>
          <a:bodyPr wrap="none" lIns="0" tIns="0" rIns="0" bIns="0" rtlCol="0" anchor="ctr">
            <a:normAutofit/>
          </a:bodyPr>
          <a:lstStyle/>
          <a:p>
            <a:pPr algn="ctr" indent="0" marL="0">
              <a:lnSpc>
                <a:spcPts val="1680"/>
              </a:lnSpc>
              <a:buNone/>
            </a:pPr>
            <a:r>
              <a:rPr lang="en-US" sz="1200" b="1" dirty="0">
                <a:solidFill>
                  <a:srgbClr val="F5F3FB"/>
                </a:solidFill>
                <a:latin typeface="DM Sans" pitchFamily="34" charset="0"/>
                <a:ea typeface="DM Sans" pitchFamily="34" charset="-122"/>
                <a:cs typeface="DM Sans" pitchFamily="34" charset="-120"/>
              </a:rPr>
              <a:t>LidlHealth app</a:t>
            </a:r>
            <a:endParaRPr lang="en-US" sz="1200" dirty="0"/>
          </a:p>
        </p:txBody>
      </p:sp>
      <p:sp>
        <p:nvSpPr>
          <p:cNvPr id="5" name="Text 3"/>
          <p:cNvSpPr/>
          <p:nvPr/>
        </p:nvSpPr>
        <p:spPr>
          <a:xfrm>
            <a:off x="2298005" y="4369395"/>
            <a:ext cx="2077541" cy="346670"/>
          </a:xfrm>
          <a:prstGeom prst="roundRect">
            <a:avLst>
              <a:gd name="adj" fmla="val 50000"/>
            </a:avLst>
          </a:prstGeom>
          <a:noFill/>
          <a:ln w="6350">
            <a:solidFill>
              <a:srgbClr val="6E62C9"/>
            </a:solidFill>
            <a:prstDash val="solid"/>
          </a:ln>
        </p:spPr>
        <p:txBody>
          <a:bodyPr wrap="none" lIns="0" tIns="0" rIns="0" bIns="0" rtlCol="0" anchor="ctr">
            <a:normAutofit/>
          </a:bodyPr>
          <a:lstStyle/>
          <a:p>
            <a:pPr algn="ctr" indent="0" marL="0">
              <a:lnSpc>
                <a:spcPts val="1680"/>
              </a:lnSpc>
              <a:buNone/>
            </a:pPr>
            <a:r>
              <a:rPr lang="en-US" sz="1200" b="1" dirty="0">
                <a:solidFill>
                  <a:srgbClr val="F5F3FB"/>
                </a:solidFill>
                <a:latin typeface="DM Sans" pitchFamily="34" charset="0"/>
                <a:ea typeface="DM Sans" pitchFamily="34" charset="-122"/>
                <a:cs typeface="DM Sans" pitchFamily="34" charset="-120"/>
              </a:rPr>
              <a:t>Community health hubs</a:t>
            </a:r>
            <a:endParaRPr lang="en-US" sz="1200" dirty="0"/>
          </a:p>
        </p:txBody>
      </p:sp>
      <p:sp>
        <p:nvSpPr>
          <p:cNvPr id="6" name="Text 4"/>
          <p:cNvSpPr/>
          <p:nvPr/>
        </p:nvSpPr>
        <p:spPr>
          <a:xfrm>
            <a:off x="4483497" y="4369395"/>
            <a:ext cx="1819821" cy="346670"/>
          </a:xfrm>
          <a:prstGeom prst="roundRect">
            <a:avLst>
              <a:gd name="adj" fmla="val 50000"/>
            </a:avLst>
          </a:prstGeom>
          <a:noFill/>
          <a:ln w="6350">
            <a:solidFill>
              <a:srgbClr val="6E62C9"/>
            </a:solidFill>
            <a:prstDash val="solid"/>
          </a:ln>
        </p:spPr>
        <p:txBody>
          <a:bodyPr wrap="none" lIns="0" tIns="0" rIns="0" bIns="0" rtlCol="0" anchor="ctr">
            <a:normAutofit/>
          </a:bodyPr>
          <a:lstStyle/>
          <a:p>
            <a:pPr algn="ctr" indent="0" marL="0">
              <a:lnSpc>
                <a:spcPts val="1680"/>
              </a:lnSpc>
              <a:buNone/>
            </a:pPr>
            <a:r>
              <a:rPr lang="en-US" sz="1200" b="1" dirty="0">
                <a:solidFill>
                  <a:srgbClr val="F5F3FB"/>
                </a:solidFill>
                <a:latin typeface="DM Sans" pitchFamily="34" charset="0"/>
                <a:ea typeface="DM Sans" pitchFamily="34" charset="-122"/>
                <a:cs typeface="DM Sans" pitchFamily="34" charset="-120"/>
              </a:rPr>
              <a:t>Schwarz Gesundheit</a:t>
            </a:r>
            <a:endParaRPr lang="en-US" sz="1200" dirty="0"/>
          </a:p>
        </p:txBody>
      </p:sp>
      <p:sp>
        <p:nvSpPr>
          <p:cNvPr id="7" name="Text 5"/>
          <p:cNvSpPr/>
          <p:nvPr/>
        </p:nvSpPr>
        <p:spPr>
          <a:xfrm>
            <a:off x="812800" y="497324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CD7F7"/>
                </a:solidFill>
                <a:latin typeface="DM Sans" pitchFamily="34" charset="0"/>
                <a:ea typeface="DM Sans" pitchFamily="34" charset="-122"/>
                <a:cs typeface="DM Sans" pitchFamily="34" charset="-120"/>
              </a:rPr>
              <a:t>Thank you. We look forward to your questions.</a:t>
            </a:r>
            <a:endParaRPr lang="en-US" sz="2000" dirty="0"/>
          </a:p>
        </p:txBody>
      </p:sp>
      <p:pic>
        <p:nvPicPr>
          <p:cNvPr id="8" name="Image 0" descr="QGZuzx.png">    </p:cNvPr>
          <p:cNvPicPr>
            <a:picLocks noChangeAspect="1"/>
          </p:cNvPicPr>
          <p:nvPr/>
        </p:nvPicPr>
        <p:blipFill>
          <a:blip r:embed="rId1"/>
          <a:srcRect l="775" r="775" t="0" b="0"/>
          <a:stretch/>
        </p:blipFill>
        <p:spPr>
          <a:xfrm>
            <a:off x="9633818" y="4426421"/>
            <a:ext cx="2274937" cy="2310755"/>
          </a:xfrm>
          <a:prstGeom prst="roundRect">
            <a:avLst>
              <a:gd name="adj" fmla="val 19539"/>
            </a:avLst>
          </a:prstGeom>
        </p:spPr>
      </p:pic>
      <p:pic>
        <p:nvPicPr>
          <p:cNvPr id="9" name="Image 1" descr="image (1).png">    </p:cNvPr>
          <p:cNvPicPr>
            <a:picLocks noChangeAspect="1"/>
          </p:cNvPicPr>
          <p:nvPr/>
        </p:nvPicPr>
        <p:blipFill>
          <a:blip r:embed="rId2"/>
          <a:srcRect l="0" r="0" t="18331" b="18331"/>
          <a:stretch/>
        </p:blipFill>
        <p:spPr>
          <a:xfrm>
            <a:off x="9896301" y="220191"/>
            <a:ext cx="2060228" cy="728315"/>
          </a:xfrm>
          <a:prstGeom prst="roundRect">
            <a:avLst>
              <a:gd name="adj" fmla="val 34875"/>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video kaufland.mp4">    </p:cNvPr>
          <p:cNvPicPr>
            <a:picLocks noChangeAspect="1"/>
          </p:cNvPicPr>
          <p:nvPr/>
        </p:nvPicPr>
        <p:blipFill>
          <a:blip r:embed="rId1"/>
          <a:srcRect l="4074" r="4074" t="0" b="0"/>
          <a:stretch/>
        </p:blipFill>
        <p:spPr>
          <a:xfrm>
            <a:off x="496689" y="0"/>
            <a:ext cx="11198622"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video ai powered meal planning.mp4">    </p:cNvPr>
          <p:cNvPicPr>
            <a:picLocks noChangeAspect="1"/>
          </p:cNvPicPr>
          <p:nvPr/>
        </p:nvPicPr>
        <p:blipFill>
          <a:blip r:embed="rId1"/>
          <a:srcRect l="3170" r="3170" t="0" b="0"/>
          <a:stretch/>
        </p:blipFill>
        <p:spPr>
          <a:xfrm>
            <a:off x="400893" y="0"/>
            <a:ext cx="11418937" cy="6858000"/>
          </a:xfrm>
          <a:prstGeom prst="rect">
            <a:avLst/>
          </a:prstGeom>
        </p:spPr>
      </p:pic>
    </p:spTree>
  </p:cSld>
  <p:clrMapOvr>
    <a:masterClrMapping/>
  </p:clrMapOvr>
</p:sld>
</file>

<file path=ppt/theme/theme1.xml><?xml version="1.0" encoding="utf-8"?>
<a:theme xmlns:a="http://schemas.openxmlformats.org/drawingml/2006/main" name="Schwarz Gesundheit">
  <a:themeElements>
    <a:clrScheme name="Schwarz Gesundheit">
      <a:dk1>
        <a:srgbClr val="1C1640"/>
      </a:dk1>
      <a:lt1>
        <a:srgbClr val="F5F3FB"/>
      </a:lt1>
      <a:dk2>
        <a:srgbClr val="524D6F"/>
      </a:dk2>
      <a:lt2>
        <a:srgbClr val="DFDDE8"/>
      </a:lt2>
      <a:accent1>
        <a:srgbClr val="5B4BDB"/>
      </a:accent1>
      <a:accent2>
        <a:srgbClr val="1F7A52"/>
      </a:accent2>
      <a:accent3>
        <a:srgbClr val="B5541C"/>
      </a:accent3>
      <a:accent4>
        <a:srgbClr val="C9C3EE"/>
      </a:accent4>
      <a:accent5>
        <a:srgbClr val="2C2460"/>
      </a:accent5>
      <a:accent6>
        <a:srgbClr val="A99BFF"/>
      </a:accent6>
      <a:hlink>
        <a:srgbClr val="0563C1"/>
      </a:hlink>
      <a:folHlink>
        <a:srgbClr val="954F72"/>
      </a:folHlink>
    </a:clrScheme>
    <a:fontScheme name="Schwarz Gesundhei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Schwarz Gesundheit</dc:title>
  <dc:subject/>
  <dc:creator/>
  <cp:lastModifiedBy/>
  <cp:revision>1</cp:revision>
  <dcterms:created xsi:type="dcterms:W3CDTF">2026-10-15T10:49:14Z</dcterms:created>
  <dcterms:modified xsi:type="dcterms:W3CDTF">2026-10-15T10:49:14Z</dcterms:modified>
</cp:coreProperties>
</file>